
<file path=[Content_Types].xml><?xml version="1.0" encoding="utf-8"?>
<Types xmlns="http://schemas.openxmlformats.org/package/2006/content-types">
  <Default Extension="xml" ContentType="application/vnd.openxmlformats-officedocument.extended-properties+xml"/>
  <Default Extension="png" ContentType="image/png"/>
  <Default Extension="jpeg" ContentType="image/jpeg"/>
  <Default Extension="jpg" ContentType="image/jpeg"/>
  <Default Extension="mp3" ContentType="audio/mpeg"/>
  <Default Extension="mov" ContentType="video/quicktime"/>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6.xml" ContentType="application/vnd.openxmlformats-officedocument.presentationml.slide+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theme/theme1.xml" ContentType="application/vnd.openxmlformats-officedocument.theme+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5.xml" ContentType="application/vnd.openxmlformats-officedocument.presentationml.slideLayout+xml"/>
  <Override PartName="/ppt/slides/slide11.xml" ContentType="application/vnd.openxmlformats-officedocument.presentationml.slide+xml"/>
  <Override PartName="/ppt/viewProps.xml" ContentType="application/vnd.openxmlformats-officedocument.presentationml.viewProps+xml"/>
  <Override PartName="/ppt/slides/slide1.xml" ContentType="application/vnd.openxmlformats-officedocument.presentationml.slide+xml"/>
  <Override PartName="/ppt/slideLayouts/slideLayout29.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5.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commentAuthors.xml" ContentType="application/vnd.openxmlformats-officedocument.presentationml.commentAuthors+xml"/>
  <Override PartName="/ppt/tableStyles.xml" ContentType="application/vnd.openxmlformats-officedocument.presentationml.tableStyles+xml"/>
  <Override PartName="/ppt/slides/slide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heme/theme3.xml" ContentType="application/vnd.openxmlformats-officedocument.theme+xml"/>
  <Override PartName="/ppt/slides/slide8.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slides/slide12.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 id="2147483806" r:id="rId2"/>
  </p:sldMasterIdLst>
  <p:notesMasterIdLst>
    <p:notesMasterId r:id="rId15"/>
  </p:notesMasterIdLst>
  <p:sldIdLst>
    <p:sldId id="256" r:id="rId3"/>
    <p:sldId id="274" r:id="rId4"/>
    <p:sldId id="273" r:id="rId5"/>
    <p:sldId id="272" r:id="rId6"/>
    <p:sldId id="667" r:id="rId7"/>
    <p:sldId id="668" r:id="rId8"/>
    <p:sldId id="388" r:id="rId9"/>
    <p:sldId id="669" r:id="rId10"/>
    <p:sldId id="286" r:id="rId11"/>
    <p:sldId id="670" r:id="rId12"/>
    <p:sldId id="405" r:id="rId13"/>
    <p:sldId id="671"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1pPr>
    <a:lvl2pPr marL="0" marR="0" indent="2286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2pPr>
    <a:lvl3pPr marL="0" marR="0" indent="4572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3pPr>
    <a:lvl4pPr marL="0" marR="0" indent="6858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4pPr>
    <a:lvl5pPr marL="0" marR="0" indent="9144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5pPr>
    <a:lvl6pPr marL="0" marR="0" indent="11430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6pPr>
    <a:lvl7pPr marL="0" marR="0" indent="13716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7pPr>
    <a:lvl8pPr marL="0" marR="0" indent="16002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8pPr>
    <a:lvl9pPr marL="0" marR="0" indent="182880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hin Bellara" initials="KB" lastIdx="1" clrIdx="0">
    <p:extLst>
      <p:ext uri="{19B8F6BF-5375-455C-9EA6-DF929625EA0E}">
        <p15:presenceInfo xmlns:p15="http://schemas.microsoft.com/office/powerpoint/2012/main" userId="f1543d0632d706c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FF3C"/>
    <a:srgbClr val="0ED3EE"/>
    <a:srgbClr val="459F7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11" autoAdjust="0"/>
    <p:restoredTop sz="94694"/>
  </p:normalViewPr>
  <p:slideViewPr>
    <p:cSldViewPr snapToGrid="0" snapToObjects="1">
      <p:cViewPr varScale="1">
        <p:scale>
          <a:sx n="63" d="100"/>
          <a:sy n="63" d="100"/>
        </p:scale>
        <p:origin x="312" y="56"/>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6.xml" Id="rId8" /><Relationship Type="http://schemas.openxmlformats.org/officeDocument/2006/relationships/slide" Target="/ppt/slides/slide11.xml" Id="rId13" /><Relationship Type="http://schemas.openxmlformats.org/officeDocument/2006/relationships/viewProps" Target="/ppt/viewProps.xml" Id="rId18" /><Relationship Type="http://schemas.openxmlformats.org/officeDocument/2006/relationships/slide" Target="/ppt/slides/slide1.xml" Id="rId3" /><Relationship Type="http://schemas.openxmlformats.org/officeDocument/2006/relationships/slide" Target="/ppt/slides/slide5.xml" Id="rId7" /><Relationship Type="http://schemas.openxmlformats.org/officeDocument/2006/relationships/slide" Target="/ppt/slides/slide10.xml" Id="rId12" /><Relationship Type="http://schemas.openxmlformats.org/officeDocument/2006/relationships/presProps" Target="/ppt/presProps.xml" Id="rId17" /><Relationship Type="http://schemas.openxmlformats.org/officeDocument/2006/relationships/slideMaster" Target="/ppt/slideMasters/slideMaster2.xml" Id="rId2" /><Relationship Type="http://schemas.openxmlformats.org/officeDocument/2006/relationships/commentAuthors" Target="/ppt/commentAuthors.xml" Id="rId16" /><Relationship Type="http://schemas.openxmlformats.org/officeDocument/2006/relationships/tableStyles" Target="/ppt/tableStyles.xml" Id="rId20" /><Relationship Type="http://schemas.openxmlformats.org/officeDocument/2006/relationships/slideMaster" Target="/ppt/slideMasters/slideMaster1.xml" Id="rId1" /><Relationship Type="http://schemas.openxmlformats.org/officeDocument/2006/relationships/slide" Target="/ppt/slides/slide4.xml" Id="rId6" /><Relationship Type="http://schemas.openxmlformats.org/officeDocument/2006/relationships/slide" Target="/ppt/slides/slide9.xml" Id="rId11" /><Relationship Type="http://schemas.openxmlformats.org/officeDocument/2006/relationships/slide" Target="/ppt/slides/slide3.xml" Id="rId5" /><Relationship Type="http://schemas.openxmlformats.org/officeDocument/2006/relationships/notesMaster" Target="/ppt/notesMasters/notesMaster1.xml" Id="rId15" /><Relationship Type="http://schemas.openxmlformats.org/officeDocument/2006/relationships/slide" Target="/ppt/slides/slide8.xml" Id="rId10" /><Relationship Type="http://schemas.openxmlformats.org/officeDocument/2006/relationships/theme" Target="/ppt/theme/theme1.xml" Id="rId19" /><Relationship Type="http://schemas.openxmlformats.org/officeDocument/2006/relationships/slide" Target="/ppt/slides/slide2.xml" Id="rId4" /><Relationship Type="http://schemas.openxmlformats.org/officeDocument/2006/relationships/slide" Target="/ppt/slides/slide7.xml" Id="rId9" /><Relationship Type="http://schemas.openxmlformats.org/officeDocument/2006/relationships/slide" Target="/ppt/slides/slide12.xml" Id="rId14" /></Relationships>
</file>

<file path=ppt/notesMasters/_rels/notesMaster1.xml.rels>&#65279;<?xml version="1.0" encoding="utf-8"?><Relationships xmlns="http://schemas.openxmlformats.org/package/2006/relationships"><Relationship Type="http://schemas.openxmlformats.org/officeDocument/2006/relationships/theme" Target="/ppt/theme/theme3.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27" name="Shape 1727"/>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8" name="Shape 17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13332740"/>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Master">
    <p:spTree>
      <p:nvGrpSpPr>
        <p:cNvPr id="1" name=""/>
        <p:cNvGrpSpPr/>
        <p:nvPr/>
      </p:nvGrpSpPr>
      <p:grpSpPr>
        <a:xfrm>
          <a:off x="0" y="0"/>
          <a:ext cx="0" cy="0"/>
          <a:chOff x="0" y="0"/>
          <a:chExt cx="0" cy="0"/>
        </a:xfrm>
      </p:grpSpPr>
      <p:sp>
        <p:nvSpPr>
          <p:cNvPr id="426" name="Insert Picture Here 2018 Darker.png"/>
          <p:cNvSpPr>
            <a:spLocks noGrp="1"/>
          </p:cNvSpPr>
          <p:nvPr>
            <p:ph type="pic" idx="21"/>
          </p:nvPr>
        </p:nvSpPr>
        <p:spPr>
          <a:xfrm>
            <a:off x="-1" y="-10"/>
            <a:ext cx="24384001" cy="13716001"/>
          </a:xfrm>
          <a:prstGeom prst="rect">
            <a:avLst/>
          </a:prstGeom>
        </p:spPr>
        <p:txBody>
          <a:bodyPr lIns="91439" tIns="45719" rIns="91439" bIns="45719">
            <a:noAutofit/>
          </a:bodyPr>
          <a:lstStyle/>
          <a:p>
            <a:endParaRPr/>
          </a:p>
        </p:txBody>
      </p:sp>
      <p:sp>
        <p:nvSpPr>
          <p:cNvPr id="427" name="Shape"/>
          <p:cNvSpPr>
            <a:spLocks noGrp="1"/>
          </p:cNvSpPr>
          <p:nvPr>
            <p:ph type="body" sz="half" idx="22"/>
          </p:nvPr>
        </p:nvSpPr>
        <p:spPr>
          <a:xfrm flipH="1">
            <a:off x="8128000" y="4572000"/>
            <a:ext cx="16256000" cy="4572001"/>
          </a:xfrm>
          <a:custGeom>
            <a:avLst/>
            <a:gdLst/>
            <a:ahLst/>
            <a:cxnLst>
              <a:cxn ang="0">
                <a:pos x="wd2" y="hd2"/>
              </a:cxn>
              <a:cxn ang="5400000">
                <a:pos x="wd2" y="hd2"/>
              </a:cxn>
              <a:cxn ang="10800000">
                <a:pos x="wd2" y="hd2"/>
              </a:cxn>
              <a:cxn ang="16200000">
                <a:pos x="wd2" y="hd2"/>
              </a:cxn>
            </a:cxnLst>
            <a:rect l="0" t="0" r="r" b="b"/>
            <a:pathLst>
              <a:path w="21600" h="21599" extrusionOk="0">
                <a:moveTo>
                  <a:pt x="0" y="0"/>
                </a:moveTo>
                <a:lnTo>
                  <a:pt x="0" y="21598"/>
                </a:lnTo>
                <a:lnTo>
                  <a:pt x="16957" y="21598"/>
                </a:lnTo>
                <a:cubicBezTo>
                  <a:pt x="18279" y="21598"/>
                  <a:pt x="19072" y="21599"/>
                  <a:pt x="19601" y="20948"/>
                </a:cubicBezTo>
                <a:cubicBezTo>
                  <a:pt x="20445" y="19856"/>
                  <a:pt x="21110" y="17492"/>
                  <a:pt x="21417" y="14493"/>
                </a:cubicBezTo>
                <a:cubicBezTo>
                  <a:pt x="21538" y="13309"/>
                  <a:pt x="21600" y="12059"/>
                  <a:pt x="21600" y="10799"/>
                </a:cubicBezTo>
                <a:cubicBezTo>
                  <a:pt x="21600" y="9539"/>
                  <a:pt x="21538" y="8289"/>
                  <a:pt x="21417" y="7105"/>
                </a:cubicBezTo>
                <a:cubicBezTo>
                  <a:pt x="21110" y="4106"/>
                  <a:pt x="20445" y="1742"/>
                  <a:pt x="19601" y="650"/>
                </a:cubicBezTo>
                <a:cubicBezTo>
                  <a:pt x="19072" y="-1"/>
                  <a:pt x="18279" y="0"/>
                  <a:pt x="16957" y="0"/>
                </a:cubicBezTo>
                <a:lnTo>
                  <a:pt x="0" y="0"/>
                </a:lnTo>
                <a:close/>
              </a:path>
            </a:pathLst>
          </a:custGeom>
          <a:solidFill>
            <a:schemeClr val="accent1"/>
          </a:solidFill>
        </p:spPr>
        <p:txBody>
          <a:bodyPr anchor="ctr">
            <a:noAutofit/>
          </a:bodyPr>
          <a:lstStyle/>
          <a:p>
            <a:pPr algn="ctr">
              <a:lnSpc>
                <a:spcPct val="100000"/>
              </a:lnSpc>
              <a:defRPr sz="3200" cap="none" spc="0">
                <a:solidFill>
                  <a:srgbClr val="FFFFFF"/>
                </a:solidFill>
                <a:latin typeface="Helvetica Neue Medium"/>
                <a:ea typeface="Helvetica Neue Medium"/>
                <a:cs typeface="Helvetica Neue Medium"/>
                <a:sym typeface="Helvetica Neue Medium"/>
              </a:defRPr>
            </a:pPr>
            <a:endParaRPr/>
          </a:p>
        </p:txBody>
      </p:sp>
      <p:sp>
        <p:nvSpPr>
          <p:cNvPr id="4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Master">
    <p:spTree>
      <p:nvGrpSpPr>
        <p:cNvPr id="1" name=""/>
        <p:cNvGrpSpPr/>
        <p:nvPr/>
      </p:nvGrpSpPr>
      <p:grpSpPr>
        <a:xfrm>
          <a:off x="0" y="0"/>
          <a:ext cx="0" cy="0"/>
          <a:chOff x="0" y="0"/>
          <a:chExt cx="0" cy="0"/>
        </a:xfrm>
      </p:grpSpPr>
      <p:sp>
        <p:nvSpPr>
          <p:cNvPr id="435" name="Insert Picture Here 2018 Darker.png"/>
          <p:cNvSpPr>
            <a:spLocks noGrp="1"/>
          </p:cNvSpPr>
          <p:nvPr>
            <p:ph type="pic" idx="21"/>
          </p:nvPr>
        </p:nvSpPr>
        <p:spPr>
          <a:xfrm>
            <a:off x="-1" y="-10"/>
            <a:ext cx="24384001" cy="13716001"/>
          </a:xfrm>
          <a:prstGeom prst="rect">
            <a:avLst/>
          </a:prstGeom>
        </p:spPr>
        <p:txBody>
          <a:bodyPr lIns="91439" tIns="45719" rIns="91439" bIns="45719">
            <a:noAutofit/>
          </a:bodyPr>
          <a:lstStyle/>
          <a:p>
            <a:endParaRPr/>
          </a:p>
        </p:txBody>
      </p:sp>
      <p:sp>
        <p:nvSpPr>
          <p:cNvPr id="436" name="Rectangle"/>
          <p:cNvSpPr>
            <a:spLocks noGrp="1"/>
          </p:cNvSpPr>
          <p:nvPr>
            <p:ph type="body" sz="half" idx="22"/>
          </p:nvPr>
        </p:nvSpPr>
        <p:spPr>
          <a:xfrm>
            <a:off x="8128000" y="0"/>
            <a:ext cx="8128000" cy="13716001"/>
          </a:xfrm>
          <a:prstGeom prst="rect">
            <a:avLst/>
          </a:prstGeom>
          <a:gradFill>
            <a:gsLst>
              <a:gs pos="0">
                <a:srgbClr val="FFFFFF">
                  <a:alpha val="0"/>
                </a:srgbClr>
              </a:gs>
              <a:gs pos="100000">
                <a:srgbClr val="FFFFFF"/>
              </a:gs>
            </a:gsLst>
          </a:gradFill>
        </p:spPr>
        <p:txBody>
          <a:bodyPr lIns="0" tIns="0" rIns="0" bIns="0" anchor="ctr">
            <a:noAutofit/>
          </a:bodyPr>
          <a:lstStyle/>
          <a:p>
            <a:pPr algn="ctr">
              <a:lnSpc>
                <a:spcPct val="100000"/>
              </a:lnSpc>
              <a:defRPr sz="3200" cap="none" spc="0">
                <a:solidFill>
                  <a:srgbClr val="FFFFFF">
                    <a:alpha val="0"/>
                  </a:srgbClr>
                </a:solidFill>
                <a:latin typeface="Helvetica Neue Medium"/>
                <a:ea typeface="Helvetica Neue Medium"/>
                <a:cs typeface="Helvetica Neue Medium"/>
                <a:sym typeface="Helvetica Neue Medium"/>
              </a:defRPr>
            </a:pPr>
            <a:endParaRPr/>
          </a:p>
        </p:txBody>
      </p:sp>
      <p:sp>
        <p:nvSpPr>
          <p:cNvPr id="437" name="Rectangle"/>
          <p:cNvSpPr>
            <a:spLocks noGrp="1"/>
          </p:cNvSpPr>
          <p:nvPr>
            <p:ph type="body" sz="half" idx="23"/>
          </p:nvPr>
        </p:nvSpPr>
        <p:spPr>
          <a:xfrm>
            <a:off x="16256000" y="-1"/>
            <a:ext cx="8128000" cy="13716001"/>
          </a:xfrm>
          <a:prstGeom prst="rect">
            <a:avLst/>
          </a:prstGeom>
          <a:solidFill>
            <a:srgbClr val="FFFFFF"/>
          </a:solidFill>
        </p:spPr>
        <p:txBody>
          <a:bodyPr lIns="38100" tIns="38100" rIns="38100" bIns="38100" anchor="ctr">
            <a:noAutofit/>
          </a:bodyPr>
          <a:lstStyle/>
          <a:p>
            <a:pPr algn="ctr">
              <a:lnSpc>
                <a:spcPct val="100000"/>
              </a:lnSpc>
              <a:defRPr sz="3200" cap="none" spc="0">
                <a:solidFill>
                  <a:srgbClr val="FFFFFF"/>
                </a:solidFill>
                <a:latin typeface="Helvetica Neue Medium"/>
                <a:ea typeface="Helvetica Neue Medium"/>
                <a:cs typeface="Helvetica Neue Medium"/>
                <a:sym typeface="Helvetica Neue Medium"/>
              </a:defRPr>
            </a:pPr>
            <a:endParaRPr/>
          </a:p>
        </p:txBody>
      </p:sp>
      <p:sp>
        <p:nvSpPr>
          <p:cNvPr id="4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Master">
    <p:spTree>
      <p:nvGrpSpPr>
        <p:cNvPr id="1" name=""/>
        <p:cNvGrpSpPr/>
        <p:nvPr/>
      </p:nvGrpSpPr>
      <p:grpSpPr>
        <a:xfrm>
          <a:off x="0" y="0"/>
          <a:ext cx="0" cy="0"/>
          <a:chOff x="0" y="0"/>
          <a:chExt cx="0" cy="0"/>
        </a:xfrm>
      </p:grpSpPr>
      <p:sp>
        <p:nvSpPr>
          <p:cNvPr id="685" name="Rectangle"/>
          <p:cNvSpPr>
            <a:spLocks noGrp="1"/>
          </p:cNvSpPr>
          <p:nvPr>
            <p:ph type="body" sz="half" idx="21"/>
          </p:nvPr>
        </p:nvSpPr>
        <p:spPr>
          <a:xfrm>
            <a:off x="0" y="4572000"/>
            <a:ext cx="24384001" cy="4572000"/>
          </a:xfrm>
          <a:prstGeom prst="rect">
            <a:avLst/>
          </a:prstGeom>
          <a:solidFill>
            <a:schemeClr val="accent1"/>
          </a:solidFill>
        </p:spPr>
        <p:txBody>
          <a:bodyPr lIns="38100" tIns="38100" rIns="38100" bIns="38100" anchor="ctr">
            <a:noAutofit/>
          </a:bodyPr>
          <a:lstStyle/>
          <a:p>
            <a:pPr algn="ctr">
              <a:lnSpc>
                <a:spcPct val="100000"/>
              </a:lnSpc>
              <a:defRPr sz="3200" cap="none" spc="0">
                <a:solidFill>
                  <a:srgbClr val="FFFFFF"/>
                </a:solidFill>
                <a:latin typeface="Helvetica Neue Medium"/>
                <a:ea typeface="Helvetica Neue Medium"/>
                <a:cs typeface="Helvetica Neue Medium"/>
                <a:sym typeface="Helvetica Neue Medium"/>
              </a:defRPr>
            </a:pPr>
            <a:endParaRPr/>
          </a:p>
        </p:txBody>
      </p:sp>
      <p:sp>
        <p:nvSpPr>
          <p:cNvPr id="686" name="Insert Picture Here 2018 Darker.png"/>
          <p:cNvSpPr>
            <a:spLocks noGrp="1"/>
          </p:cNvSpPr>
          <p:nvPr>
            <p:ph type="pic" idx="22"/>
          </p:nvPr>
        </p:nvSpPr>
        <p:spPr>
          <a:xfrm>
            <a:off x="0" y="4572000"/>
            <a:ext cx="24384000" cy="13716000"/>
          </a:xfrm>
          <a:prstGeom prst="rect">
            <a:avLst/>
          </a:prstGeom>
        </p:spPr>
        <p:txBody>
          <a:bodyPr lIns="91439" tIns="45719" rIns="91439" bIns="45719">
            <a:noAutofit/>
          </a:bodyPr>
          <a:lstStyle/>
          <a:p>
            <a:endParaRPr/>
          </a:p>
        </p:txBody>
      </p:sp>
      <p:sp>
        <p:nvSpPr>
          <p:cNvPr id="6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Master">
    <p:spTree>
      <p:nvGrpSpPr>
        <p:cNvPr id="1" name=""/>
        <p:cNvGrpSpPr/>
        <p:nvPr/>
      </p:nvGrpSpPr>
      <p:grpSpPr>
        <a:xfrm>
          <a:off x="0" y="0"/>
          <a:ext cx="0" cy="0"/>
          <a:chOff x="0" y="0"/>
          <a:chExt cx="0" cy="0"/>
        </a:xfrm>
      </p:grpSpPr>
      <p:sp>
        <p:nvSpPr>
          <p:cNvPr id="761" name="Insert Picture Here 2018 Darker.png"/>
          <p:cNvSpPr>
            <a:spLocks noGrp="1"/>
          </p:cNvSpPr>
          <p:nvPr>
            <p:ph type="pic" idx="21"/>
          </p:nvPr>
        </p:nvSpPr>
        <p:spPr>
          <a:xfrm>
            <a:off x="0" y="2990651"/>
            <a:ext cx="24384000" cy="13716001"/>
          </a:xfrm>
          <a:prstGeom prst="rect">
            <a:avLst/>
          </a:prstGeom>
        </p:spPr>
        <p:txBody>
          <a:bodyPr lIns="91439" tIns="45719" rIns="91439" bIns="45719">
            <a:noAutofit/>
          </a:bodyPr>
          <a:lstStyle/>
          <a:p>
            <a:endParaRPr/>
          </a:p>
        </p:txBody>
      </p:sp>
      <p:sp>
        <p:nvSpPr>
          <p:cNvPr id="7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Master">
    <p:spTree>
      <p:nvGrpSpPr>
        <p:cNvPr id="1" name=""/>
        <p:cNvGrpSpPr/>
        <p:nvPr/>
      </p:nvGrpSpPr>
      <p:grpSpPr>
        <a:xfrm>
          <a:off x="0" y="0"/>
          <a:ext cx="0" cy="0"/>
          <a:chOff x="0" y="0"/>
          <a:chExt cx="0" cy="0"/>
        </a:xfrm>
      </p:grpSpPr>
      <p:sp>
        <p:nvSpPr>
          <p:cNvPr id="881" name="Insert Picture Here 2018 Darker.png"/>
          <p:cNvSpPr>
            <a:spLocks noGrp="1"/>
          </p:cNvSpPr>
          <p:nvPr>
            <p:ph type="pic" sz="half" idx="21"/>
          </p:nvPr>
        </p:nvSpPr>
        <p:spPr>
          <a:xfrm>
            <a:off x="3303785" y="3429000"/>
            <a:ext cx="12192001" cy="6858000"/>
          </a:xfrm>
          <a:prstGeom prst="rect">
            <a:avLst/>
          </a:prstGeom>
        </p:spPr>
        <p:txBody>
          <a:bodyPr lIns="91439" tIns="45719" rIns="91439" bIns="45719">
            <a:noAutofit/>
          </a:bodyPr>
          <a:lstStyle/>
          <a:p>
            <a:endParaRPr/>
          </a:p>
        </p:txBody>
      </p:sp>
      <p:sp>
        <p:nvSpPr>
          <p:cNvPr id="882" name="Shape"/>
          <p:cNvSpPr>
            <a:spLocks noGrp="1"/>
          </p:cNvSpPr>
          <p:nvPr>
            <p:ph type="body" sz="quarter" idx="22"/>
          </p:nvPr>
        </p:nvSpPr>
        <p:spPr>
          <a:xfrm flipH="1">
            <a:off x="13971190" y="3429000"/>
            <a:ext cx="9142810" cy="6858001"/>
          </a:xfrm>
          <a:custGeom>
            <a:avLst/>
            <a:gdLst/>
            <a:ahLst/>
            <a:cxnLst>
              <a:cxn ang="0">
                <a:pos x="wd2" y="hd2"/>
              </a:cxn>
              <a:cxn ang="5400000">
                <a:pos x="wd2" y="hd2"/>
              </a:cxn>
              <a:cxn ang="10800000">
                <a:pos x="wd2" y="hd2"/>
              </a:cxn>
              <a:cxn ang="16200000">
                <a:pos x="wd2" y="hd2"/>
              </a:cxn>
            </a:cxnLst>
            <a:rect l="0" t="0" r="r" b="b"/>
            <a:pathLst>
              <a:path w="21600" h="21599" extrusionOk="0">
                <a:moveTo>
                  <a:pt x="2306" y="0"/>
                </a:moveTo>
                <a:cubicBezTo>
                  <a:pt x="1629" y="0"/>
                  <a:pt x="1223" y="1"/>
                  <a:pt x="953" y="151"/>
                </a:cubicBezTo>
                <a:cubicBezTo>
                  <a:pt x="562" y="341"/>
                  <a:pt x="255" y="750"/>
                  <a:pt x="113" y="1270"/>
                </a:cubicBezTo>
                <a:cubicBezTo>
                  <a:pt x="0" y="1631"/>
                  <a:pt x="0" y="2172"/>
                  <a:pt x="0" y="3074"/>
                </a:cubicBezTo>
                <a:lnTo>
                  <a:pt x="0" y="18526"/>
                </a:lnTo>
                <a:cubicBezTo>
                  <a:pt x="0" y="19428"/>
                  <a:pt x="0" y="19969"/>
                  <a:pt x="113" y="20329"/>
                </a:cubicBezTo>
                <a:cubicBezTo>
                  <a:pt x="255" y="20850"/>
                  <a:pt x="562" y="21260"/>
                  <a:pt x="953" y="21449"/>
                </a:cubicBezTo>
                <a:cubicBezTo>
                  <a:pt x="1223" y="21600"/>
                  <a:pt x="1629" y="21599"/>
                  <a:pt x="2306" y="21599"/>
                </a:cubicBezTo>
                <a:lnTo>
                  <a:pt x="21600" y="21599"/>
                </a:lnTo>
                <a:lnTo>
                  <a:pt x="21600" y="0"/>
                </a:lnTo>
                <a:lnTo>
                  <a:pt x="2306" y="0"/>
                </a:lnTo>
                <a:close/>
              </a:path>
            </a:pathLst>
          </a:custGeom>
          <a:solidFill>
            <a:schemeClr val="accent1"/>
          </a:solidFill>
        </p:spPr>
        <p:txBody>
          <a:bodyPr lIns="38100" tIns="38100" rIns="38100" bIns="38100" anchor="ctr">
            <a:noAutofit/>
          </a:bodyPr>
          <a:lstStyle/>
          <a:p>
            <a:pPr algn="ctr">
              <a:lnSpc>
                <a:spcPct val="100000"/>
              </a:lnSpc>
              <a:defRPr sz="3200" cap="none" spc="0">
                <a:solidFill>
                  <a:srgbClr val="FFFFFF"/>
                </a:solidFill>
                <a:latin typeface="Helvetica Neue Medium"/>
                <a:ea typeface="Helvetica Neue Medium"/>
                <a:cs typeface="Helvetica Neue Medium"/>
                <a:sym typeface="Helvetica Neue Medium"/>
              </a:defRPr>
            </a:pPr>
            <a:endParaRPr/>
          </a:p>
        </p:txBody>
      </p:sp>
      <p:sp>
        <p:nvSpPr>
          <p:cNvPr id="8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Master">
    <p:spTree>
      <p:nvGrpSpPr>
        <p:cNvPr id="1" name=""/>
        <p:cNvGrpSpPr/>
        <p:nvPr/>
      </p:nvGrpSpPr>
      <p:grpSpPr>
        <a:xfrm>
          <a:off x="0" y="0"/>
          <a:ext cx="0" cy="0"/>
          <a:chOff x="0" y="0"/>
          <a:chExt cx="0" cy="0"/>
        </a:xfrm>
      </p:grpSpPr>
      <p:sp>
        <p:nvSpPr>
          <p:cNvPr id="1583" name="Insert Picture Here 2018 Darker.png"/>
          <p:cNvSpPr>
            <a:spLocks noGrp="1"/>
          </p:cNvSpPr>
          <p:nvPr>
            <p:ph type="pic" idx="21"/>
          </p:nvPr>
        </p:nvSpPr>
        <p:spPr>
          <a:xfrm>
            <a:off x="-7294809" y="0"/>
            <a:ext cx="24384001" cy="13716001"/>
          </a:xfrm>
          <a:prstGeom prst="rect">
            <a:avLst/>
          </a:prstGeom>
        </p:spPr>
        <p:txBody>
          <a:bodyPr lIns="91439" tIns="45719" rIns="91439" bIns="45719">
            <a:noAutofit/>
          </a:bodyPr>
          <a:lstStyle/>
          <a:p>
            <a:endParaRPr/>
          </a:p>
        </p:txBody>
      </p:sp>
      <p:sp>
        <p:nvSpPr>
          <p:cNvPr id="15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8A60F0-FDC7-4B0F-B98D-4B32A81A9C27}"/>
              </a:ext>
            </a:extLst>
          </p:cNvPr>
          <p:cNvSpPr/>
          <p:nvPr userDrawn="1"/>
        </p:nvSpPr>
        <p:spPr>
          <a:xfrm>
            <a:off x="14142514" y="0"/>
            <a:ext cx="10253501" cy="1371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4" name="Picture Placeholder 3">
            <a:extLst>
              <a:ext uri="{FF2B5EF4-FFF2-40B4-BE49-F238E27FC236}">
                <a16:creationId xmlns:a16="http://schemas.microsoft.com/office/drawing/2014/main" id="{BC5362EC-2422-457C-BE72-9655FF93C5F9}"/>
              </a:ext>
            </a:extLst>
          </p:cNvPr>
          <p:cNvSpPr>
            <a:spLocks noGrp="1"/>
          </p:cNvSpPr>
          <p:nvPr>
            <p:ph type="pic" sz="quarter" idx="10"/>
          </p:nvPr>
        </p:nvSpPr>
        <p:spPr>
          <a:xfrm>
            <a:off x="14100176" y="0"/>
            <a:ext cx="10283824" cy="13716000"/>
          </a:xfrm>
          <a:prstGeom prst="rect">
            <a:avLst/>
          </a:prstGeom>
          <a:solidFill>
            <a:schemeClr val="bg1">
              <a:lumMod val="85000"/>
            </a:schemeClr>
          </a:solidFill>
        </p:spPr>
        <p:txBody>
          <a:bodyPr/>
          <a:lstStyle/>
          <a:p>
            <a:endParaRPr lang="en-US"/>
          </a:p>
        </p:txBody>
      </p:sp>
    </p:spTree>
    <p:extLst>
      <p:ext uri="{BB962C8B-B14F-4D97-AF65-F5344CB8AC3E}">
        <p14:creationId xmlns:p14="http://schemas.microsoft.com/office/powerpoint/2010/main" val="3255205434"/>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3.xml" Id="rId13" /><Relationship Type="http://schemas.openxmlformats.org/officeDocument/2006/relationships/theme" Target="/ppt/theme/theme1.xml" Id="rId18" /><Relationship Type="http://schemas.openxmlformats.org/officeDocument/2006/relationships/slideLayout" Target="/ppt/slideLayouts/slideLayout12.xml" Id="rId12" /><Relationship Type="http://schemas.openxmlformats.org/officeDocument/2006/relationships/slideLayout" Target="/ppt/slideLayouts/slideLayout17.xml" Id="rId17"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slideLayout" Target="/ppt/slideLayouts/slideLayout15.xml" Id="rId15" /></Relationships>
</file>

<file path=ppt/slideMasters/_rels/slideMaster2.xml.rels>&#65279;<?xml version="1.0" encoding="utf-8"?><Relationships xmlns="http://schemas.openxmlformats.org/package/2006/relationships"><Relationship Type="http://schemas.openxmlformats.org/officeDocument/2006/relationships/theme" Target="/ppt/theme/theme2.xml" Id="rId47" /><Relationship Type="http://schemas.openxmlformats.org/officeDocument/2006/relationships/slideLayout" Target="/ppt/slideLayouts/slideLayout29.xml" Id="rId12" /></Relationships>
</file>

<file path=ppt/slideMasters/slideMaster1.xml><?xml version="1.0" encoding="utf-8"?>
<p:sldMaster xmlns:m="http://schemas.openxmlformats.org/officeDocument/2006/math" xmlns:a14="http://schemas.microsoft.com/office/drawing/2010/main" xmlns:ma14="http://schemas.microsoft.com/office/mac/drawingml/2011/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857590" y="4988207"/>
            <a:ext cx="20828001" cy="464820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Title Text</a:t>
            </a:r>
          </a:p>
        </p:txBody>
      </p:sp>
      <p:sp>
        <p:nvSpPr>
          <p:cNvPr id="3" name="Body Level One…"/>
          <p:cNvSpPr txBox="1">
            <a:spLocks noGrp="1"/>
          </p:cNvSpPr>
          <p:nvPr>
            <p:ph type="body" idx="1"/>
          </p:nvPr>
        </p:nvSpPr>
        <p:spPr>
          <a:xfrm>
            <a:off x="1778000" y="7073900"/>
            <a:ext cx="20828000" cy="1587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22161500" y="12560300"/>
            <a:ext cx="1270000" cy="406401"/>
          </a:xfrm>
          <a:prstGeom prst="rect">
            <a:avLst/>
          </a:prstGeom>
          <a:ln w="12700">
            <a:miter lim="400000"/>
          </a:ln>
        </p:spPr>
        <p:txBody>
          <a:bodyPr lIns="50800" tIns="50800" rIns="50800" bIns="50800" anchor="ctr">
            <a:spAutoFit/>
          </a:bodyPr>
          <a:lstStyle>
            <a:lvl1pPr algn="r">
              <a:lnSpc>
                <a:spcPct val="90000"/>
              </a:lnSpc>
              <a:defRPr sz="2000" spc="0">
                <a:solidFill>
                  <a:srgbClr val="929292"/>
                </a:solidFill>
                <a:latin typeface="+mn-lt"/>
                <a:ea typeface="+mn-ea"/>
                <a:cs typeface="+mn-cs"/>
                <a:sym typeface="Montserrat Bold"/>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715" r:id="rId12"/>
    <p:sldLayoutId id="2147483724" r:id="rId13"/>
    <p:sldLayoutId id="2147483739" r:id="rId15"/>
    <p:sldLayoutId id="2147483805" r:id="rId17"/>
  </p:sldLayoutIdLst>
  <p:transition spd="med"/>
  <p:txStyles>
    <p:titleStyle>
      <a:lvl1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1pPr>
      <a:lvl2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2pPr>
      <a:lvl3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3pPr>
      <a:lvl4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4pPr>
      <a:lvl5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5pPr>
      <a:lvl6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6pPr>
      <a:lvl7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7pPr>
      <a:lvl8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8pPr>
      <a:lvl9pPr marL="0" marR="0" indent="0" algn="l" defTabSz="825500" rtl="0" latinLnBrk="0">
        <a:lnSpc>
          <a:spcPct val="90000"/>
        </a:lnSpc>
        <a:spcBef>
          <a:spcPts val="0"/>
        </a:spcBef>
        <a:spcAft>
          <a:spcPts val="0"/>
        </a:spcAft>
        <a:buClrTx/>
        <a:buSzTx/>
        <a:buFontTx/>
        <a:buNone/>
        <a:tabLst/>
        <a:defRPr sz="9000" b="0" i="0" u="none" strike="noStrike" cap="none" spc="0" baseline="0">
          <a:solidFill>
            <a:srgbClr val="454546"/>
          </a:solidFill>
          <a:uFillTx/>
          <a:latin typeface="+mn-lt"/>
          <a:ea typeface="+mn-ea"/>
          <a:cs typeface="+mn-cs"/>
          <a:sym typeface="Montserrat Bold"/>
        </a:defRPr>
      </a:lvl9pPr>
    </p:titleStyle>
    <p:bodyStyle>
      <a:lvl1pPr marL="0" marR="0" indent="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1pPr>
      <a:lvl2pPr marL="0" marR="0" indent="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2pPr>
      <a:lvl3pPr marL="0" marR="0" indent="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3pPr>
      <a:lvl4pPr marL="0" marR="0" indent="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4pPr>
      <a:lvl5pPr marL="0" marR="0" indent="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5pPr>
      <a:lvl6pPr marL="0" marR="0" indent="35560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6pPr>
      <a:lvl7pPr marL="0" marR="0" indent="71120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7pPr>
      <a:lvl8pPr marL="0" marR="0" indent="106680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8pPr>
      <a:lvl9pPr marL="0" marR="0" indent="1422400" algn="l" defTabSz="825500" rtl="0" latinLnBrk="0">
        <a:lnSpc>
          <a:spcPct val="120000"/>
        </a:lnSpc>
        <a:spcBef>
          <a:spcPts val="0"/>
        </a:spcBef>
        <a:spcAft>
          <a:spcPts val="0"/>
        </a:spcAft>
        <a:buClrTx/>
        <a:buSzTx/>
        <a:buFontTx/>
        <a:buNone/>
        <a:tabLst/>
        <a:defRPr sz="2500" b="0" i="0" u="none" strike="noStrike" cap="all" spc="125" baseline="0">
          <a:solidFill>
            <a:srgbClr val="454546"/>
          </a:solidFill>
          <a:uFillTx/>
          <a:latin typeface="+mn-lt"/>
          <a:ea typeface="+mn-ea"/>
          <a:cs typeface="+mn-cs"/>
          <a:sym typeface="Montserrat Bold"/>
        </a:defRPr>
      </a:lvl9pPr>
    </p:bodyStyle>
    <p:otherStyle>
      <a:lvl1pPr marL="0" marR="0" indent="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1pPr>
      <a:lvl2pPr marL="0" marR="0" indent="2286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2pPr>
      <a:lvl3pPr marL="0" marR="0" indent="4572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3pPr>
      <a:lvl4pPr marL="0" marR="0" indent="6858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4pPr>
      <a:lvl5pPr marL="0" marR="0" indent="9144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5pPr>
      <a:lvl6pPr marL="0" marR="0" indent="11430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6pPr>
      <a:lvl7pPr marL="0" marR="0" indent="13716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7pPr>
      <a:lvl8pPr marL="0" marR="0" indent="16002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8pPr>
      <a:lvl9pPr marL="0" marR="0" indent="1828800" algn="r" defTabSz="825500" latinLnBrk="0">
        <a:lnSpc>
          <a:spcPct val="9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Montserrat Bold"/>
        </a:defRPr>
      </a:lvl9pPr>
    </p:otherStyle>
  </p:txStyles>
</p:sldMaster>
</file>

<file path=ppt/slideMasters/slideMaster2.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400" y="730251"/>
            <a:ext cx="21031200" cy="265112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6400" y="3651251"/>
            <a:ext cx="21031200" cy="87026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400" y="12712701"/>
            <a:ext cx="5486400" cy="730251"/>
          </a:xfrm>
          <a:prstGeom prst="rect">
            <a:avLst/>
          </a:prstGeom>
        </p:spPr>
        <p:txBody>
          <a:bodyPr vert="horz" lIns="91440" tIns="45720" rIns="91440" bIns="45720" rtlCol="0" anchor="ctr"/>
          <a:lstStyle>
            <a:lvl1pPr algn="l">
              <a:defRPr sz="2400">
                <a:solidFill>
                  <a:schemeClr val="tx1">
                    <a:tint val="75000"/>
                  </a:schemeClr>
                </a:solidFill>
              </a:defRPr>
            </a:lvl1pPr>
          </a:lstStyle>
          <a:p>
            <a:fld id="{C764DE79-268F-4C1A-8933-263129D2AF90}" type="datetimeFigureOut">
              <a:rPr lang="en-US" dirty="0"/>
              <a:t>9/20/2025</a:t>
            </a:fld>
            <a:endParaRPr lang="en-US" dirty="0"/>
          </a:p>
        </p:txBody>
      </p:sp>
      <p:sp>
        <p:nvSpPr>
          <p:cNvPr id="5" name="Footer Placeholder 4"/>
          <p:cNvSpPr>
            <a:spLocks noGrp="1"/>
          </p:cNvSpPr>
          <p:nvPr>
            <p:ph type="ftr" sz="quarter" idx="3"/>
          </p:nvPr>
        </p:nvSpPr>
        <p:spPr>
          <a:xfrm>
            <a:off x="8077200" y="12712701"/>
            <a:ext cx="8229600" cy="730251"/>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7221200" y="12712701"/>
            <a:ext cx="5486400" cy="730251"/>
          </a:xfrm>
          <a:prstGeom prst="rect">
            <a:avLst/>
          </a:prstGeom>
        </p:spPr>
        <p:txBody>
          <a:bodyPr vert="horz" lIns="91440" tIns="45720" rIns="91440" bIns="45720" rtlCol="0" anchor="ctr"/>
          <a:lstStyle>
            <a:lvl1pPr algn="r">
              <a:defRPr sz="24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09674926"/>
      </p:ext>
    </p:extLst>
  </p:cSld>
  <p:clrMap bg1="lt1" tx1="dk1" bg2="lt2" tx2="dk2" accent1="accent1" accent2="accent2" accent3="accent3" accent4="accent4" accent5="accent5" accent6="accent6" hlink="hlink" folHlink="folHlink"/>
  <p:sldLayoutIdLst>
    <p:sldLayoutId id="2147483818" r:id="rId12"/>
  </p:sldLayoutIdLst>
  <p:txStyles>
    <p:titleStyle>
      <a:lvl1pPr algn="l" defTabSz="1828823"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6" indent="-457206" algn="l" defTabSz="1828823"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17" indent="-457206" algn="l" defTabSz="1828823"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29" indent="-457206" algn="l" defTabSz="1828823"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40"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51"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63"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74"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86"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97" indent="-457206" algn="l" defTabSz="1828823"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23" rtl="0" eaLnBrk="1" latinLnBrk="0" hangingPunct="1">
        <a:defRPr sz="3600" kern="1200">
          <a:solidFill>
            <a:schemeClr val="tx1"/>
          </a:solidFill>
          <a:latin typeface="+mn-lt"/>
          <a:ea typeface="+mn-ea"/>
          <a:cs typeface="+mn-cs"/>
        </a:defRPr>
      </a:lvl1pPr>
      <a:lvl2pPr marL="914411" algn="l" defTabSz="1828823" rtl="0" eaLnBrk="1" latinLnBrk="0" hangingPunct="1">
        <a:defRPr sz="3600" kern="1200">
          <a:solidFill>
            <a:schemeClr val="tx1"/>
          </a:solidFill>
          <a:latin typeface="+mn-lt"/>
          <a:ea typeface="+mn-ea"/>
          <a:cs typeface="+mn-cs"/>
        </a:defRPr>
      </a:lvl2pPr>
      <a:lvl3pPr marL="1828823" algn="l" defTabSz="1828823" rtl="0" eaLnBrk="1" latinLnBrk="0" hangingPunct="1">
        <a:defRPr sz="3600" kern="1200">
          <a:solidFill>
            <a:schemeClr val="tx1"/>
          </a:solidFill>
          <a:latin typeface="+mn-lt"/>
          <a:ea typeface="+mn-ea"/>
          <a:cs typeface="+mn-cs"/>
        </a:defRPr>
      </a:lvl3pPr>
      <a:lvl4pPr marL="2743234" algn="l" defTabSz="1828823" rtl="0" eaLnBrk="1" latinLnBrk="0" hangingPunct="1">
        <a:defRPr sz="3600" kern="1200">
          <a:solidFill>
            <a:schemeClr val="tx1"/>
          </a:solidFill>
          <a:latin typeface="+mn-lt"/>
          <a:ea typeface="+mn-ea"/>
          <a:cs typeface="+mn-cs"/>
        </a:defRPr>
      </a:lvl4pPr>
      <a:lvl5pPr marL="3657646" algn="l" defTabSz="1828823" rtl="0" eaLnBrk="1" latinLnBrk="0" hangingPunct="1">
        <a:defRPr sz="3600" kern="1200">
          <a:solidFill>
            <a:schemeClr val="tx1"/>
          </a:solidFill>
          <a:latin typeface="+mn-lt"/>
          <a:ea typeface="+mn-ea"/>
          <a:cs typeface="+mn-cs"/>
        </a:defRPr>
      </a:lvl5pPr>
      <a:lvl6pPr marL="4572057" algn="l" defTabSz="1828823" rtl="0" eaLnBrk="1" latinLnBrk="0" hangingPunct="1">
        <a:defRPr sz="3600" kern="1200">
          <a:solidFill>
            <a:schemeClr val="tx1"/>
          </a:solidFill>
          <a:latin typeface="+mn-lt"/>
          <a:ea typeface="+mn-ea"/>
          <a:cs typeface="+mn-cs"/>
        </a:defRPr>
      </a:lvl6pPr>
      <a:lvl7pPr marL="5486469" algn="l" defTabSz="1828823" rtl="0" eaLnBrk="1" latinLnBrk="0" hangingPunct="1">
        <a:defRPr sz="3600" kern="1200">
          <a:solidFill>
            <a:schemeClr val="tx1"/>
          </a:solidFill>
          <a:latin typeface="+mn-lt"/>
          <a:ea typeface="+mn-ea"/>
          <a:cs typeface="+mn-cs"/>
        </a:defRPr>
      </a:lvl7pPr>
      <a:lvl8pPr marL="6400880" algn="l" defTabSz="1828823" rtl="0" eaLnBrk="1" latinLnBrk="0" hangingPunct="1">
        <a:defRPr sz="3600" kern="1200">
          <a:solidFill>
            <a:schemeClr val="tx1"/>
          </a:solidFill>
          <a:latin typeface="+mn-lt"/>
          <a:ea typeface="+mn-ea"/>
          <a:cs typeface="+mn-cs"/>
        </a:defRPr>
      </a:lvl8pPr>
      <a:lvl9pPr marL="7315291" algn="l" defTabSz="1828823" rtl="0" eaLnBrk="1" latinLnBrk="0" hangingPunct="1">
        <a:defRPr sz="36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9.xml" Id="rId3" /><Relationship Type="http://schemas.openxmlformats.org/officeDocument/2006/relationships/image" Target="/ppt/media/image3.png" Id="rId6" /><Relationship Type="http://schemas.openxmlformats.org/officeDocument/2006/relationships/image" Target="/ppt/media/image2.png" Id="rId5" /><Relationship Type="http://schemas.openxmlformats.org/officeDocument/2006/relationships/image" Target="/ppt/media/image1.jpeg" Id="rId4" /><Relationship Type="http://schemas.openxmlformats.org/officeDocument/2006/relationships/audio" Target="/ppt/media/media1.mp3" Id="rId2" /><Relationship Type="http://schemas.microsoft.com/office/2007/relationships/media" Target="/ppt/media/media1.mp3"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5.xml" Id="rId3" /><Relationship Type="http://schemas.openxmlformats.org/officeDocument/2006/relationships/image" Target="/ppt/media/image4.png" Id="rId6" /><Relationship Type="http://schemas.openxmlformats.org/officeDocument/2006/relationships/image" Target="/ppt/media/image2.png" Id="rId5" /><Relationship Type="http://schemas.openxmlformats.org/officeDocument/2006/relationships/notesSlide" Target="/ppt/notesSlides/notesSlide1.xml" Id="rId4" /><Relationship Type="http://schemas.openxmlformats.org/officeDocument/2006/relationships/video" Target="/ppt/media/media2.mov" Id="rId2" /><Relationship Type="http://schemas.microsoft.com/office/2007/relationships/media" Target="/ppt/media/media2.mov" Id="rId1" /></Relationships>
</file>

<file path=ppt/slides/_rels/slide3.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5.jpg" Id="rId2" /><Relationship Type="http://schemas.openxmlformats.org/officeDocument/2006/relationships/slideLayout" Target="/ppt/slideLayouts/slideLayout13.xml" Id="rId1" /></Relationships>
</file>

<file path=ppt/slides/_rels/slide4.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6.jpeg" Id="rId2" /><Relationship Type="http://schemas.openxmlformats.org/officeDocument/2006/relationships/slideLayout" Target="/ppt/slideLayouts/slideLayout12.xml" Id="rId1" /></Relationships>
</file>

<file path=ppt/slides/_rels/slide5.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6.jpeg" Id="rId2" /><Relationship Type="http://schemas.openxmlformats.org/officeDocument/2006/relationships/slideLayout" Target="/ppt/slideLayouts/slideLayout12.xml" Id="rId1" /></Relationships>
</file>

<file path=ppt/slides/_rels/slide6.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6.jpeg" Id="rId2" /><Relationship Type="http://schemas.openxmlformats.org/officeDocument/2006/relationships/slideLayout" Target="/ppt/slideLayouts/slideLayout12.xml" Id="rId1" /></Relationships>
</file>

<file path=ppt/slides/_rels/slide7.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7.jpg" Id="rId2" /><Relationship Type="http://schemas.openxmlformats.org/officeDocument/2006/relationships/slideLayout" Target="/ppt/slideLayouts/slideLayout17.xml" Id="rId1" /></Relationships>
</file>

<file path=ppt/slides/_rels/slide8.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7.jpg" Id="rId2" /><Relationship Type="http://schemas.openxmlformats.org/officeDocument/2006/relationships/slideLayout" Target="/ppt/slideLayouts/slideLayout17.xml" Id="rId1" /></Relationships>
</file>

<file path=ppt/slides/_rels/slide9.xml.rels>&#65279;<?xml version="1.0" encoding="utf-8"?><Relationships xmlns="http://schemas.openxmlformats.org/package/2006/relationships"><Relationship Type="http://schemas.openxmlformats.org/officeDocument/2006/relationships/image" Target="/ppt/media/image9.png" Id="rId3" /><Relationship Type="http://schemas.openxmlformats.org/officeDocument/2006/relationships/image" Target="/ppt/media/image8.jpg" Id="rId2" /><Relationship Type="http://schemas.openxmlformats.org/officeDocument/2006/relationships/slideLayout" Target="/ppt/slideLayouts/slideLayout2.xml" Id="rId1" /><Relationship Type="http://schemas.openxmlformats.org/officeDocument/2006/relationships/image" Target="/ppt/media/image2.png" Id="rId4" /></Relationships>
</file>

<file path=ppt/slides/_rels/slide10.xml.rels>&#65279;<?xml version="1.0" encoding="utf-8"?><Relationships xmlns="http://schemas.openxmlformats.org/package/2006/relationships"><Relationship Type="http://schemas.openxmlformats.org/officeDocument/2006/relationships/image" Target="/ppt/media/image15.png" Id="rId8" /><Relationship Type="http://schemas.openxmlformats.org/officeDocument/2006/relationships/image" Target="/ppt/media/image10.png" Id="rId3" /><Relationship Type="http://schemas.openxmlformats.org/officeDocument/2006/relationships/image" Target="/ppt/media/image14.png" Id="rId7" /><Relationship Type="http://schemas.openxmlformats.org/officeDocument/2006/relationships/image" Target="/ppt/media/image8.jpg" Id="rId2" /><Relationship Type="http://schemas.openxmlformats.org/officeDocument/2006/relationships/slideLayout" Target="/ppt/slideLayouts/slideLayout2.xml" Id="rId1" /><Relationship Type="http://schemas.openxmlformats.org/officeDocument/2006/relationships/image" Target="/ppt/media/image13.png" Id="rId6" /><Relationship Type="http://schemas.openxmlformats.org/officeDocument/2006/relationships/image" Target="/ppt/media/image12.png" Id="rId5" /><Relationship Type="http://schemas.openxmlformats.org/officeDocument/2006/relationships/image" Target="/ppt/media/image11.png" Id="rId4" /><Relationship Type="http://schemas.openxmlformats.org/officeDocument/2006/relationships/image" Target="/ppt/media/image2.png" Id="rId9" /></Relationships>
</file>

<file path=ppt/slides/_rels/slide11.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image" Target="/ppt/media/image16.jpg" Id="rId2" /><Relationship Type="http://schemas.openxmlformats.org/officeDocument/2006/relationships/slideLayout" Target="/ppt/slideLayouts/slideLayout1.xml" Id="rId1" /></Relationships>
</file>

<file path=ppt/slides/_rels/slide12.xml.rels>&#65279;<?xml version="1.0" encoding="utf-8"?><Relationships xmlns="http://schemas.openxmlformats.org/package/2006/relationships"><Relationship Type="http://schemas.openxmlformats.org/officeDocument/2006/relationships/image" Target="/ppt/media/image18.png" Id="rId3" /><Relationship Type="http://schemas.openxmlformats.org/officeDocument/2006/relationships/image" Target="/ppt/media/image17.jpg" Id="rId2" /><Relationship Type="http://schemas.openxmlformats.org/officeDocument/2006/relationships/slideLayout" Target="/ppt/slideLayouts/slideLayout2.xml" Id="rId1" /><Relationship Type="http://schemas.openxmlformats.org/officeDocument/2006/relationships/image" Target="/ppt/media/image2.png" Id="rId4"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5297F4"/>
            </a:gs>
            <a:gs pos="35000">
              <a:srgbClr val="0FFADB"/>
            </a:gs>
          </a:gsLst>
          <a:lin ang="0" scaled="0"/>
        </a:gradFill>
        <a:effectLst/>
      </p:bgPr>
    </p:bg>
    <p:spTree>
      <p:nvGrpSpPr>
        <p:cNvPr id="1" name=""/>
        <p:cNvGrpSpPr/>
        <p:nvPr/>
      </p:nvGrpSpPr>
      <p:grpSpPr>
        <a:xfrm>
          <a:off x="0" y="0"/>
          <a:ext cx="0" cy="0"/>
          <a:chOff x="0" y="0"/>
          <a:chExt cx="0" cy="0"/>
        </a:xfrm>
      </p:grpSpPr>
      <p:pic>
        <p:nvPicPr>
          <p:cNvPr id="3" name="Picture Placeholder 2">
            <a:extLst>
              <a:ext uri="{FF2B5EF4-FFF2-40B4-BE49-F238E27FC236}">
                <a16:creationId xmlns:a16="http://schemas.microsoft.com/office/drawing/2014/main" id="{00540591-0059-CA82-BAD5-A97D41ED101D}"/>
              </a:ext>
            </a:extLst>
          </p:cNvPr>
          <p:cNvPicPr>
            <a:picLocks noGrp="1" noChangeAspect="1"/>
          </p:cNvPicPr>
          <p:nvPr>
            <p:ph type="pic" sz="quarter" idx="10"/>
          </p:nvPr>
        </p:nvPicPr>
        <p:blipFill>
          <a:blip r:embed="rId4" cstate="print">
            <a:extLst>
              <a:ext uri="{28A0092B-C50C-407E-A947-70E740481C1C}">
                <a14:useLocalDpi xmlns:a14="http://schemas.microsoft.com/office/drawing/2010/main" val="0"/>
              </a:ext>
            </a:extLst>
          </a:blip>
          <a:srcRect l="12512" r="12512"/>
          <a:stretch>
            <a:fillRect/>
          </a:stretch>
        </p:blipFill>
        <p:spPr/>
      </p:pic>
      <p:sp>
        <p:nvSpPr>
          <p:cNvPr id="13" name="Rectangle 12">
            <a:extLst>
              <a:ext uri="{FF2B5EF4-FFF2-40B4-BE49-F238E27FC236}">
                <a16:creationId xmlns:a16="http://schemas.microsoft.com/office/drawing/2014/main" id="{525FD384-D5B4-4AD8-95BB-E9E0C94CF81C}"/>
              </a:ext>
            </a:extLst>
          </p:cNvPr>
          <p:cNvSpPr/>
          <p:nvPr/>
        </p:nvSpPr>
        <p:spPr>
          <a:xfrm>
            <a:off x="9909258" y="0"/>
            <a:ext cx="12383518" cy="13716000"/>
          </a:xfrm>
          <a:prstGeom prst="rect">
            <a:avLst/>
          </a:prstGeom>
          <a:gradFill>
            <a:gsLst>
              <a:gs pos="35000">
                <a:srgbClr val="0FFADB"/>
              </a:gs>
              <a:gs pos="75000">
                <a:srgbClr val="0FFAD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6" hangingPunct="1">
              <a:lnSpc>
                <a:spcPct val="100000"/>
              </a:lnSpc>
            </a:pPr>
            <a:endParaRPr lang="en-US" sz="675" kern="1200" spc="0">
              <a:solidFill>
                <a:prstClr val="white"/>
              </a:solidFill>
              <a:latin typeface="Calibri" panose="020F0502020204030204"/>
            </a:endParaRPr>
          </a:p>
        </p:txBody>
      </p:sp>
      <p:sp>
        <p:nvSpPr>
          <p:cNvPr id="7" name="Oval 6">
            <a:extLst>
              <a:ext uri="{FF2B5EF4-FFF2-40B4-BE49-F238E27FC236}">
                <a16:creationId xmlns:a16="http://schemas.microsoft.com/office/drawing/2014/main" id="{919840FF-A0CE-4081-9EA0-8E1490AA6EAB}"/>
              </a:ext>
            </a:extLst>
          </p:cNvPr>
          <p:cNvSpPr/>
          <p:nvPr/>
        </p:nvSpPr>
        <p:spPr>
          <a:xfrm>
            <a:off x="12151740" y="13102460"/>
            <a:ext cx="80520" cy="80520"/>
          </a:xfrm>
          <a:prstGeom prst="ellipse">
            <a:avLst/>
          </a:prstGeom>
          <a:solidFill>
            <a:srgbClr val="77A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6" hangingPunct="1">
              <a:lnSpc>
                <a:spcPct val="100000"/>
              </a:lnSpc>
            </a:pPr>
            <a:endParaRPr lang="en-US" sz="675" kern="1200" spc="0">
              <a:solidFill>
                <a:prstClr val="white"/>
              </a:solidFill>
              <a:latin typeface="Calibri" panose="020F0502020204030204"/>
            </a:endParaRPr>
          </a:p>
        </p:txBody>
      </p:sp>
      <p:sp>
        <p:nvSpPr>
          <p:cNvPr id="8" name="TextBox 7">
            <a:extLst>
              <a:ext uri="{FF2B5EF4-FFF2-40B4-BE49-F238E27FC236}">
                <a16:creationId xmlns:a16="http://schemas.microsoft.com/office/drawing/2014/main" id="{80CCEB38-3536-48E1-976E-7BF4E66ED09A}"/>
              </a:ext>
            </a:extLst>
          </p:cNvPr>
          <p:cNvSpPr txBox="1"/>
          <p:nvPr/>
        </p:nvSpPr>
        <p:spPr>
          <a:xfrm>
            <a:off x="2298206" y="4385727"/>
            <a:ext cx="11771117" cy="2554545"/>
          </a:xfrm>
          <a:prstGeom prst="rect">
            <a:avLst/>
          </a:prstGeom>
          <a:noFill/>
        </p:spPr>
        <p:txBody>
          <a:bodyPr wrap="square" rtlCol="0">
            <a:spAutoFit/>
          </a:bodyPr>
          <a:lstStyle/>
          <a:p>
            <a:pPr defTabSz="457206" hangingPunct="1">
              <a:lnSpc>
                <a:spcPct val="100000"/>
              </a:lnSpc>
            </a:pPr>
            <a:r>
              <a:rPr lang="en-US" sz="16000" b="1" kern="1200" spc="0" dirty="0">
                <a:solidFill>
                  <a:srgbClr val="FFFFFF"/>
                </a:solidFill>
                <a:latin typeface="Poppins" panose="00000500000000000000" pitchFamily="2" charset="0"/>
                <a:ea typeface="Source Sans Pro Black" panose="020B0803030403020204" pitchFamily="34" charset="0"/>
                <a:cs typeface="Poppins" panose="00000500000000000000" pitchFamily="2" charset="0"/>
              </a:rPr>
              <a:t>HUMANXT</a:t>
            </a:r>
          </a:p>
        </p:txBody>
      </p:sp>
      <p:sp>
        <p:nvSpPr>
          <p:cNvPr id="9" name="TextBox 8">
            <a:extLst>
              <a:ext uri="{FF2B5EF4-FFF2-40B4-BE49-F238E27FC236}">
                <a16:creationId xmlns:a16="http://schemas.microsoft.com/office/drawing/2014/main" id="{46FA72B5-69DA-484C-9E88-493F35DDAA49}"/>
              </a:ext>
            </a:extLst>
          </p:cNvPr>
          <p:cNvSpPr txBox="1"/>
          <p:nvPr/>
        </p:nvSpPr>
        <p:spPr>
          <a:xfrm>
            <a:off x="2494393" y="7008748"/>
            <a:ext cx="11771117" cy="769441"/>
          </a:xfrm>
          <a:prstGeom prst="rect">
            <a:avLst/>
          </a:prstGeom>
          <a:noFill/>
        </p:spPr>
        <p:txBody>
          <a:bodyPr wrap="square" rtlCol="0">
            <a:spAutoFit/>
          </a:bodyPr>
          <a:lstStyle/>
          <a:p>
            <a:pPr defTabSz="457206" hangingPunct="1">
              <a:lnSpc>
                <a:spcPct val="100000"/>
              </a:lnSpc>
            </a:pPr>
            <a:r>
              <a:rPr lang="en-US" sz="4400" b="1" kern="1200" spc="0" dirty="0">
                <a:solidFill>
                  <a:srgbClr val="FFFFFF"/>
                </a:solidFill>
                <a:latin typeface="Poppins" panose="00000500000000000000" pitchFamily="2" charset="0"/>
                <a:ea typeface="Source Sans Pro Black" panose="020B0803030403020204" pitchFamily="34" charset="0"/>
                <a:cs typeface="Poppins" panose="00000500000000000000" pitchFamily="2" charset="0"/>
              </a:rPr>
              <a:t>THE NEXT-GEN HR</a:t>
            </a:r>
          </a:p>
        </p:txBody>
      </p:sp>
      <p:sp>
        <p:nvSpPr>
          <p:cNvPr id="19" name="Rectangle 18">
            <a:extLst>
              <a:ext uri="{FF2B5EF4-FFF2-40B4-BE49-F238E27FC236}">
                <a16:creationId xmlns:a16="http://schemas.microsoft.com/office/drawing/2014/main" id="{3B4FFD2B-7ED7-4EC0-B0DD-35F786B22774}"/>
              </a:ext>
            </a:extLst>
          </p:cNvPr>
          <p:cNvSpPr/>
          <p:nvPr/>
        </p:nvSpPr>
        <p:spPr>
          <a:xfrm>
            <a:off x="14762765" y="2389242"/>
            <a:ext cx="7530011" cy="9026013"/>
          </a:xfrm>
          <a:prstGeom prst="rect">
            <a:avLst/>
          </a:prstGeom>
          <a:noFill/>
          <a:ln w="127000" cmpd="sng">
            <a:solidFill>
              <a:srgbClr val="85F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6" hangingPunct="1">
              <a:lnSpc>
                <a:spcPct val="100000"/>
              </a:lnSpc>
            </a:pPr>
            <a:endParaRPr lang="en-US" sz="675" kern="1200" spc="0">
              <a:solidFill>
                <a:prstClr val="white"/>
              </a:solidFill>
              <a:latin typeface="Calibri" panose="020F0502020204030204"/>
            </a:endParaRPr>
          </a:p>
        </p:txBody>
      </p:sp>
      <p:grpSp>
        <p:nvGrpSpPr>
          <p:cNvPr id="23" name="Graphic 17">
            <a:extLst>
              <a:ext uri="{FF2B5EF4-FFF2-40B4-BE49-F238E27FC236}">
                <a16:creationId xmlns:a16="http://schemas.microsoft.com/office/drawing/2014/main" id="{F918A3EC-55D6-4172-8B23-EDD43878E4A5}"/>
              </a:ext>
            </a:extLst>
          </p:cNvPr>
          <p:cNvGrpSpPr/>
          <p:nvPr/>
        </p:nvGrpSpPr>
        <p:grpSpPr>
          <a:xfrm>
            <a:off x="9909256" y="7014092"/>
            <a:ext cx="2462213" cy="2464952"/>
            <a:chOff x="18858578" y="5723525"/>
            <a:chExt cx="4281487" cy="4286250"/>
          </a:xfrm>
          <a:gradFill>
            <a:gsLst>
              <a:gs pos="100000">
                <a:srgbClr val="EAF2FF"/>
              </a:gs>
              <a:gs pos="0">
                <a:srgbClr val="0FFADB"/>
              </a:gs>
            </a:gsLst>
            <a:lin ang="2700000" scaled="0"/>
          </a:gradFill>
        </p:grpSpPr>
        <p:grpSp>
          <p:nvGrpSpPr>
            <p:cNvPr id="24" name="Graphic 17">
              <a:extLst>
                <a:ext uri="{FF2B5EF4-FFF2-40B4-BE49-F238E27FC236}">
                  <a16:creationId xmlns:a16="http://schemas.microsoft.com/office/drawing/2014/main" id="{6687927A-8C67-485E-AEC9-B78DDE06FEFA}"/>
                </a:ext>
              </a:extLst>
            </p:cNvPr>
            <p:cNvGrpSpPr/>
            <p:nvPr/>
          </p:nvGrpSpPr>
          <p:grpSpPr>
            <a:xfrm>
              <a:off x="18858578" y="9541144"/>
              <a:ext cx="4281487" cy="468630"/>
              <a:chOff x="18858578" y="9541144"/>
              <a:chExt cx="4281487" cy="468630"/>
            </a:xfrm>
            <a:grpFill/>
          </p:grpSpPr>
          <p:sp>
            <p:nvSpPr>
              <p:cNvPr id="60" name="Freeform: Shape 59">
                <a:extLst>
                  <a:ext uri="{FF2B5EF4-FFF2-40B4-BE49-F238E27FC236}">
                    <a16:creationId xmlns:a16="http://schemas.microsoft.com/office/drawing/2014/main" id="{BBD80A96-4622-4D22-8118-A64948631651}"/>
                  </a:ext>
                </a:extLst>
              </p:cNvPr>
              <p:cNvSpPr/>
              <p:nvPr/>
            </p:nvSpPr>
            <p:spPr>
              <a:xfrm>
                <a:off x="22676197" y="9541144"/>
                <a:ext cx="463867" cy="468630"/>
              </a:xfrm>
              <a:custGeom>
                <a:avLst/>
                <a:gdLst>
                  <a:gd name="connsiteX0" fmla="*/ 463868 w 463867"/>
                  <a:gd name="connsiteY0" fmla="*/ 147638 h 468630"/>
                  <a:gd name="connsiteX1" fmla="*/ 316230 w 463867"/>
                  <a:gd name="connsiteY1" fmla="*/ 147638 h 468630"/>
                  <a:gd name="connsiteX2" fmla="*/ 316230 w 463867"/>
                  <a:gd name="connsiteY2" fmla="*/ 0 h 468630"/>
                  <a:gd name="connsiteX3" fmla="*/ 147638 w 463867"/>
                  <a:gd name="connsiteY3" fmla="*/ 0 h 468630"/>
                  <a:gd name="connsiteX4" fmla="*/ 147638 w 463867"/>
                  <a:gd name="connsiteY4" fmla="*/ 147638 h 468630"/>
                  <a:gd name="connsiteX5" fmla="*/ 0 w 463867"/>
                  <a:gd name="connsiteY5" fmla="*/ 147638 h 468630"/>
                  <a:gd name="connsiteX6" fmla="*/ 0 w 463867"/>
                  <a:gd name="connsiteY6" fmla="*/ 316230 h 468630"/>
                  <a:gd name="connsiteX7" fmla="*/ 147638 w 463867"/>
                  <a:gd name="connsiteY7" fmla="*/ 316230 h 468630"/>
                  <a:gd name="connsiteX8" fmla="*/ 147638 w 463867"/>
                  <a:gd name="connsiteY8" fmla="*/ 468630 h 468630"/>
                  <a:gd name="connsiteX9" fmla="*/ 316230 w 463867"/>
                  <a:gd name="connsiteY9" fmla="*/ 468630 h 468630"/>
                  <a:gd name="connsiteX10" fmla="*/ 316230 w 463867"/>
                  <a:gd name="connsiteY10" fmla="*/ 316230 h 468630"/>
                  <a:gd name="connsiteX11" fmla="*/ 463868 w 463867"/>
                  <a:gd name="connsiteY11" fmla="*/ 316230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30">
                    <a:moveTo>
                      <a:pt x="463868" y="147638"/>
                    </a:moveTo>
                    <a:lnTo>
                      <a:pt x="316230" y="147638"/>
                    </a:lnTo>
                    <a:lnTo>
                      <a:pt x="316230" y="0"/>
                    </a:lnTo>
                    <a:lnTo>
                      <a:pt x="147638" y="0"/>
                    </a:lnTo>
                    <a:lnTo>
                      <a:pt x="147638" y="147638"/>
                    </a:lnTo>
                    <a:lnTo>
                      <a:pt x="0" y="147638"/>
                    </a:lnTo>
                    <a:lnTo>
                      <a:pt x="0" y="316230"/>
                    </a:lnTo>
                    <a:lnTo>
                      <a:pt x="147638" y="316230"/>
                    </a:lnTo>
                    <a:lnTo>
                      <a:pt x="147638" y="468630"/>
                    </a:lnTo>
                    <a:lnTo>
                      <a:pt x="316230" y="468630"/>
                    </a:lnTo>
                    <a:lnTo>
                      <a:pt x="316230" y="316230"/>
                    </a:lnTo>
                    <a:lnTo>
                      <a:pt x="463868"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61" name="Freeform: Shape 60">
                <a:extLst>
                  <a:ext uri="{FF2B5EF4-FFF2-40B4-BE49-F238E27FC236}">
                    <a16:creationId xmlns:a16="http://schemas.microsoft.com/office/drawing/2014/main" id="{3A877EF0-049F-41DB-828D-813E5A07516E}"/>
                  </a:ext>
                </a:extLst>
              </p:cNvPr>
              <p:cNvSpPr/>
              <p:nvPr/>
            </p:nvSpPr>
            <p:spPr>
              <a:xfrm>
                <a:off x="21913245" y="9541144"/>
                <a:ext cx="462914" cy="468630"/>
              </a:xfrm>
              <a:custGeom>
                <a:avLst/>
                <a:gdLst>
                  <a:gd name="connsiteX0" fmla="*/ 462915 w 462914"/>
                  <a:gd name="connsiteY0" fmla="*/ 147638 h 468630"/>
                  <a:gd name="connsiteX1" fmla="*/ 315277 w 462914"/>
                  <a:gd name="connsiteY1" fmla="*/ 147638 h 468630"/>
                  <a:gd name="connsiteX2" fmla="*/ 315277 w 462914"/>
                  <a:gd name="connsiteY2" fmla="*/ 0 h 468630"/>
                  <a:gd name="connsiteX3" fmla="*/ 147638 w 462914"/>
                  <a:gd name="connsiteY3" fmla="*/ 0 h 468630"/>
                  <a:gd name="connsiteX4" fmla="*/ 147638 w 462914"/>
                  <a:gd name="connsiteY4" fmla="*/ 147638 h 468630"/>
                  <a:gd name="connsiteX5" fmla="*/ 0 w 462914"/>
                  <a:gd name="connsiteY5" fmla="*/ 147638 h 468630"/>
                  <a:gd name="connsiteX6" fmla="*/ 0 w 462914"/>
                  <a:gd name="connsiteY6" fmla="*/ 316230 h 468630"/>
                  <a:gd name="connsiteX7" fmla="*/ 147638 w 462914"/>
                  <a:gd name="connsiteY7" fmla="*/ 316230 h 468630"/>
                  <a:gd name="connsiteX8" fmla="*/ 147638 w 462914"/>
                  <a:gd name="connsiteY8" fmla="*/ 468630 h 468630"/>
                  <a:gd name="connsiteX9" fmla="*/ 315277 w 462914"/>
                  <a:gd name="connsiteY9" fmla="*/ 468630 h 468630"/>
                  <a:gd name="connsiteX10" fmla="*/ 315277 w 462914"/>
                  <a:gd name="connsiteY10" fmla="*/ 316230 h 468630"/>
                  <a:gd name="connsiteX11" fmla="*/ 462915 w 462914"/>
                  <a:gd name="connsiteY11" fmla="*/ 316230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30">
                    <a:moveTo>
                      <a:pt x="462915" y="147638"/>
                    </a:moveTo>
                    <a:lnTo>
                      <a:pt x="315277" y="147638"/>
                    </a:lnTo>
                    <a:lnTo>
                      <a:pt x="315277" y="0"/>
                    </a:lnTo>
                    <a:lnTo>
                      <a:pt x="147638" y="0"/>
                    </a:lnTo>
                    <a:lnTo>
                      <a:pt x="147638" y="147638"/>
                    </a:lnTo>
                    <a:lnTo>
                      <a:pt x="0" y="147638"/>
                    </a:lnTo>
                    <a:lnTo>
                      <a:pt x="0" y="316230"/>
                    </a:lnTo>
                    <a:lnTo>
                      <a:pt x="147638" y="316230"/>
                    </a:lnTo>
                    <a:lnTo>
                      <a:pt x="147638" y="468630"/>
                    </a:lnTo>
                    <a:lnTo>
                      <a:pt x="315277" y="468630"/>
                    </a:lnTo>
                    <a:lnTo>
                      <a:pt x="315277"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62" name="Freeform: Shape 61">
                <a:extLst>
                  <a:ext uri="{FF2B5EF4-FFF2-40B4-BE49-F238E27FC236}">
                    <a16:creationId xmlns:a16="http://schemas.microsoft.com/office/drawing/2014/main" id="{3ACDD3DF-D35C-4E5C-9E33-FBBED54AFB8B}"/>
                  </a:ext>
                </a:extLst>
              </p:cNvPr>
              <p:cNvSpPr/>
              <p:nvPr/>
            </p:nvSpPr>
            <p:spPr>
              <a:xfrm>
                <a:off x="21149340" y="9541144"/>
                <a:ext cx="462915" cy="468630"/>
              </a:xfrm>
              <a:custGeom>
                <a:avLst/>
                <a:gdLst>
                  <a:gd name="connsiteX0" fmla="*/ 462915 w 462915"/>
                  <a:gd name="connsiteY0" fmla="*/ 147638 h 468630"/>
                  <a:gd name="connsiteX1" fmla="*/ 315278 w 462915"/>
                  <a:gd name="connsiteY1" fmla="*/ 147638 h 468630"/>
                  <a:gd name="connsiteX2" fmla="*/ 315278 w 462915"/>
                  <a:gd name="connsiteY2" fmla="*/ 0 h 468630"/>
                  <a:gd name="connsiteX3" fmla="*/ 147638 w 462915"/>
                  <a:gd name="connsiteY3" fmla="*/ 0 h 468630"/>
                  <a:gd name="connsiteX4" fmla="*/ 147638 w 462915"/>
                  <a:gd name="connsiteY4" fmla="*/ 147638 h 468630"/>
                  <a:gd name="connsiteX5" fmla="*/ 0 w 462915"/>
                  <a:gd name="connsiteY5" fmla="*/ 147638 h 468630"/>
                  <a:gd name="connsiteX6" fmla="*/ 0 w 462915"/>
                  <a:gd name="connsiteY6" fmla="*/ 316230 h 468630"/>
                  <a:gd name="connsiteX7" fmla="*/ 147638 w 462915"/>
                  <a:gd name="connsiteY7" fmla="*/ 316230 h 468630"/>
                  <a:gd name="connsiteX8" fmla="*/ 147638 w 462915"/>
                  <a:gd name="connsiteY8" fmla="*/ 468630 h 468630"/>
                  <a:gd name="connsiteX9" fmla="*/ 315278 w 462915"/>
                  <a:gd name="connsiteY9" fmla="*/ 468630 h 468630"/>
                  <a:gd name="connsiteX10" fmla="*/ 315278 w 462915"/>
                  <a:gd name="connsiteY10" fmla="*/ 316230 h 468630"/>
                  <a:gd name="connsiteX11" fmla="*/ 462915 w 462915"/>
                  <a:gd name="connsiteY11" fmla="*/ 316230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30">
                    <a:moveTo>
                      <a:pt x="462915" y="147638"/>
                    </a:moveTo>
                    <a:lnTo>
                      <a:pt x="315278" y="147638"/>
                    </a:lnTo>
                    <a:lnTo>
                      <a:pt x="315278" y="0"/>
                    </a:lnTo>
                    <a:lnTo>
                      <a:pt x="147638" y="0"/>
                    </a:lnTo>
                    <a:lnTo>
                      <a:pt x="147638" y="147638"/>
                    </a:lnTo>
                    <a:lnTo>
                      <a:pt x="0" y="147638"/>
                    </a:lnTo>
                    <a:lnTo>
                      <a:pt x="0" y="316230"/>
                    </a:lnTo>
                    <a:lnTo>
                      <a:pt x="147638" y="316230"/>
                    </a:lnTo>
                    <a:lnTo>
                      <a:pt x="147638" y="468630"/>
                    </a:lnTo>
                    <a:lnTo>
                      <a:pt x="315278" y="468630"/>
                    </a:lnTo>
                    <a:lnTo>
                      <a:pt x="315278"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63" name="Freeform: Shape 62">
                <a:extLst>
                  <a:ext uri="{FF2B5EF4-FFF2-40B4-BE49-F238E27FC236}">
                    <a16:creationId xmlns:a16="http://schemas.microsoft.com/office/drawing/2014/main" id="{508A46D9-F3BC-4905-81F9-C2A3AABC8709}"/>
                  </a:ext>
                </a:extLst>
              </p:cNvPr>
              <p:cNvSpPr/>
              <p:nvPr/>
            </p:nvSpPr>
            <p:spPr>
              <a:xfrm>
                <a:off x="20385435" y="9541144"/>
                <a:ext cx="463867" cy="468630"/>
              </a:xfrm>
              <a:custGeom>
                <a:avLst/>
                <a:gdLst>
                  <a:gd name="connsiteX0" fmla="*/ 463867 w 463867"/>
                  <a:gd name="connsiteY0" fmla="*/ 147638 h 468630"/>
                  <a:gd name="connsiteX1" fmla="*/ 316230 w 463867"/>
                  <a:gd name="connsiteY1" fmla="*/ 147638 h 468630"/>
                  <a:gd name="connsiteX2" fmla="*/ 316230 w 463867"/>
                  <a:gd name="connsiteY2" fmla="*/ 0 h 468630"/>
                  <a:gd name="connsiteX3" fmla="*/ 147638 w 463867"/>
                  <a:gd name="connsiteY3" fmla="*/ 0 h 468630"/>
                  <a:gd name="connsiteX4" fmla="*/ 147638 w 463867"/>
                  <a:gd name="connsiteY4" fmla="*/ 147638 h 468630"/>
                  <a:gd name="connsiteX5" fmla="*/ 0 w 463867"/>
                  <a:gd name="connsiteY5" fmla="*/ 147638 h 468630"/>
                  <a:gd name="connsiteX6" fmla="*/ 0 w 463867"/>
                  <a:gd name="connsiteY6" fmla="*/ 316230 h 468630"/>
                  <a:gd name="connsiteX7" fmla="*/ 147638 w 463867"/>
                  <a:gd name="connsiteY7" fmla="*/ 316230 h 468630"/>
                  <a:gd name="connsiteX8" fmla="*/ 147638 w 463867"/>
                  <a:gd name="connsiteY8" fmla="*/ 468630 h 468630"/>
                  <a:gd name="connsiteX9" fmla="*/ 316230 w 463867"/>
                  <a:gd name="connsiteY9" fmla="*/ 468630 h 468630"/>
                  <a:gd name="connsiteX10" fmla="*/ 316230 w 463867"/>
                  <a:gd name="connsiteY10" fmla="*/ 316230 h 468630"/>
                  <a:gd name="connsiteX11" fmla="*/ 463867 w 463867"/>
                  <a:gd name="connsiteY11" fmla="*/ 316230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30">
                    <a:moveTo>
                      <a:pt x="463867" y="147638"/>
                    </a:moveTo>
                    <a:lnTo>
                      <a:pt x="316230" y="147638"/>
                    </a:lnTo>
                    <a:lnTo>
                      <a:pt x="316230" y="0"/>
                    </a:lnTo>
                    <a:lnTo>
                      <a:pt x="147638" y="0"/>
                    </a:lnTo>
                    <a:lnTo>
                      <a:pt x="147638" y="147638"/>
                    </a:lnTo>
                    <a:lnTo>
                      <a:pt x="0" y="147638"/>
                    </a:lnTo>
                    <a:lnTo>
                      <a:pt x="0" y="316230"/>
                    </a:lnTo>
                    <a:lnTo>
                      <a:pt x="147638" y="316230"/>
                    </a:lnTo>
                    <a:lnTo>
                      <a:pt x="147638" y="468630"/>
                    </a:lnTo>
                    <a:lnTo>
                      <a:pt x="316230" y="468630"/>
                    </a:lnTo>
                    <a:lnTo>
                      <a:pt x="316230" y="316230"/>
                    </a:lnTo>
                    <a:lnTo>
                      <a:pt x="463867"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64" name="Freeform: Shape 63">
                <a:extLst>
                  <a:ext uri="{FF2B5EF4-FFF2-40B4-BE49-F238E27FC236}">
                    <a16:creationId xmlns:a16="http://schemas.microsoft.com/office/drawing/2014/main" id="{2AF460C6-482B-4338-BAA8-23D20668405A}"/>
                  </a:ext>
                </a:extLst>
              </p:cNvPr>
              <p:cNvSpPr/>
              <p:nvPr/>
            </p:nvSpPr>
            <p:spPr>
              <a:xfrm>
                <a:off x="19622482" y="9541144"/>
                <a:ext cx="462915" cy="468630"/>
              </a:xfrm>
              <a:custGeom>
                <a:avLst/>
                <a:gdLst>
                  <a:gd name="connsiteX0" fmla="*/ 462915 w 462915"/>
                  <a:gd name="connsiteY0" fmla="*/ 147638 h 468630"/>
                  <a:gd name="connsiteX1" fmla="*/ 315278 w 462915"/>
                  <a:gd name="connsiteY1" fmla="*/ 147638 h 468630"/>
                  <a:gd name="connsiteX2" fmla="*/ 315278 w 462915"/>
                  <a:gd name="connsiteY2" fmla="*/ 0 h 468630"/>
                  <a:gd name="connsiteX3" fmla="*/ 147638 w 462915"/>
                  <a:gd name="connsiteY3" fmla="*/ 0 h 468630"/>
                  <a:gd name="connsiteX4" fmla="*/ 147638 w 462915"/>
                  <a:gd name="connsiteY4" fmla="*/ 147638 h 468630"/>
                  <a:gd name="connsiteX5" fmla="*/ 0 w 462915"/>
                  <a:gd name="connsiteY5" fmla="*/ 147638 h 468630"/>
                  <a:gd name="connsiteX6" fmla="*/ 0 w 462915"/>
                  <a:gd name="connsiteY6" fmla="*/ 316230 h 468630"/>
                  <a:gd name="connsiteX7" fmla="*/ 147638 w 462915"/>
                  <a:gd name="connsiteY7" fmla="*/ 316230 h 468630"/>
                  <a:gd name="connsiteX8" fmla="*/ 147638 w 462915"/>
                  <a:gd name="connsiteY8" fmla="*/ 468630 h 468630"/>
                  <a:gd name="connsiteX9" fmla="*/ 315278 w 462915"/>
                  <a:gd name="connsiteY9" fmla="*/ 468630 h 468630"/>
                  <a:gd name="connsiteX10" fmla="*/ 315278 w 462915"/>
                  <a:gd name="connsiteY10" fmla="*/ 316230 h 468630"/>
                  <a:gd name="connsiteX11" fmla="*/ 462915 w 462915"/>
                  <a:gd name="connsiteY11" fmla="*/ 316230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30">
                    <a:moveTo>
                      <a:pt x="462915" y="147638"/>
                    </a:moveTo>
                    <a:lnTo>
                      <a:pt x="315278" y="147638"/>
                    </a:lnTo>
                    <a:lnTo>
                      <a:pt x="315278" y="0"/>
                    </a:lnTo>
                    <a:lnTo>
                      <a:pt x="147638" y="0"/>
                    </a:lnTo>
                    <a:lnTo>
                      <a:pt x="147638" y="147638"/>
                    </a:lnTo>
                    <a:lnTo>
                      <a:pt x="0" y="147638"/>
                    </a:lnTo>
                    <a:lnTo>
                      <a:pt x="0" y="316230"/>
                    </a:lnTo>
                    <a:lnTo>
                      <a:pt x="147638" y="316230"/>
                    </a:lnTo>
                    <a:lnTo>
                      <a:pt x="147638" y="468630"/>
                    </a:lnTo>
                    <a:lnTo>
                      <a:pt x="315278" y="468630"/>
                    </a:lnTo>
                    <a:lnTo>
                      <a:pt x="315278"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65" name="Freeform: Shape 64">
                <a:extLst>
                  <a:ext uri="{FF2B5EF4-FFF2-40B4-BE49-F238E27FC236}">
                    <a16:creationId xmlns:a16="http://schemas.microsoft.com/office/drawing/2014/main" id="{BDB6CD4F-5F48-42B2-B12F-E77106E4FCBF}"/>
                  </a:ext>
                </a:extLst>
              </p:cNvPr>
              <p:cNvSpPr/>
              <p:nvPr/>
            </p:nvSpPr>
            <p:spPr>
              <a:xfrm>
                <a:off x="18858578" y="9541144"/>
                <a:ext cx="462914" cy="468630"/>
              </a:xfrm>
              <a:custGeom>
                <a:avLst/>
                <a:gdLst>
                  <a:gd name="connsiteX0" fmla="*/ 462915 w 462914"/>
                  <a:gd name="connsiteY0" fmla="*/ 147638 h 468630"/>
                  <a:gd name="connsiteX1" fmla="*/ 315278 w 462914"/>
                  <a:gd name="connsiteY1" fmla="*/ 147638 h 468630"/>
                  <a:gd name="connsiteX2" fmla="*/ 315278 w 462914"/>
                  <a:gd name="connsiteY2" fmla="*/ 0 h 468630"/>
                  <a:gd name="connsiteX3" fmla="*/ 147638 w 462914"/>
                  <a:gd name="connsiteY3" fmla="*/ 0 h 468630"/>
                  <a:gd name="connsiteX4" fmla="*/ 147638 w 462914"/>
                  <a:gd name="connsiteY4" fmla="*/ 147638 h 468630"/>
                  <a:gd name="connsiteX5" fmla="*/ 0 w 462914"/>
                  <a:gd name="connsiteY5" fmla="*/ 147638 h 468630"/>
                  <a:gd name="connsiteX6" fmla="*/ 0 w 462914"/>
                  <a:gd name="connsiteY6" fmla="*/ 316230 h 468630"/>
                  <a:gd name="connsiteX7" fmla="*/ 147638 w 462914"/>
                  <a:gd name="connsiteY7" fmla="*/ 316230 h 468630"/>
                  <a:gd name="connsiteX8" fmla="*/ 147638 w 462914"/>
                  <a:gd name="connsiteY8" fmla="*/ 468630 h 468630"/>
                  <a:gd name="connsiteX9" fmla="*/ 315278 w 462914"/>
                  <a:gd name="connsiteY9" fmla="*/ 468630 h 468630"/>
                  <a:gd name="connsiteX10" fmla="*/ 315278 w 462914"/>
                  <a:gd name="connsiteY10" fmla="*/ 316230 h 468630"/>
                  <a:gd name="connsiteX11" fmla="*/ 462915 w 462914"/>
                  <a:gd name="connsiteY11" fmla="*/ 316230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30">
                    <a:moveTo>
                      <a:pt x="462915" y="147638"/>
                    </a:moveTo>
                    <a:lnTo>
                      <a:pt x="315278" y="147638"/>
                    </a:lnTo>
                    <a:lnTo>
                      <a:pt x="315278" y="0"/>
                    </a:lnTo>
                    <a:lnTo>
                      <a:pt x="147638" y="0"/>
                    </a:lnTo>
                    <a:lnTo>
                      <a:pt x="147638" y="147638"/>
                    </a:lnTo>
                    <a:lnTo>
                      <a:pt x="0" y="147638"/>
                    </a:lnTo>
                    <a:lnTo>
                      <a:pt x="0" y="316230"/>
                    </a:lnTo>
                    <a:lnTo>
                      <a:pt x="147638" y="316230"/>
                    </a:lnTo>
                    <a:lnTo>
                      <a:pt x="147638" y="468630"/>
                    </a:lnTo>
                    <a:lnTo>
                      <a:pt x="315278" y="468630"/>
                    </a:lnTo>
                    <a:lnTo>
                      <a:pt x="315278"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grpSp>
        <p:grpSp>
          <p:nvGrpSpPr>
            <p:cNvPr id="25" name="Graphic 17">
              <a:extLst>
                <a:ext uri="{FF2B5EF4-FFF2-40B4-BE49-F238E27FC236}">
                  <a16:creationId xmlns:a16="http://schemas.microsoft.com/office/drawing/2014/main" id="{7B1A6550-0E70-42E9-A501-0A51B8F754C9}"/>
                </a:ext>
              </a:extLst>
            </p:cNvPr>
            <p:cNvGrpSpPr/>
            <p:nvPr/>
          </p:nvGrpSpPr>
          <p:grpSpPr>
            <a:xfrm>
              <a:off x="18858578" y="8778192"/>
              <a:ext cx="4281487" cy="467677"/>
              <a:chOff x="18858578" y="8778192"/>
              <a:chExt cx="4281487" cy="467677"/>
            </a:xfrm>
            <a:grpFill/>
          </p:grpSpPr>
          <p:sp>
            <p:nvSpPr>
              <p:cNvPr id="54" name="Freeform: Shape 53">
                <a:extLst>
                  <a:ext uri="{FF2B5EF4-FFF2-40B4-BE49-F238E27FC236}">
                    <a16:creationId xmlns:a16="http://schemas.microsoft.com/office/drawing/2014/main" id="{2BD4DD5E-595D-423B-9CE0-CED79E92C02B}"/>
                  </a:ext>
                </a:extLst>
              </p:cNvPr>
              <p:cNvSpPr/>
              <p:nvPr/>
            </p:nvSpPr>
            <p:spPr>
              <a:xfrm>
                <a:off x="22676197" y="8778192"/>
                <a:ext cx="463867" cy="467677"/>
              </a:xfrm>
              <a:custGeom>
                <a:avLst/>
                <a:gdLst>
                  <a:gd name="connsiteX0" fmla="*/ 463868 w 463867"/>
                  <a:gd name="connsiteY0" fmla="*/ 147638 h 467677"/>
                  <a:gd name="connsiteX1" fmla="*/ 316230 w 463867"/>
                  <a:gd name="connsiteY1" fmla="*/ 147638 h 467677"/>
                  <a:gd name="connsiteX2" fmla="*/ 316230 w 463867"/>
                  <a:gd name="connsiteY2" fmla="*/ 0 h 467677"/>
                  <a:gd name="connsiteX3" fmla="*/ 147638 w 463867"/>
                  <a:gd name="connsiteY3" fmla="*/ 0 h 467677"/>
                  <a:gd name="connsiteX4" fmla="*/ 147638 w 463867"/>
                  <a:gd name="connsiteY4" fmla="*/ 147638 h 467677"/>
                  <a:gd name="connsiteX5" fmla="*/ 0 w 463867"/>
                  <a:gd name="connsiteY5" fmla="*/ 147638 h 467677"/>
                  <a:gd name="connsiteX6" fmla="*/ 0 w 463867"/>
                  <a:gd name="connsiteY6" fmla="*/ 315277 h 467677"/>
                  <a:gd name="connsiteX7" fmla="*/ 147638 w 463867"/>
                  <a:gd name="connsiteY7" fmla="*/ 315277 h 467677"/>
                  <a:gd name="connsiteX8" fmla="*/ 147638 w 463867"/>
                  <a:gd name="connsiteY8" fmla="*/ 467677 h 467677"/>
                  <a:gd name="connsiteX9" fmla="*/ 316230 w 463867"/>
                  <a:gd name="connsiteY9" fmla="*/ 467677 h 467677"/>
                  <a:gd name="connsiteX10" fmla="*/ 316230 w 463867"/>
                  <a:gd name="connsiteY10" fmla="*/ 315277 h 467677"/>
                  <a:gd name="connsiteX11" fmla="*/ 463868 w 463867"/>
                  <a:gd name="connsiteY11" fmla="*/ 315277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7677">
                    <a:moveTo>
                      <a:pt x="463868" y="147638"/>
                    </a:moveTo>
                    <a:lnTo>
                      <a:pt x="316230" y="147638"/>
                    </a:lnTo>
                    <a:lnTo>
                      <a:pt x="316230" y="0"/>
                    </a:lnTo>
                    <a:lnTo>
                      <a:pt x="147638" y="0"/>
                    </a:lnTo>
                    <a:lnTo>
                      <a:pt x="147638" y="147638"/>
                    </a:lnTo>
                    <a:lnTo>
                      <a:pt x="0" y="147638"/>
                    </a:lnTo>
                    <a:lnTo>
                      <a:pt x="0" y="315277"/>
                    </a:lnTo>
                    <a:lnTo>
                      <a:pt x="147638" y="315277"/>
                    </a:lnTo>
                    <a:lnTo>
                      <a:pt x="147638" y="467677"/>
                    </a:lnTo>
                    <a:lnTo>
                      <a:pt x="316230" y="467677"/>
                    </a:lnTo>
                    <a:lnTo>
                      <a:pt x="316230" y="315277"/>
                    </a:lnTo>
                    <a:lnTo>
                      <a:pt x="463868" y="315277"/>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5" name="Freeform: Shape 54">
                <a:extLst>
                  <a:ext uri="{FF2B5EF4-FFF2-40B4-BE49-F238E27FC236}">
                    <a16:creationId xmlns:a16="http://schemas.microsoft.com/office/drawing/2014/main" id="{33B660C3-7995-4CC3-8A16-67E5E2C52C47}"/>
                  </a:ext>
                </a:extLst>
              </p:cNvPr>
              <p:cNvSpPr/>
              <p:nvPr/>
            </p:nvSpPr>
            <p:spPr>
              <a:xfrm>
                <a:off x="21913245" y="8778192"/>
                <a:ext cx="462914" cy="467677"/>
              </a:xfrm>
              <a:custGeom>
                <a:avLst/>
                <a:gdLst>
                  <a:gd name="connsiteX0" fmla="*/ 462915 w 462914"/>
                  <a:gd name="connsiteY0" fmla="*/ 147638 h 467677"/>
                  <a:gd name="connsiteX1" fmla="*/ 315277 w 462914"/>
                  <a:gd name="connsiteY1" fmla="*/ 147638 h 467677"/>
                  <a:gd name="connsiteX2" fmla="*/ 315277 w 462914"/>
                  <a:gd name="connsiteY2" fmla="*/ 0 h 467677"/>
                  <a:gd name="connsiteX3" fmla="*/ 147638 w 462914"/>
                  <a:gd name="connsiteY3" fmla="*/ 0 h 467677"/>
                  <a:gd name="connsiteX4" fmla="*/ 147638 w 462914"/>
                  <a:gd name="connsiteY4" fmla="*/ 147638 h 467677"/>
                  <a:gd name="connsiteX5" fmla="*/ 0 w 462914"/>
                  <a:gd name="connsiteY5" fmla="*/ 147638 h 467677"/>
                  <a:gd name="connsiteX6" fmla="*/ 0 w 462914"/>
                  <a:gd name="connsiteY6" fmla="*/ 315277 h 467677"/>
                  <a:gd name="connsiteX7" fmla="*/ 147638 w 462914"/>
                  <a:gd name="connsiteY7" fmla="*/ 315277 h 467677"/>
                  <a:gd name="connsiteX8" fmla="*/ 147638 w 462914"/>
                  <a:gd name="connsiteY8" fmla="*/ 467677 h 467677"/>
                  <a:gd name="connsiteX9" fmla="*/ 315277 w 462914"/>
                  <a:gd name="connsiteY9" fmla="*/ 467677 h 467677"/>
                  <a:gd name="connsiteX10" fmla="*/ 315277 w 462914"/>
                  <a:gd name="connsiteY10" fmla="*/ 315277 h 467677"/>
                  <a:gd name="connsiteX11" fmla="*/ 462915 w 462914"/>
                  <a:gd name="connsiteY11" fmla="*/ 315277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7677">
                    <a:moveTo>
                      <a:pt x="462915" y="147638"/>
                    </a:moveTo>
                    <a:lnTo>
                      <a:pt x="315277" y="147638"/>
                    </a:lnTo>
                    <a:lnTo>
                      <a:pt x="315277" y="0"/>
                    </a:lnTo>
                    <a:lnTo>
                      <a:pt x="147638" y="0"/>
                    </a:lnTo>
                    <a:lnTo>
                      <a:pt x="147638" y="147638"/>
                    </a:lnTo>
                    <a:lnTo>
                      <a:pt x="0" y="147638"/>
                    </a:lnTo>
                    <a:lnTo>
                      <a:pt x="0" y="315277"/>
                    </a:lnTo>
                    <a:lnTo>
                      <a:pt x="147638" y="315277"/>
                    </a:lnTo>
                    <a:lnTo>
                      <a:pt x="147638" y="467677"/>
                    </a:lnTo>
                    <a:lnTo>
                      <a:pt x="315277" y="467677"/>
                    </a:lnTo>
                    <a:lnTo>
                      <a:pt x="315277" y="315277"/>
                    </a:lnTo>
                    <a:lnTo>
                      <a:pt x="462915" y="315277"/>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6" name="Freeform: Shape 55">
                <a:extLst>
                  <a:ext uri="{FF2B5EF4-FFF2-40B4-BE49-F238E27FC236}">
                    <a16:creationId xmlns:a16="http://schemas.microsoft.com/office/drawing/2014/main" id="{0B1AC0BE-B170-4C29-9A86-C5584BABD8CE}"/>
                  </a:ext>
                </a:extLst>
              </p:cNvPr>
              <p:cNvSpPr/>
              <p:nvPr/>
            </p:nvSpPr>
            <p:spPr>
              <a:xfrm>
                <a:off x="21149340" y="8778192"/>
                <a:ext cx="462915" cy="467677"/>
              </a:xfrm>
              <a:custGeom>
                <a:avLst/>
                <a:gdLst>
                  <a:gd name="connsiteX0" fmla="*/ 462915 w 462915"/>
                  <a:gd name="connsiteY0" fmla="*/ 147638 h 467677"/>
                  <a:gd name="connsiteX1" fmla="*/ 315278 w 462915"/>
                  <a:gd name="connsiteY1" fmla="*/ 147638 h 467677"/>
                  <a:gd name="connsiteX2" fmla="*/ 315278 w 462915"/>
                  <a:gd name="connsiteY2" fmla="*/ 0 h 467677"/>
                  <a:gd name="connsiteX3" fmla="*/ 147638 w 462915"/>
                  <a:gd name="connsiteY3" fmla="*/ 0 h 467677"/>
                  <a:gd name="connsiteX4" fmla="*/ 147638 w 462915"/>
                  <a:gd name="connsiteY4" fmla="*/ 147638 h 467677"/>
                  <a:gd name="connsiteX5" fmla="*/ 0 w 462915"/>
                  <a:gd name="connsiteY5" fmla="*/ 147638 h 467677"/>
                  <a:gd name="connsiteX6" fmla="*/ 0 w 462915"/>
                  <a:gd name="connsiteY6" fmla="*/ 315277 h 467677"/>
                  <a:gd name="connsiteX7" fmla="*/ 147638 w 462915"/>
                  <a:gd name="connsiteY7" fmla="*/ 315277 h 467677"/>
                  <a:gd name="connsiteX8" fmla="*/ 147638 w 462915"/>
                  <a:gd name="connsiteY8" fmla="*/ 467677 h 467677"/>
                  <a:gd name="connsiteX9" fmla="*/ 315278 w 462915"/>
                  <a:gd name="connsiteY9" fmla="*/ 467677 h 467677"/>
                  <a:gd name="connsiteX10" fmla="*/ 315278 w 462915"/>
                  <a:gd name="connsiteY10" fmla="*/ 315277 h 467677"/>
                  <a:gd name="connsiteX11" fmla="*/ 462915 w 462915"/>
                  <a:gd name="connsiteY11" fmla="*/ 315277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7677">
                    <a:moveTo>
                      <a:pt x="462915" y="147638"/>
                    </a:moveTo>
                    <a:lnTo>
                      <a:pt x="315278" y="147638"/>
                    </a:lnTo>
                    <a:lnTo>
                      <a:pt x="315278" y="0"/>
                    </a:lnTo>
                    <a:lnTo>
                      <a:pt x="147638" y="0"/>
                    </a:lnTo>
                    <a:lnTo>
                      <a:pt x="147638" y="147638"/>
                    </a:lnTo>
                    <a:lnTo>
                      <a:pt x="0" y="147638"/>
                    </a:lnTo>
                    <a:lnTo>
                      <a:pt x="0" y="315277"/>
                    </a:lnTo>
                    <a:lnTo>
                      <a:pt x="147638" y="315277"/>
                    </a:lnTo>
                    <a:lnTo>
                      <a:pt x="147638" y="467677"/>
                    </a:lnTo>
                    <a:lnTo>
                      <a:pt x="315278" y="467677"/>
                    </a:lnTo>
                    <a:lnTo>
                      <a:pt x="315278" y="315277"/>
                    </a:lnTo>
                    <a:lnTo>
                      <a:pt x="462915" y="315277"/>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7" name="Freeform: Shape 56">
                <a:extLst>
                  <a:ext uri="{FF2B5EF4-FFF2-40B4-BE49-F238E27FC236}">
                    <a16:creationId xmlns:a16="http://schemas.microsoft.com/office/drawing/2014/main" id="{331691F7-754C-4B33-8C7C-25472A9E4011}"/>
                  </a:ext>
                </a:extLst>
              </p:cNvPr>
              <p:cNvSpPr/>
              <p:nvPr/>
            </p:nvSpPr>
            <p:spPr>
              <a:xfrm>
                <a:off x="20385435" y="8778192"/>
                <a:ext cx="463867" cy="467677"/>
              </a:xfrm>
              <a:custGeom>
                <a:avLst/>
                <a:gdLst>
                  <a:gd name="connsiteX0" fmla="*/ 463867 w 463867"/>
                  <a:gd name="connsiteY0" fmla="*/ 147638 h 467677"/>
                  <a:gd name="connsiteX1" fmla="*/ 316230 w 463867"/>
                  <a:gd name="connsiteY1" fmla="*/ 147638 h 467677"/>
                  <a:gd name="connsiteX2" fmla="*/ 316230 w 463867"/>
                  <a:gd name="connsiteY2" fmla="*/ 0 h 467677"/>
                  <a:gd name="connsiteX3" fmla="*/ 147638 w 463867"/>
                  <a:gd name="connsiteY3" fmla="*/ 0 h 467677"/>
                  <a:gd name="connsiteX4" fmla="*/ 147638 w 463867"/>
                  <a:gd name="connsiteY4" fmla="*/ 147638 h 467677"/>
                  <a:gd name="connsiteX5" fmla="*/ 0 w 463867"/>
                  <a:gd name="connsiteY5" fmla="*/ 147638 h 467677"/>
                  <a:gd name="connsiteX6" fmla="*/ 0 w 463867"/>
                  <a:gd name="connsiteY6" fmla="*/ 315277 h 467677"/>
                  <a:gd name="connsiteX7" fmla="*/ 147638 w 463867"/>
                  <a:gd name="connsiteY7" fmla="*/ 315277 h 467677"/>
                  <a:gd name="connsiteX8" fmla="*/ 147638 w 463867"/>
                  <a:gd name="connsiteY8" fmla="*/ 467677 h 467677"/>
                  <a:gd name="connsiteX9" fmla="*/ 316230 w 463867"/>
                  <a:gd name="connsiteY9" fmla="*/ 467677 h 467677"/>
                  <a:gd name="connsiteX10" fmla="*/ 316230 w 463867"/>
                  <a:gd name="connsiteY10" fmla="*/ 315277 h 467677"/>
                  <a:gd name="connsiteX11" fmla="*/ 463867 w 463867"/>
                  <a:gd name="connsiteY11" fmla="*/ 315277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7677">
                    <a:moveTo>
                      <a:pt x="463867" y="147638"/>
                    </a:moveTo>
                    <a:lnTo>
                      <a:pt x="316230" y="147638"/>
                    </a:lnTo>
                    <a:lnTo>
                      <a:pt x="316230" y="0"/>
                    </a:lnTo>
                    <a:lnTo>
                      <a:pt x="147638" y="0"/>
                    </a:lnTo>
                    <a:lnTo>
                      <a:pt x="147638" y="147638"/>
                    </a:lnTo>
                    <a:lnTo>
                      <a:pt x="0" y="147638"/>
                    </a:lnTo>
                    <a:lnTo>
                      <a:pt x="0" y="315277"/>
                    </a:lnTo>
                    <a:lnTo>
                      <a:pt x="147638" y="315277"/>
                    </a:lnTo>
                    <a:lnTo>
                      <a:pt x="147638" y="467677"/>
                    </a:lnTo>
                    <a:lnTo>
                      <a:pt x="316230" y="467677"/>
                    </a:lnTo>
                    <a:lnTo>
                      <a:pt x="316230" y="315277"/>
                    </a:lnTo>
                    <a:lnTo>
                      <a:pt x="463867" y="315277"/>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8" name="Freeform: Shape 57">
                <a:extLst>
                  <a:ext uri="{FF2B5EF4-FFF2-40B4-BE49-F238E27FC236}">
                    <a16:creationId xmlns:a16="http://schemas.microsoft.com/office/drawing/2014/main" id="{897CD9D2-FAF6-4498-9151-8E93E96F22FC}"/>
                  </a:ext>
                </a:extLst>
              </p:cNvPr>
              <p:cNvSpPr/>
              <p:nvPr/>
            </p:nvSpPr>
            <p:spPr>
              <a:xfrm>
                <a:off x="19622482" y="8778192"/>
                <a:ext cx="462915" cy="467677"/>
              </a:xfrm>
              <a:custGeom>
                <a:avLst/>
                <a:gdLst>
                  <a:gd name="connsiteX0" fmla="*/ 462915 w 462915"/>
                  <a:gd name="connsiteY0" fmla="*/ 147638 h 467677"/>
                  <a:gd name="connsiteX1" fmla="*/ 315278 w 462915"/>
                  <a:gd name="connsiteY1" fmla="*/ 147638 h 467677"/>
                  <a:gd name="connsiteX2" fmla="*/ 315278 w 462915"/>
                  <a:gd name="connsiteY2" fmla="*/ 0 h 467677"/>
                  <a:gd name="connsiteX3" fmla="*/ 147638 w 462915"/>
                  <a:gd name="connsiteY3" fmla="*/ 0 h 467677"/>
                  <a:gd name="connsiteX4" fmla="*/ 147638 w 462915"/>
                  <a:gd name="connsiteY4" fmla="*/ 147638 h 467677"/>
                  <a:gd name="connsiteX5" fmla="*/ 0 w 462915"/>
                  <a:gd name="connsiteY5" fmla="*/ 147638 h 467677"/>
                  <a:gd name="connsiteX6" fmla="*/ 0 w 462915"/>
                  <a:gd name="connsiteY6" fmla="*/ 315277 h 467677"/>
                  <a:gd name="connsiteX7" fmla="*/ 147638 w 462915"/>
                  <a:gd name="connsiteY7" fmla="*/ 315277 h 467677"/>
                  <a:gd name="connsiteX8" fmla="*/ 147638 w 462915"/>
                  <a:gd name="connsiteY8" fmla="*/ 467677 h 467677"/>
                  <a:gd name="connsiteX9" fmla="*/ 315278 w 462915"/>
                  <a:gd name="connsiteY9" fmla="*/ 467677 h 467677"/>
                  <a:gd name="connsiteX10" fmla="*/ 315278 w 462915"/>
                  <a:gd name="connsiteY10" fmla="*/ 315277 h 467677"/>
                  <a:gd name="connsiteX11" fmla="*/ 462915 w 462915"/>
                  <a:gd name="connsiteY11" fmla="*/ 315277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7677">
                    <a:moveTo>
                      <a:pt x="462915" y="147638"/>
                    </a:moveTo>
                    <a:lnTo>
                      <a:pt x="315278" y="147638"/>
                    </a:lnTo>
                    <a:lnTo>
                      <a:pt x="315278" y="0"/>
                    </a:lnTo>
                    <a:lnTo>
                      <a:pt x="147638" y="0"/>
                    </a:lnTo>
                    <a:lnTo>
                      <a:pt x="147638" y="147638"/>
                    </a:lnTo>
                    <a:lnTo>
                      <a:pt x="0" y="147638"/>
                    </a:lnTo>
                    <a:lnTo>
                      <a:pt x="0" y="315277"/>
                    </a:lnTo>
                    <a:lnTo>
                      <a:pt x="147638" y="315277"/>
                    </a:lnTo>
                    <a:lnTo>
                      <a:pt x="147638" y="467677"/>
                    </a:lnTo>
                    <a:lnTo>
                      <a:pt x="315278" y="467677"/>
                    </a:lnTo>
                    <a:lnTo>
                      <a:pt x="315278" y="315277"/>
                    </a:lnTo>
                    <a:lnTo>
                      <a:pt x="462915" y="315277"/>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9" name="Freeform: Shape 58">
                <a:extLst>
                  <a:ext uri="{FF2B5EF4-FFF2-40B4-BE49-F238E27FC236}">
                    <a16:creationId xmlns:a16="http://schemas.microsoft.com/office/drawing/2014/main" id="{9B0E15B9-10E5-42BC-A0FB-CA1AFE45E197}"/>
                  </a:ext>
                </a:extLst>
              </p:cNvPr>
              <p:cNvSpPr/>
              <p:nvPr/>
            </p:nvSpPr>
            <p:spPr>
              <a:xfrm>
                <a:off x="18858578" y="8778192"/>
                <a:ext cx="462914" cy="467677"/>
              </a:xfrm>
              <a:custGeom>
                <a:avLst/>
                <a:gdLst>
                  <a:gd name="connsiteX0" fmla="*/ 462915 w 462914"/>
                  <a:gd name="connsiteY0" fmla="*/ 147638 h 467677"/>
                  <a:gd name="connsiteX1" fmla="*/ 315278 w 462914"/>
                  <a:gd name="connsiteY1" fmla="*/ 147638 h 467677"/>
                  <a:gd name="connsiteX2" fmla="*/ 315278 w 462914"/>
                  <a:gd name="connsiteY2" fmla="*/ 0 h 467677"/>
                  <a:gd name="connsiteX3" fmla="*/ 147638 w 462914"/>
                  <a:gd name="connsiteY3" fmla="*/ 0 h 467677"/>
                  <a:gd name="connsiteX4" fmla="*/ 147638 w 462914"/>
                  <a:gd name="connsiteY4" fmla="*/ 147638 h 467677"/>
                  <a:gd name="connsiteX5" fmla="*/ 0 w 462914"/>
                  <a:gd name="connsiteY5" fmla="*/ 147638 h 467677"/>
                  <a:gd name="connsiteX6" fmla="*/ 0 w 462914"/>
                  <a:gd name="connsiteY6" fmla="*/ 315277 h 467677"/>
                  <a:gd name="connsiteX7" fmla="*/ 147638 w 462914"/>
                  <a:gd name="connsiteY7" fmla="*/ 315277 h 467677"/>
                  <a:gd name="connsiteX8" fmla="*/ 147638 w 462914"/>
                  <a:gd name="connsiteY8" fmla="*/ 467677 h 467677"/>
                  <a:gd name="connsiteX9" fmla="*/ 315278 w 462914"/>
                  <a:gd name="connsiteY9" fmla="*/ 467677 h 467677"/>
                  <a:gd name="connsiteX10" fmla="*/ 315278 w 462914"/>
                  <a:gd name="connsiteY10" fmla="*/ 315277 h 467677"/>
                  <a:gd name="connsiteX11" fmla="*/ 462915 w 462914"/>
                  <a:gd name="connsiteY11" fmla="*/ 315277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7677">
                    <a:moveTo>
                      <a:pt x="462915" y="147638"/>
                    </a:moveTo>
                    <a:lnTo>
                      <a:pt x="315278" y="147638"/>
                    </a:lnTo>
                    <a:lnTo>
                      <a:pt x="315278" y="0"/>
                    </a:lnTo>
                    <a:lnTo>
                      <a:pt x="147638" y="0"/>
                    </a:lnTo>
                    <a:lnTo>
                      <a:pt x="147638" y="147638"/>
                    </a:lnTo>
                    <a:lnTo>
                      <a:pt x="0" y="147638"/>
                    </a:lnTo>
                    <a:lnTo>
                      <a:pt x="0" y="315277"/>
                    </a:lnTo>
                    <a:lnTo>
                      <a:pt x="147638" y="315277"/>
                    </a:lnTo>
                    <a:lnTo>
                      <a:pt x="147638" y="467677"/>
                    </a:lnTo>
                    <a:lnTo>
                      <a:pt x="315278" y="467677"/>
                    </a:lnTo>
                    <a:lnTo>
                      <a:pt x="315278" y="315277"/>
                    </a:lnTo>
                    <a:lnTo>
                      <a:pt x="462915" y="315277"/>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grpSp>
        <p:grpSp>
          <p:nvGrpSpPr>
            <p:cNvPr id="26" name="Graphic 17">
              <a:extLst>
                <a:ext uri="{FF2B5EF4-FFF2-40B4-BE49-F238E27FC236}">
                  <a16:creationId xmlns:a16="http://schemas.microsoft.com/office/drawing/2014/main" id="{E86F5AD8-46C2-4C49-8C5A-A616E09070D6}"/>
                </a:ext>
              </a:extLst>
            </p:cNvPr>
            <p:cNvGrpSpPr/>
            <p:nvPr/>
          </p:nvGrpSpPr>
          <p:grpSpPr>
            <a:xfrm>
              <a:off x="18858578" y="8014287"/>
              <a:ext cx="4281487" cy="468630"/>
              <a:chOff x="18858578" y="8014287"/>
              <a:chExt cx="4281487" cy="468630"/>
            </a:xfrm>
            <a:grpFill/>
          </p:grpSpPr>
          <p:sp>
            <p:nvSpPr>
              <p:cNvPr id="48" name="Freeform: Shape 47">
                <a:extLst>
                  <a:ext uri="{FF2B5EF4-FFF2-40B4-BE49-F238E27FC236}">
                    <a16:creationId xmlns:a16="http://schemas.microsoft.com/office/drawing/2014/main" id="{2F3C3344-AFB7-47B4-8B74-4C11DBFB72CE}"/>
                  </a:ext>
                </a:extLst>
              </p:cNvPr>
              <p:cNvSpPr/>
              <p:nvPr/>
            </p:nvSpPr>
            <p:spPr>
              <a:xfrm>
                <a:off x="22676197" y="8014287"/>
                <a:ext cx="463867" cy="468630"/>
              </a:xfrm>
              <a:custGeom>
                <a:avLst/>
                <a:gdLst>
                  <a:gd name="connsiteX0" fmla="*/ 463868 w 463867"/>
                  <a:gd name="connsiteY0" fmla="*/ 147638 h 468630"/>
                  <a:gd name="connsiteX1" fmla="*/ 316230 w 463867"/>
                  <a:gd name="connsiteY1" fmla="*/ 147638 h 468630"/>
                  <a:gd name="connsiteX2" fmla="*/ 316230 w 463867"/>
                  <a:gd name="connsiteY2" fmla="*/ 0 h 468630"/>
                  <a:gd name="connsiteX3" fmla="*/ 147638 w 463867"/>
                  <a:gd name="connsiteY3" fmla="*/ 0 h 468630"/>
                  <a:gd name="connsiteX4" fmla="*/ 147638 w 463867"/>
                  <a:gd name="connsiteY4" fmla="*/ 147638 h 468630"/>
                  <a:gd name="connsiteX5" fmla="*/ 0 w 463867"/>
                  <a:gd name="connsiteY5" fmla="*/ 147638 h 468630"/>
                  <a:gd name="connsiteX6" fmla="*/ 0 w 463867"/>
                  <a:gd name="connsiteY6" fmla="*/ 315278 h 468630"/>
                  <a:gd name="connsiteX7" fmla="*/ 147638 w 463867"/>
                  <a:gd name="connsiteY7" fmla="*/ 315278 h 468630"/>
                  <a:gd name="connsiteX8" fmla="*/ 147638 w 463867"/>
                  <a:gd name="connsiteY8" fmla="*/ 468630 h 468630"/>
                  <a:gd name="connsiteX9" fmla="*/ 316230 w 463867"/>
                  <a:gd name="connsiteY9" fmla="*/ 468630 h 468630"/>
                  <a:gd name="connsiteX10" fmla="*/ 316230 w 463867"/>
                  <a:gd name="connsiteY10" fmla="*/ 315278 h 468630"/>
                  <a:gd name="connsiteX11" fmla="*/ 463868 w 463867"/>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30">
                    <a:moveTo>
                      <a:pt x="463868" y="147638"/>
                    </a:moveTo>
                    <a:lnTo>
                      <a:pt x="316230" y="147638"/>
                    </a:lnTo>
                    <a:lnTo>
                      <a:pt x="316230" y="0"/>
                    </a:lnTo>
                    <a:lnTo>
                      <a:pt x="147638" y="0"/>
                    </a:lnTo>
                    <a:lnTo>
                      <a:pt x="147638" y="147638"/>
                    </a:lnTo>
                    <a:lnTo>
                      <a:pt x="0" y="147638"/>
                    </a:lnTo>
                    <a:lnTo>
                      <a:pt x="0" y="315278"/>
                    </a:lnTo>
                    <a:lnTo>
                      <a:pt x="147638" y="315278"/>
                    </a:lnTo>
                    <a:lnTo>
                      <a:pt x="147638" y="468630"/>
                    </a:lnTo>
                    <a:lnTo>
                      <a:pt x="316230" y="468630"/>
                    </a:lnTo>
                    <a:lnTo>
                      <a:pt x="316230" y="315278"/>
                    </a:lnTo>
                    <a:lnTo>
                      <a:pt x="463868"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9" name="Freeform: Shape 48">
                <a:extLst>
                  <a:ext uri="{FF2B5EF4-FFF2-40B4-BE49-F238E27FC236}">
                    <a16:creationId xmlns:a16="http://schemas.microsoft.com/office/drawing/2014/main" id="{F05E085A-86A9-4F15-8BAE-6F49B391D079}"/>
                  </a:ext>
                </a:extLst>
              </p:cNvPr>
              <p:cNvSpPr/>
              <p:nvPr/>
            </p:nvSpPr>
            <p:spPr>
              <a:xfrm>
                <a:off x="21913245" y="8014287"/>
                <a:ext cx="462914" cy="468630"/>
              </a:xfrm>
              <a:custGeom>
                <a:avLst/>
                <a:gdLst>
                  <a:gd name="connsiteX0" fmla="*/ 462915 w 462914"/>
                  <a:gd name="connsiteY0" fmla="*/ 147638 h 468630"/>
                  <a:gd name="connsiteX1" fmla="*/ 315277 w 462914"/>
                  <a:gd name="connsiteY1" fmla="*/ 147638 h 468630"/>
                  <a:gd name="connsiteX2" fmla="*/ 315277 w 462914"/>
                  <a:gd name="connsiteY2" fmla="*/ 0 h 468630"/>
                  <a:gd name="connsiteX3" fmla="*/ 147638 w 462914"/>
                  <a:gd name="connsiteY3" fmla="*/ 0 h 468630"/>
                  <a:gd name="connsiteX4" fmla="*/ 147638 w 462914"/>
                  <a:gd name="connsiteY4" fmla="*/ 147638 h 468630"/>
                  <a:gd name="connsiteX5" fmla="*/ 0 w 462914"/>
                  <a:gd name="connsiteY5" fmla="*/ 147638 h 468630"/>
                  <a:gd name="connsiteX6" fmla="*/ 0 w 462914"/>
                  <a:gd name="connsiteY6" fmla="*/ 315278 h 468630"/>
                  <a:gd name="connsiteX7" fmla="*/ 147638 w 462914"/>
                  <a:gd name="connsiteY7" fmla="*/ 315278 h 468630"/>
                  <a:gd name="connsiteX8" fmla="*/ 147638 w 462914"/>
                  <a:gd name="connsiteY8" fmla="*/ 468630 h 468630"/>
                  <a:gd name="connsiteX9" fmla="*/ 315277 w 462914"/>
                  <a:gd name="connsiteY9" fmla="*/ 468630 h 468630"/>
                  <a:gd name="connsiteX10" fmla="*/ 315277 w 462914"/>
                  <a:gd name="connsiteY10" fmla="*/ 315278 h 468630"/>
                  <a:gd name="connsiteX11" fmla="*/ 462915 w 462914"/>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30">
                    <a:moveTo>
                      <a:pt x="462915" y="147638"/>
                    </a:moveTo>
                    <a:lnTo>
                      <a:pt x="315277" y="147638"/>
                    </a:lnTo>
                    <a:lnTo>
                      <a:pt x="315277" y="0"/>
                    </a:lnTo>
                    <a:lnTo>
                      <a:pt x="147638" y="0"/>
                    </a:lnTo>
                    <a:lnTo>
                      <a:pt x="147638" y="147638"/>
                    </a:lnTo>
                    <a:lnTo>
                      <a:pt x="0" y="147638"/>
                    </a:lnTo>
                    <a:lnTo>
                      <a:pt x="0" y="315278"/>
                    </a:lnTo>
                    <a:lnTo>
                      <a:pt x="147638" y="315278"/>
                    </a:lnTo>
                    <a:lnTo>
                      <a:pt x="147638" y="468630"/>
                    </a:lnTo>
                    <a:lnTo>
                      <a:pt x="315277" y="468630"/>
                    </a:lnTo>
                    <a:lnTo>
                      <a:pt x="315277"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0" name="Freeform: Shape 49">
                <a:extLst>
                  <a:ext uri="{FF2B5EF4-FFF2-40B4-BE49-F238E27FC236}">
                    <a16:creationId xmlns:a16="http://schemas.microsoft.com/office/drawing/2014/main" id="{4EAC7E08-EF72-464D-AE65-2927877E4FC9}"/>
                  </a:ext>
                </a:extLst>
              </p:cNvPr>
              <p:cNvSpPr/>
              <p:nvPr/>
            </p:nvSpPr>
            <p:spPr>
              <a:xfrm>
                <a:off x="21149340" y="8014287"/>
                <a:ext cx="462915" cy="468630"/>
              </a:xfrm>
              <a:custGeom>
                <a:avLst/>
                <a:gdLst>
                  <a:gd name="connsiteX0" fmla="*/ 462915 w 462915"/>
                  <a:gd name="connsiteY0" fmla="*/ 147638 h 468630"/>
                  <a:gd name="connsiteX1" fmla="*/ 315278 w 462915"/>
                  <a:gd name="connsiteY1" fmla="*/ 147638 h 468630"/>
                  <a:gd name="connsiteX2" fmla="*/ 315278 w 462915"/>
                  <a:gd name="connsiteY2" fmla="*/ 0 h 468630"/>
                  <a:gd name="connsiteX3" fmla="*/ 147638 w 462915"/>
                  <a:gd name="connsiteY3" fmla="*/ 0 h 468630"/>
                  <a:gd name="connsiteX4" fmla="*/ 147638 w 462915"/>
                  <a:gd name="connsiteY4" fmla="*/ 147638 h 468630"/>
                  <a:gd name="connsiteX5" fmla="*/ 0 w 462915"/>
                  <a:gd name="connsiteY5" fmla="*/ 147638 h 468630"/>
                  <a:gd name="connsiteX6" fmla="*/ 0 w 462915"/>
                  <a:gd name="connsiteY6" fmla="*/ 315278 h 468630"/>
                  <a:gd name="connsiteX7" fmla="*/ 147638 w 462915"/>
                  <a:gd name="connsiteY7" fmla="*/ 315278 h 468630"/>
                  <a:gd name="connsiteX8" fmla="*/ 147638 w 462915"/>
                  <a:gd name="connsiteY8" fmla="*/ 468630 h 468630"/>
                  <a:gd name="connsiteX9" fmla="*/ 315278 w 462915"/>
                  <a:gd name="connsiteY9" fmla="*/ 468630 h 468630"/>
                  <a:gd name="connsiteX10" fmla="*/ 315278 w 462915"/>
                  <a:gd name="connsiteY10" fmla="*/ 315278 h 468630"/>
                  <a:gd name="connsiteX11" fmla="*/ 462915 w 462915"/>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30">
                    <a:moveTo>
                      <a:pt x="462915" y="147638"/>
                    </a:moveTo>
                    <a:lnTo>
                      <a:pt x="315278" y="147638"/>
                    </a:lnTo>
                    <a:lnTo>
                      <a:pt x="315278" y="0"/>
                    </a:lnTo>
                    <a:lnTo>
                      <a:pt x="147638" y="0"/>
                    </a:lnTo>
                    <a:lnTo>
                      <a:pt x="147638" y="147638"/>
                    </a:lnTo>
                    <a:lnTo>
                      <a:pt x="0" y="147638"/>
                    </a:lnTo>
                    <a:lnTo>
                      <a:pt x="0" y="315278"/>
                    </a:lnTo>
                    <a:lnTo>
                      <a:pt x="147638" y="315278"/>
                    </a:lnTo>
                    <a:lnTo>
                      <a:pt x="147638" y="468630"/>
                    </a:lnTo>
                    <a:lnTo>
                      <a:pt x="315278" y="468630"/>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1" name="Freeform: Shape 50">
                <a:extLst>
                  <a:ext uri="{FF2B5EF4-FFF2-40B4-BE49-F238E27FC236}">
                    <a16:creationId xmlns:a16="http://schemas.microsoft.com/office/drawing/2014/main" id="{0D38A3E0-03D4-4A51-8BB5-916C1042DAFC}"/>
                  </a:ext>
                </a:extLst>
              </p:cNvPr>
              <p:cNvSpPr/>
              <p:nvPr/>
            </p:nvSpPr>
            <p:spPr>
              <a:xfrm>
                <a:off x="20385435" y="8014287"/>
                <a:ext cx="463867" cy="468630"/>
              </a:xfrm>
              <a:custGeom>
                <a:avLst/>
                <a:gdLst>
                  <a:gd name="connsiteX0" fmla="*/ 463867 w 463867"/>
                  <a:gd name="connsiteY0" fmla="*/ 147638 h 468630"/>
                  <a:gd name="connsiteX1" fmla="*/ 316230 w 463867"/>
                  <a:gd name="connsiteY1" fmla="*/ 147638 h 468630"/>
                  <a:gd name="connsiteX2" fmla="*/ 316230 w 463867"/>
                  <a:gd name="connsiteY2" fmla="*/ 0 h 468630"/>
                  <a:gd name="connsiteX3" fmla="*/ 147638 w 463867"/>
                  <a:gd name="connsiteY3" fmla="*/ 0 h 468630"/>
                  <a:gd name="connsiteX4" fmla="*/ 147638 w 463867"/>
                  <a:gd name="connsiteY4" fmla="*/ 147638 h 468630"/>
                  <a:gd name="connsiteX5" fmla="*/ 0 w 463867"/>
                  <a:gd name="connsiteY5" fmla="*/ 147638 h 468630"/>
                  <a:gd name="connsiteX6" fmla="*/ 0 w 463867"/>
                  <a:gd name="connsiteY6" fmla="*/ 315278 h 468630"/>
                  <a:gd name="connsiteX7" fmla="*/ 147638 w 463867"/>
                  <a:gd name="connsiteY7" fmla="*/ 315278 h 468630"/>
                  <a:gd name="connsiteX8" fmla="*/ 147638 w 463867"/>
                  <a:gd name="connsiteY8" fmla="*/ 468630 h 468630"/>
                  <a:gd name="connsiteX9" fmla="*/ 316230 w 463867"/>
                  <a:gd name="connsiteY9" fmla="*/ 468630 h 468630"/>
                  <a:gd name="connsiteX10" fmla="*/ 316230 w 463867"/>
                  <a:gd name="connsiteY10" fmla="*/ 315278 h 468630"/>
                  <a:gd name="connsiteX11" fmla="*/ 463867 w 463867"/>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30">
                    <a:moveTo>
                      <a:pt x="463867" y="147638"/>
                    </a:moveTo>
                    <a:lnTo>
                      <a:pt x="316230" y="147638"/>
                    </a:lnTo>
                    <a:lnTo>
                      <a:pt x="316230" y="0"/>
                    </a:lnTo>
                    <a:lnTo>
                      <a:pt x="147638" y="0"/>
                    </a:lnTo>
                    <a:lnTo>
                      <a:pt x="147638" y="147638"/>
                    </a:lnTo>
                    <a:lnTo>
                      <a:pt x="0" y="147638"/>
                    </a:lnTo>
                    <a:lnTo>
                      <a:pt x="0" y="315278"/>
                    </a:lnTo>
                    <a:lnTo>
                      <a:pt x="147638" y="315278"/>
                    </a:lnTo>
                    <a:lnTo>
                      <a:pt x="147638" y="468630"/>
                    </a:lnTo>
                    <a:lnTo>
                      <a:pt x="316230" y="468630"/>
                    </a:lnTo>
                    <a:lnTo>
                      <a:pt x="316230" y="315278"/>
                    </a:lnTo>
                    <a:lnTo>
                      <a:pt x="463867"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2" name="Freeform: Shape 51">
                <a:extLst>
                  <a:ext uri="{FF2B5EF4-FFF2-40B4-BE49-F238E27FC236}">
                    <a16:creationId xmlns:a16="http://schemas.microsoft.com/office/drawing/2014/main" id="{04F1AC1C-600D-4173-B0FE-4DED29E80326}"/>
                  </a:ext>
                </a:extLst>
              </p:cNvPr>
              <p:cNvSpPr/>
              <p:nvPr/>
            </p:nvSpPr>
            <p:spPr>
              <a:xfrm>
                <a:off x="19622482" y="8014287"/>
                <a:ext cx="462915" cy="468630"/>
              </a:xfrm>
              <a:custGeom>
                <a:avLst/>
                <a:gdLst>
                  <a:gd name="connsiteX0" fmla="*/ 462915 w 462915"/>
                  <a:gd name="connsiteY0" fmla="*/ 147638 h 468630"/>
                  <a:gd name="connsiteX1" fmla="*/ 315278 w 462915"/>
                  <a:gd name="connsiteY1" fmla="*/ 147638 h 468630"/>
                  <a:gd name="connsiteX2" fmla="*/ 315278 w 462915"/>
                  <a:gd name="connsiteY2" fmla="*/ 0 h 468630"/>
                  <a:gd name="connsiteX3" fmla="*/ 147638 w 462915"/>
                  <a:gd name="connsiteY3" fmla="*/ 0 h 468630"/>
                  <a:gd name="connsiteX4" fmla="*/ 147638 w 462915"/>
                  <a:gd name="connsiteY4" fmla="*/ 147638 h 468630"/>
                  <a:gd name="connsiteX5" fmla="*/ 0 w 462915"/>
                  <a:gd name="connsiteY5" fmla="*/ 147638 h 468630"/>
                  <a:gd name="connsiteX6" fmla="*/ 0 w 462915"/>
                  <a:gd name="connsiteY6" fmla="*/ 315278 h 468630"/>
                  <a:gd name="connsiteX7" fmla="*/ 147638 w 462915"/>
                  <a:gd name="connsiteY7" fmla="*/ 315278 h 468630"/>
                  <a:gd name="connsiteX8" fmla="*/ 147638 w 462915"/>
                  <a:gd name="connsiteY8" fmla="*/ 468630 h 468630"/>
                  <a:gd name="connsiteX9" fmla="*/ 315278 w 462915"/>
                  <a:gd name="connsiteY9" fmla="*/ 468630 h 468630"/>
                  <a:gd name="connsiteX10" fmla="*/ 315278 w 462915"/>
                  <a:gd name="connsiteY10" fmla="*/ 315278 h 468630"/>
                  <a:gd name="connsiteX11" fmla="*/ 462915 w 462915"/>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30">
                    <a:moveTo>
                      <a:pt x="462915" y="147638"/>
                    </a:moveTo>
                    <a:lnTo>
                      <a:pt x="315278" y="147638"/>
                    </a:lnTo>
                    <a:lnTo>
                      <a:pt x="315278" y="0"/>
                    </a:lnTo>
                    <a:lnTo>
                      <a:pt x="147638" y="0"/>
                    </a:lnTo>
                    <a:lnTo>
                      <a:pt x="147638" y="147638"/>
                    </a:lnTo>
                    <a:lnTo>
                      <a:pt x="0" y="147638"/>
                    </a:lnTo>
                    <a:lnTo>
                      <a:pt x="0" y="315278"/>
                    </a:lnTo>
                    <a:lnTo>
                      <a:pt x="147638" y="315278"/>
                    </a:lnTo>
                    <a:lnTo>
                      <a:pt x="147638" y="468630"/>
                    </a:lnTo>
                    <a:lnTo>
                      <a:pt x="315278" y="468630"/>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53" name="Freeform: Shape 52">
                <a:extLst>
                  <a:ext uri="{FF2B5EF4-FFF2-40B4-BE49-F238E27FC236}">
                    <a16:creationId xmlns:a16="http://schemas.microsoft.com/office/drawing/2014/main" id="{9565031C-DC4E-49F7-8FE5-47D7CA3E5FA6}"/>
                  </a:ext>
                </a:extLst>
              </p:cNvPr>
              <p:cNvSpPr/>
              <p:nvPr/>
            </p:nvSpPr>
            <p:spPr>
              <a:xfrm>
                <a:off x="18858578" y="8014287"/>
                <a:ext cx="462914" cy="468630"/>
              </a:xfrm>
              <a:custGeom>
                <a:avLst/>
                <a:gdLst>
                  <a:gd name="connsiteX0" fmla="*/ 462915 w 462914"/>
                  <a:gd name="connsiteY0" fmla="*/ 147638 h 468630"/>
                  <a:gd name="connsiteX1" fmla="*/ 315278 w 462914"/>
                  <a:gd name="connsiteY1" fmla="*/ 147638 h 468630"/>
                  <a:gd name="connsiteX2" fmla="*/ 315278 w 462914"/>
                  <a:gd name="connsiteY2" fmla="*/ 0 h 468630"/>
                  <a:gd name="connsiteX3" fmla="*/ 147638 w 462914"/>
                  <a:gd name="connsiteY3" fmla="*/ 0 h 468630"/>
                  <a:gd name="connsiteX4" fmla="*/ 147638 w 462914"/>
                  <a:gd name="connsiteY4" fmla="*/ 147638 h 468630"/>
                  <a:gd name="connsiteX5" fmla="*/ 0 w 462914"/>
                  <a:gd name="connsiteY5" fmla="*/ 147638 h 468630"/>
                  <a:gd name="connsiteX6" fmla="*/ 0 w 462914"/>
                  <a:gd name="connsiteY6" fmla="*/ 315278 h 468630"/>
                  <a:gd name="connsiteX7" fmla="*/ 147638 w 462914"/>
                  <a:gd name="connsiteY7" fmla="*/ 315278 h 468630"/>
                  <a:gd name="connsiteX8" fmla="*/ 147638 w 462914"/>
                  <a:gd name="connsiteY8" fmla="*/ 468630 h 468630"/>
                  <a:gd name="connsiteX9" fmla="*/ 315278 w 462914"/>
                  <a:gd name="connsiteY9" fmla="*/ 468630 h 468630"/>
                  <a:gd name="connsiteX10" fmla="*/ 315278 w 462914"/>
                  <a:gd name="connsiteY10" fmla="*/ 315278 h 468630"/>
                  <a:gd name="connsiteX11" fmla="*/ 462915 w 462914"/>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30">
                    <a:moveTo>
                      <a:pt x="462915" y="147638"/>
                    </a:moveTo>
                    <a:lnTo>
                      <a:pt x="315278" y="147638"/>
                    </a:lnTo>
                    <a:lnTo>
                      <a:pt x="315278" y="0"/>
                    </a:lnTo>
                    <a:lnTo>
                      <a:pt x="147638" y="0"/>
                    </a:lnTo>
                    <a:lnTo>
                      <a:pt x="147638" y="147638"/>
                    </a:lnTo>
                    <a:lnTo>
                      <a:pt x="0" y="147638"/>
                    </a:lnTo>
                    <a:lnTo>
                      <a:pt x="0" y="315278"/>
                    </a:lnTo>
                    <a:lnTo>
                      <a:pt x="147638" y="315278"/>
                    </a:lnTo>
                    <a:lnTo>
                      <a:pt x="147638" y="468630"/>
                    </a:lnTo>
                    <a:lnTo>
                      <a:pt x="315278" y="468630"/>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grpSp>
        <p:grpSp>
          <p:nvGrpSpPr>
            <p:cNvPr id="27" name="Graphic 17">
              <a:extLst>
                <a:ext uri="{FF2B5EF4-FFF2-40B4-BE49-F238E27FC236}">
                  <a16:creationId xmlns:a16="http://schemas.microsoft.com/office/drawing/2014/main" id="{F9EC02BA-286F-424E-AF89-B582C44C24B1}"/>
                </a:ext>
              </a:extLst>
            </p:cNvPr>
            <p:cNvGrpSpPr/>
            <p:nvPr/>
          </p:nvGrpSpPr>
          <p:grpSpPr>
            <a:xfrm>
              <a:off x="18858578" y="7250382"/>
              <a:ext cx="4281487" cy="468629"/>
              <a:chOff x="18858578" y="7250382"/>
              <a:chExt cx="4281487" cy="468629"/>
            </a:xfrm>
            <a:grpFill/>
          </p:grpSpPr>
          <p:sp>
            <p:nvSpPr>
              <p:cNvPr id="42" name="Freeform: Shape 41">
                <a:extLst>
                  <a:ext uri="{FF2B5EF4-FFF2-40B4-BE49-F238E27FC236}">
                    <a16:creationId xmlns:a16="http://schemas.microsoft.com/office/drawing/2014/main" id="{BADEACEA-495F-42F6-95C9-56D2C0794FF9}"/>
                  </a:ext>
                </a:extLst>
              </p:cNvPr>
              <p:cNvSpPr/>
              <p:nvPr/>
            </p:nvSpPr>
            <p:spPr>
              <a:xfrm>
                <a:off x="22676197" y="7250382"/>
                <a:ext cx="463867" cy="468629"/>
              </a:xfrm>
              <a:custGeom>
                <a:avLst/>
                <a:gdLst>
                  <a:gd name="connsiteX0" fmla="*/ 463868 w 463867"/>
                  <a:gd name="connsiteY0" fmla="*/ 147638 h 468629"/>
                  <a:gd name="connsiteX1" fmla="*/ 316230 w 463867"/>
                  <a:gd name="connsiteY1" fmla="*/ 147638 h 468629"/>
                  <a:gd name="connsiteX2" fmla="*/ 316230 w 463867"/>
                  <a:gd name="connsiteY2" fmla="*/ 0 h 468629"/>
                  <a:gd name="connsiteX3" fmla="*/ 147638 w 463867"/>
                  <a:gd name="connsiteY3" fmla="*/ 0 h 468629"/>
                  <a:gd name="connsiteX4" fmla="*/ 147638 w 463867"/>
                  <a:gd name="connsiteY4" fmla="*/ 147638 h 468629"/>
                  <a:gd name="connsiteX5" fmla="*/ 0 w 463867"/>
                  <a:gd name="connsiteY5" fmla="*/ 147638 h 468629"/>
                  <a:gd name="connsiteX6" fmla="*/ 0 w 463867"/>
                  <a:gd name="connsiteY6" fmla="*/ 316230 h 468629"/>
                  <a:gd name="connsiteX7" fmla="*/ 147638 w 463867"/>
                  <a:gd name="connsiteY7" fmla="*/ 316230 h 468629"/>
                  <a:gd name="connsiteX8" fmla="*/ 147638 w 463867"/>
                  <a:gd name="connsiteY8" fmla="*/ 468630 h 468629"/>
                  <a:gd name="connsiteX9" fmla="*/ 316230 w 463867"/>
                  <a:gd name="connsiteY9" fmla="*/ 468630 h 468629"/>
                  <a:gd name="connsiteX10" fmla="*/ 316230 w 463867"/>
                  <a:gd name="connsiteY10" fmla="*/ 316230 h 468629"/>
                  <a:gd name="connsiteX11" fmla="*/ 463868 w 463867"/>
                  <a:gd name="connsiteY11" fmla="*/ 316230 h 46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29">
                    <a:moveTo>
                      <a:pt x="463868" y="147638"/>
                    </a:moveTo>
                    <a:lnTo>
                      <a:pt x="316230" y="147638"/>
                    </a:lnTo>
                    <a:lnTo>
                      <a:pt x="316230" y="0"/>
                    </a:lnTo>
                    <a:lnTo>
                      <a:pt x="147638" y="0"/>
                    </a:lnTo>
                    <a:lnTo>
                      <a:pt x="147638" y="147638"/>
                    </a:lnTo>
                    <a:lnTo>
                      <a:pt x="0" y="147638"/>
                    </a:lnTo>
                    <a:lnTo>
                      <a:pt x="0" y="316230"/>
                    </a:lnTo>
                    <a:lnTo>
                      <a:pt x="147638" y="316230"/>
                    </a:lnTo>
                    <a:lnTo>
                      <a:pt x="147638" y="468630"/>
                    </a:lnTo>
                    <a:lnTo>
                      <a:pt x="316230" y="468630"/>
                    </a:lnTo>
                    <a:lnTo>
                      <a:pt x="316230" y="316230"/>
                    </a:lnTo>
                    <a:lnTo>
                      <a:pt x="463868"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3" name="Freeform: Shape 42">
                <a:extLst>
                  <a:ext uri="{FF2B5EF4-FFF2-40B4-BE49-F238E27FC236}">
                    <a16:creationId xmlns:a16="http://schemas.microsoft.com/office/drawing/2014/main" id="{2A79699C-6B9B-4ED4-B23B-6215CF6BF92E}"/>
                  </a:ext>
                </a:extLst>
              </p:cNvPr>
              <p:cNvSpPr/>
              <p:nvPr/>
            </p:nvSpPr>
            <p:spPr>
              <a:xfrm>
                <a:off x="21913245" y="7250382"/>
                <a:ext cx="462914" cy="468629"/>
              </a:xfrm>
              <a:custGeom>
                <a:avLst/>
                <a:gdLst>
                  <a:gd name="connsiteX0" fmla="*/ 462915 w 462914"/>
                  <a:gd name="connsiteY0" fmla="*/ 147638 h 468629"/>
                  <a:gd name="connsiteX1" fmla="*/ 315277 w 462914"/>
                  <a:gd name="connsiteY1" fmla="*/ 147638 h 468629"/>
                  <a:gd name="connsiteX2" fmla="*/ 315277 w 462914"/>
                  <a:gd name="connsiteY2" fmla="*/ 0 h 468629"/>
                  <a:gd name="connsiteX3" fmla="*/ 147638 w 462914"/>
                  <a:gd name="connsiteY3" fmla="*/ 0 h 468629"/>
                  <a:gd name="connsiteX4" fmla="*/ 147638 w 462914"/>
                  <a:gd name="connsiteY4" fmla="*/ 147638 h 468629"/>
                  <a:gd name="connsiteX5" fmla="*/ 0 w 462914"/>
                  <a:gd name="connsiteY5" fmla="*/ 147638 h 468629"/>
                  <a:gd name="connsiteX6" fmla="*/ 0 w 462914"/>
                  <a:gd name="connsiteY6" fmla="*/ 316230 h 468629"/>
                  <a:gd name="connsiteX7" fmla="*/ 147638 w 462914"/>
                  <a:gd name="connsiteY7" fmla="*/ 316230 h 468629"/>
                  <a:gd name="connsiteX8" fmla="*/ 147638 w 462914"/>
                  <a:gd name="connsiteY8" fmla="*/ 468630 h 468629"/>
                  <a:gd name="connsiteX9" fmla="*/ 315277 w 462914"/>
                  <a:gd name="connsiteY9" fmla="*/ 468630 h 468629"/>
                  <a:gd name="connsiteX10" fmla="*/ 315277 w 462914"/>
                  <a:gd name="connsiteY10" fmla="*/ 316230 h 468629"/>
                  <a:gd name="connsiteX11" fmla="*/ 462915 w 462914"/>
                  <a:gd name="connsiteY11" fmla="*/ 316230 h 46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29">
                    <a:moveTo>
                      <a:pt x="462915" y="147638"/>
                    </a:moveTo>
                    <a:lnTo>
                      <a:pt x="315277" y="147638"/>
                    </a:lnTo>
                    <a:lnTo>
                      <a:pt x="315277" y="0"/>
                    </a:lnTo>
                    <a:lnTo>
                      <a:pt x="147638" y="0"/>
                    </a:lnTo>
                    <a:lnTo>
                      <a:pt x="147638" y="147638"/>
                    </a:lnTo>
                    <a:lnTo>
                      <a:pt x="0" y="147638"/>
                    </a:lnTo>
                    <a:lnTo>
                      <a:pt x="0" y="316230"/>
                    </a:lnTo>
                    <a:lnTo>
                      <a:pt x="147638" y="316230"/>
                    </a:lnTo>
                    <a:lnTo>
                      <a:pt x="147638" y="468630"/>
                    </a:lnTo>
                    <a:lnTo>
                      <a:pt x="315277" y="468630"/>
                    </a:lnTo>
                    <a:lnTo>
                      <a:pt x="315277"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4" name="Freeform: Shape 43">
                <a:extLst>
                  <a:ext uri="{FF2B5EF4-FFF2-40B4-BE49-F238E27FC236}">
                    <a16:creationId xmlns:a16="http://schemas.microsoft.com/office/drawing/2014/main" id="{EEC6EAD9-85EB-42C5-9C1A-A8089611D4AF}"/>
                  </a:ext>
                </a:extLst>
              </p:cNvPr>
              <p:cNvSpPr/>
              <p:nvPr/>
            </p:nvSpPr>
            <p:spPr>
              <a:xfrm>
                <a:off x="21149340" y="7250382"/>
                <a:ext cx="462915" cy="468629"/>
              </a:xfrm>
              <a:custGeom>
                <a:avLst/>
                <a:gdLst>
                  <a:gd name="connsiteX0" fmla="*/ 462915 w 462915"/>
                  <a:gd name="connsiteY0" fmla="*/ 147638 h 468629"/>
                  <a:gd name="connsiteX1" fmla="*/ 315278 w 462915"/>
                  <a:gd name="connsiteY1" fmla="*/ 147638 h 468629"/>
                  <a:gd name="connsiteX2" fmla="*/ 315278 w 462915"/>
                  <a:gd name="connsiteY2" fmla="*/ 0 h 468629"/>
                  <a:gd name="connsiteX3" fmla="*/ 147638 w 462915"/>
                  <a:gd name="connsiteY3" fmla="*/ 0 h 468629"/>
                  <a:gd name="connsiteX4" fmla="*/ 147638 w 462915"/>
                  <a:gd name="connsiteY4" fmla="*/ 147638 h 468629"/>
                  <a:gd name="connsiteX5" fmla="*/ 0 w 462915"/>
                  <a:gd name="connsiteY5" fmla="*/ 147638 h 468629"/>
                  <a:gd name="connsiteX6" fmla="*/ 0 w 462915"/>
                  <a:gd name="connsiteY6" fmla="*/ 316230 h 468629"/>
                  <a:gd name="connsiteX7" fmla="*/ 147638 w 462915"/>
                  <a:gd name="connsiteY7" fmla="*/ 316230 h 468629"/>
                  <a:gd name="connsiteX8" fmla="*/ 147638 w 462915"/>
                  <a:gd name="connsiteY8" fmla="*/ 468630 h 468629"/>
                  <a:gd name="connsiteX9" fmla="*/ 315278 w 462915"/>
                  <a:gd name="connsiteY9" fmla="*/ 468630 h 468629"/>
                  <a:gd name="connsiteX10" fmla="*/ 315278 w 462915"/>
                  <a:gd name="connsiteY10" fmla="*/ 316230 h 468629"/>
                  <a:gd name="connsiteX11" fmla="*/ 462915 w 462915"/>
                  <a:gd name="connsiteY11" fmla="*/ 316230 h 46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29">
                    <a:moveTo>
                      <a:pt x="462915" y="147638"/>
                    </a:moveTo>
                    <a:lnTo>
                      <a:pt x="315278" y="147638"/>
                    </a:lnTo>
                    <a:lnTo>
                      <a:pt x="315278" y="0"/>
                    </a:lnTo>
                    <a:lnTo>
                      <a:pt x="147638" y="0"/>
                    </a:lnTo>
                    <a:lnTo>
                      <a:pt x="147638" y="147638"/>
                    </a:lnTo>
                    <a:lnTo>
                      <a:pt x="0" y="147638"/>
                    </a:lnTo>
                    <a:lnTo>
                      <a:pt x="0" y="316230"/>
                    </a:lnTo>
                    <a:lnTo>
                      <a:pt x="147638" y="316230"/>
                    </a:lnTo>
                    <a:lnTo>
                      <a:pt x="147638" y="468630"/>
                    </a:lnTo>
                    <a:lnTo>
                      <a:pt x="315278" y="468630"/>
                    </a:lnTo>
                    <a:lnTo>
                      <a:pt x="315278"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5" name="Freeform: Shape 44">
                <a:extLst>
                  <a:ext uri="{FF2B5EF4-FFF2-40B4-BE49-F238E27FC236}">
                    <a16:creationId xmlns:a16="http://schemas.microsoft.com/office/drawing/2014/main" id="{E1F14469-F224-49A4-A156-0B75E57D31D3}"/>
                  </a:ext>
                </a:extLst>
              </p:cNvPr>
              <p:cNvSpPr/>
              <p:nvPr/>
            </p:nvSpPr>
            <p:spPr>
              <a:xfrm>
                <a:off x="20385435" y="7250382"/>
                <a:ext cx="463867" cy="468629"/>
              </a:xfrm>
              <a:custGeom>
                <a:avLst/>
                <a:gdLst>
                  <a:gd name="connsiteX0" fmla="*/ 463867 w 463867"/>
                  <a:gd name="connsiteY0" fmla="*/ 147638 h 468629"/>
                  <a:gd name="connsiteX1" fmla="*/ 316230 w 463867"/>
                  <a:gd name="connsiteY1" fmla="*/ 147638 h 468629"/>
                  <a:gd name="connsiteX2" fmla="*/ 316230 w 463867"/>
                  <a:gd name="connsiteY2" fmla="*/ 0 h 468629"/>
                  <a:gd name="connsiteX3" fmla="*/ 147638 w 463867"/>
                  <a:gd name="connsiteY3" fmla="*/ 0 h 468629"/>
                  <a:gd name="connsiteX4" fmla="*/ 147638 w 463867"/>
                  <a:gd name="connsiteY4" fmla="*/ 147638 h 468629"/>
                  <a:gd name="connsiteX5" fmla="*/ 0 w 463867"/>
                  <a:gd name="connsiteY5" fmla="*/ 147638 h 468629"/>
                  <a:gd name="connsiteX6" fmla="*/ 0 w 463867"/>
                  <a:gd name="connsiteY6" fmla="*/ 316230 h 468629"/>
                  <a:gd name="connsiteX7" fmla="*/ 147638 w 463867"/>
                  <a:gd name="connsiteY7" fmla="*/ 316230 h 468629"/>
                  <a:gd name="connsiteX8" fmla="*/ 147638 w 463867"/>
                  <a:gd name="connsiteY8" fmla="*/ 468630 h 468629"/>
                  <a:gd name="connsiteX9" fmla="*/ 316230 w 463867"/>
                  <a:gd name="connsiteY9" fmla="*/ 468630 h 468629"/>
                  <a:gd name="connsiteX10" fmla="*/ 316230 w 463867"/>
                  <a:gd name="connsiteY10" fmla="*/ 316230 h 468629"/>
                  <a:gd name="connsiteX11" fmla="*/ 463867 w 463867"/>
                  <a:gd name="connsiteY11" fmla="*/ 316230 h 46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29">
                    <a:moveTo>
                      <a:pt x="463867" y="147638"/>
                    </a:moveTo>
                    <a:lnTo>
                      <a:pt x="316230" y="147638"/>
                    </a:lnTo>
                    <a:lnTo>
                      <a:pt x="316230" y="0"/>
                    </a:lnTo>
                    <a:lnTo>
                      <a:pt x="147638" y="0"/>
                    </a:lnTo>
                    <a:lnTo>
                      <a:pt x="147638" y="147638"/>
                    </a:lnTo>
                    <a:lnTo>
                      <a:pt x="0" y="147638"/>
                    </a:lnTo>
                    <a:lnTo>
                      <a:pt x="0" y="316230"/>
                    </a:lnTo>
                    <a:lnTo>
                      <a:pt x="147638" y="316230"/>
                    </a:lnTo>
                    <a:lnTo>
                      <a:pt x="147638" y="468630"/>
                    </a:lnTo>
                    <a:lnTo>
                      <a:pt x="316230" y="468630"/>
                    </a:lnTo>
                    <a:lnTo>
                      <a:pt x="316230" y="316230"/>
                    </a:lnTo>
                    <a:lnTo>
                      <a:pt x="463867"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6" name="Freeform: Shape 45">
                <a:extLst>
                  <a:ext uri="{FF2B5EF4-FFF2-40B4-BE49-F238E27FC236}">
                    <a16:creationId xmlns:a16="http://schemas.microsoft.com/office/drawing/2014/main" id="{5F6EC6B3-2C80-4816-AB53-5A2EEF089EC5}"/>
                  </a:ext>
                </a:extLst>
              </p:cNvPr>
              <p:cNvSpPr/>
              <p:nvPr/>
            </p:nvSpPr>
            <p:spPr>
              <a:xfrm>
                <a:off x="19622482" y="7250382"/>
                <a:ext cx="462915" cy="468629"/>
              </a:xfrm>
              <a:custGeom>
                <a:avLst/>
                <a:gdLst>
                  <a:gd name="connsiteX0" fmla="*/ 462915 w 462915"/>
                  <a:gd name="connsiteY0" fmla="*/ 147638 h 468629"/>
                  <a:gd name="connsiteX1" fmla="*/ 315278 w 462915"/>
                  <a:gd name="connsiteY1" fmla="*/ 147638 h 468629"/>
                  <a:gd name="connsiteX2" fmla="*/ 315278 w 462915"/>
                  <a:gd name="connsiteY2" fmla="*/ 0 h 468629"/>
                  <a:gd name="connsiteX3" fmla="*/ 147638 w 462915"/>
                  <a:gd name="connsiteY3" fmla="*/ 0 h 468629"/>
                  <a:gd name="connsiteX4" fmla="*/ 147638 w 462915"/>
                  <a:gd name="connsiteY4" fmla="*/ 147638 h 468629"/>
                  <a:gd name="connsiteX5" fmla="*/ 0 w 462915"/>
                  <a:gd name="connsiteY5" fmla="*/ 147638 h 468629"/>
                  <a:gd name="connsiteX6" fmla="*/ 0 w 462915"/>
                  <a:gd name="connsiteY6" fmla="*/ 316230 h 468629"/>
                  <a:gd name="connsiteX7" fmla="*/ 147638 w 462915"/>
                  <a:gd name="connsiteY7" fmla="*/ 316230 h 468629"/>
                  <a:gd name="connsiteX8" fmla="*/ 147638 w 462915"/>
                  <a:gd name="connsiteY8" fmla="*/ 468630 h 468629"/>
                  <a:gd name="connsiteX9" fmla="*/ 315278 w 462915"/>
                  <a:gd name="connsiteY9" fmla="*/ 468630 h 468629"/>
                  <a:gd name="connsiteX10" fmla="*/ 315278 w 462915"/>
                  <a:gd name="connsiteY10" fmla="*/ 316230 h 468629"/>
                  <a:gd name="connsiteX11" fmla="*/ 462915 w 462915"/>
                  <a:gd name="connsiteY11" fmla="*/ 316230 h 46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29">
                    <a:moveTo>
                      <a:pt x="462915" y="147638"/>
                    </a:moveTo>
                    <a:lnTo>
                      <a:pt x="315278" y="147638"/>
                    </a:lnTo>
                    <a:lnTo>
                      <a:pt x="315278" y="0"/>
                    </a:lnTo>
                    <a:lnTo>
                      <a:pt x="147638" y="0"/>
                    </a:lnTo>
                    <a:lnTo>
                      <a:pt x="147638" y="147638"/>
                    </a:lnTo>
                    <a:lnTo>
                      <a:pt x="0" y="147638"/>
                    </a:lnTo>
                    <a:lnTo>
                      <a:pt x="0" y="316230"/>
                    </a:lnTo>
                    <a:lnTo>
                      <a:pt x="147638" y="316230"/>
                    </a:lnTo>
                    <a:lnTo>
                      <a:pt x="147638" y="468630"/>
                    </a:lnTo>
                    <a:lnTo>
                      <a:pt x="315278" y="468630"/>
                    </a:lnTo>
                    <a:lnTo>
                      <a:pt x="315278"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7" name="Freeform: Shape 46">
                <a:extLst>
                  <a:ext uri="{FF2B5EF4-FFF2-40B4-BE49-F238E27FC236}">
                    <a16:creationId xmlns:a16="http://schemas.microsoft.com/office/drawing/2014/main" id="{176384EE-7FFC-430D-85EF-CD185F431DE7}"/>
                  </a:ext>
                </a:extLst>
              </p:cNvPr>
              <p:cNvSpPr/>
              <p:nvPr/>
            </p:nvSpPr>
            <p:spPr>
              <a:xfrm>
                <a:off x="18858578" y="7250382"/>
                <a:ext cx="462914" cy="468629"/>
              </a:xfrm>
              <a:custGeom>
                <a:avLst/>
                <a:gdLst>
                  <a:gd name="connsiteX0" fmla="*/ 462915 w 462914"/>
                  <a:gd name="connsiteY0" fmla="*/ 147638 h 468629"/>
                  <a:gd name="connsiteX1" fmla="*/ 315278 w 462914"/>
                  <a:gd name="connsiteY1" fmla="*/ 147638 h 468629"/>
                  <a:gd name="connsiteX2" fmla="*/ 315278 w 462914"/>
                  <a:gd name="connsiteY2" fmla="*/ 0 h 468629"/>
                  <a:gd name="connsiteX3" fmla="*/ 147638 w 462914"/>
                  <a:gd name="connsiteY3" fmla="*/ 0 h 468629"/>
                  <a:gd name="connsiteX4" fmla="*/ 147638 w 462914"/>
                  <a:gd name="connsiteY4" fmla="*/ 147638 h 468629"/>
                  <a:gd name="connsiteX5" fmla="*/ 0 w 462914"/>
                  <a:gd name="connsiteY5" fmla="*/ 147638 h 468629"/>
                  <a:gd name="connsiteX6" fmla="*/ 0 w 462914"/>
                  <a:gd name="connsiteY6" fmla="*/ 316230 h 468629"/>
                  <a:gd name="connsiteX7" fmla="*/ 147638 w 462914"/>
                  <a:gd name="connsiteY7" fmla="*/ 316230 h 468629"/>
                  <a:gd name="connsiteX8" fmla="*/ 147638 w 462914"/>
                  <a:gd name="connsiteY8" fmla="*/ 468630 h 468629"/>
                  <a:gd name="connsiteX9" fmla="*/ 315278 w 462914"/>
                  <a:gd name="connsiteY9" fmla="*/ 468630 h 468629"/>
                  <a:gd name="connsiteX10" fmla="*/ 315278 w 462914"/>
                  <a:gd name="connsiteY10" fmla="*/ 316230 h 468629"/>
                  <a:gd name="connsiteX11" fmla="*/ 462915 w 462914"/>
                  <a:gd name="connsiteY11" fmla="*/ 316230 h 46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29">
                    <a:moveTo>
                      <a:pt x="462915" y="147638"/>
                    </a:moveTo>
                    <a:lnTo>
                      <a:pt x="315278" y="147638"/>
                    </a:lnTo>
                    <a:lnTo>
                      <a:pt x="315278" y="0"/>
                    </a:lnTo>
                    <a:lnTo>
                      <a:pt x="147638" y="0"/>
                    </a:lnTo>
                    <a:lnTo>
                      <a:pt x="147638" y="147638"/>
                    </a:lnTo>
                    <a:lnTo>
                      <a:pt x="0" y="147638"/>
                    </a:lnTo>
                    <a:lnTo>
                      <a:pt x="0" y="316230"/>
                    </a:lnTo>
                    <a:lnTo>
                      <a:pt x="147638" y="316230"/>
                    </a:lnTo>
                    <a:lnTo>
                      <a:pt x="147638" y="468630"/>
                    </a:lnTo>
                    <a:lnTo>
                      <a:pt x="315278" y="468630"/>
                    </a:lnTo>
                    <a:lnTo>
                      <a:pt x="315278" y="316230"/>
                    </a:lnTo>
                    <a:lnTo>
                      <a:pt x="462915" y="316230"/>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grpSp>
        <p:grpSp>
          <p:nvGrpSpPr>
            <p:cNvPr id="28" name="Graphic 17">
              <a:extLst>
                <a:ext uri="{FF2B5EF4-FFF2-40B4-BE49-F238E27FC236}">
                  <a16:creationId xmlns:a16="http://schemas.microsoft.com/office/drawing/2014/main" id="{0643EE4C-30B9-4B5E-9F86-8FF8DF587638}"/>
                </a:ext>
              </a:extLst>
            </p:cNvPr>
            <p:cNvGrpSpPr/>
            <p:nvPr/>
          </p:nvGrpSpPr>
          <p:grpSpPr>
            <a:xfrm>
              <a:off x="18858578" y="6487429"/>
              <a:ext cx="4281487" cy="467677"/>
              <a:chOff x="18858578" y="6487429"/>
              <a:chExt cx="4281487" cy="467677"/>
            </a:xfrm>
            <a:grpFill/>
          </p:grpSpPr>
          <p:sp>
            <p:nvSpPr>
              <p:cNvPr id="36" name="Freeform: Shape 35">
                <a:extLst>
                  <a:ext uri="{FF2B5EF4-FFF2-40B4-BE49-F238E27FC236}">
                    <a16:creationId xmlns:a16="http://schemas.microsoft.com/office/drawing/2014/main" id="{0366FD7C-A897-449A-929E-B9512F3C551D}"/>
                  </a:ext>
                </a:extLst>
              </p:cNvPr>
              <p:cNvSpPr/>
              <p:nvPr/>
            </p:nvSpPr>
            <p:spPr>
              <a:xfrm>
                <a:off x="22676197" y="6487429"/>
                <a:ext cx="463867" cy="467677"/>
              </a:xfrm>
              <a:custGeom>
                <a:avLst/>
                <a:gdLst>
                  <a:gd name="connsiteX0" fmla="*/ 463868 w 463867"/>
                  <a:gd name="connsiteY0" fmla="*/ 147638 h 467677"/>
                  <a:gd name="connsiteX1" fmla="*/ 316230 w 463867"/>
                  <a:gd name="connsiteY1" fmla="*/ 147638 h 467677"/>
                  <a:gd name="connsiteX2" fmla="*/ 316230 w 463867"/>
                  <a:gd name="connsiteY2" fmla="*/ 0 h 467677"/>
                  <a:gd name="connsiteX3" fmla="*/ 147638 w 463867"/>
                  <a:gd name="connsiteY3" fmla="*/ 0 h 467677"/>
                  <a:gd name="connsiteX4" fmla="*/ 147638 w 463867"/>
                  <a:gd name="connsiteY4" fmla="*/ 147638 h 467677"/>
                  <a:gd name="connsiteX5" fmla="*/ 0 w 463867"/>
                  <a:gd name="connsiteY5" fmla="*/ 147638 h 467677"/>
                  <a:gd name="connsiteX6" fmla="*/ 0 w 463867"/>
                  <a:gd name="connsiteY6" fmla="*/ 315278 h 467677"/>
                  <a:gd name="connsiteX7" fmla="*/ 147638 w 463867"/>
                  <a:gd name="connsiteY7" fmla="*/ 315278 h 467677"/>
                  <a:gd name="connsiteX8" fmla="*/ 147638 w 463867"/>
                  <a:gd name="connsiteY8" fmla="*/ 467678 h 467677"/>
                  <a:gd name="connsiteX9" fmla="*/ 316230 w 463867"/>
                  <a:gd name="connsiteY9" fmla="*/ 467678 h 467677"/>
                  <a:gd name="connsiteX10" fmla="*/ 316230 w 463867"/>
                  <a:gd name="connsiteY10" fmla="*/ 315278 h 467677"/>
                  <a:gd name="connsiteX11" fmla="*/ 463868 w 463867"/>
                  <a:gd name="connsiteY11" fmla="*/ 315278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7677">
                    <a:moveTo>
                      <a:pt x="463868" y="147638"/>
                    </a:moveTo>
                    <a:lnTo>
                      <a:pt x="316230" y="147638"/>
                    </a:lnTo>
                    <a:lnTo>
                      <a:pt x="316230" y="0"/>
                    </a:lnTo>
                    <a:lnTo>
                      <a:pt x="147638" y="0"/>
                    </a:lnTo>
                    <a:lnTo>
                      <a:pt x="147638" y="147638"/>
                    </a:lnTo>
                    <a:lnTo>
                      <a:pt x="0" y="147638"/>
                    </a:lnTo>
                    <a:lnTo>
                      <a:pt x="0" y="315278"/>
                    </a:lnTo>
                    <a:lnTo>
                      <a:pt x="147638" y="315278"/>
                    </a:lnTo>
                    <a:lnTo>
                      <a:pt x="147638" y="467678"/>
                    </a:lnTo>
                    <a:lnTo>
                      <a:pt x="316230" y="467678"/>
                    </a:lnTo>
                    <a:lnTo>
                      <a:pt x="316230" y="315278"/>
                    </a:lnTo>
                    <a:lnTo>
                      <a:pt x="463868"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7" name="Freeform: Shape 36">
                <a:extLst>
                  <a:ext uri="{FF2B5EF4-FFF2-40B4-BE49-F238E27FC236}">
                    <a16:creationId xmlns:a16="http://schemas.microsoft.com/office/drawing/2014/main" id="{BA379EB1-8773-4B56-AD2A-03C6B1107D39}"/>
                  </a:ext>
                </a:extLst>
              </p:cNvPr>
              <p:cNvSpPr/>
              <p:nvPr/>
            </p:nvSpPr>
            <p:spPr>
              <a:xfrm>
                <a:off x="21913245" y="6487429"/>
                <a:ext cx="462914" cy="467677"/>
              </a:xfrm>
              <a:custGeom>
                <a:avLst/>
                <a:gdLst>
                  <a:gd name="connsiteX0" fmla="*/ 462915 w 462914"/>
                  <a:gd name="connsiteY0" fmla="*/ 147638 h 467677"/>
                  <a:gd name="connsiteX1" fmla="*/ 315277 w 462914"/>
                  <a:gd name="connsiteY1" fmla="*/ 147638 h 467677"/>
                  <a:gd name="connsiteX2" fmla="*/ 315277 w 462914"/>
                  <a:gd name="connsiteY2" fmla="*/ 0 h 467677"/>
                  <a:gd name="connsiteX3" fmla="*/ 147638 w 462914"/>
                  <a:gd name="connsiteY3" fmla="*/ 0 h 467677"/>
                  <a:gd name="connsiteX4" fmla="*/ 147638 w 462914"/>
                  <a:gd name="connsiteY4" fmla="*/ 147638 h 467677"/>
                  <a:gd name="connsiteX5" fmla="*/ 0 w 462914"/>
                  <a:gd name="connsiteY5" fmla="*/ 147638 h 467677"/>
                  <a:gd name="connsiteX6" fmla="*/ 0 w 462914"/>
                  <a:gd name="connsiteY6" fmla="*/ 315278 h 467677"/>
                  <a:gd name="connsiteX7" fmla="*/ 147638 w 462914"/>
                  <a:gd name="connsiteY7" fmla="*/ 315278 h 467677"/>
                  <a:gd name="connsiteX8" fmla="*/ 147638 w 462914"/>
                  <a:gd name="connsiteY8" fmla="*/ 467678 h 467677"/>
                  <a:gd name="connsiteX9" fmla="*/ 315277 w 462914"/>
                  <a:gd name="connsiteY9" fmla="*/ 467678 h 467677"/>
                  <a:gd name="connsiteX10" fmla="*/ 315277 w 462914"/>
                  <a:gd name="connsiteY10" fmla="*/ 315278 h 467677"/>
                  <a:gd name="connsiteX11" fmla="*/ 462915 w 462914"/>
                  <a:gd name="connsiteY11" fmla="*/ 315278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7677">
                    <a:moveTo>
                      <a:pt x="462915" y="147638"/>
                    </a:moveTo>
                    <a:lnTo>
                      <a:pt x="315277" y="147638"/>
                    </a:lnTo>
                    <a:lnTo>
                      <a:pt x="315277" y="0"/>
                    </a:lnTo>
                    <a:lnTo>
                      <a:pt x="147638" y="0"/>
                    </a:lnTo>
                    <a:lnTo>
                      <a:pt x="147638" y="147638"/>
                    </a:lnTo>
                    <a:lnTo>
                      <a:pt x="0" y="147638"/>
                    </a:lnTo>
                    <a:lnTo>
                      <a:pt x="0" y="315278"/>
                    </a:lnTo>
                    <a:lnTo>
                      <a:pt x="147638" y="315278"/>
                    </a:lnTo>
                    <a:lnTo>
                      <a:pt x="147638" y="467678"/>
                    </a:lnTo>
                    <a:lnTo>
                      <a:pt x="315277" y="467678"/>
                    </a:lnTo>
                    <a:lnTo>
                      <a:pt x="315277"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8" name="Freeform: Shape 37">
                <a:extLst>
                  <a:ext uri="{FF2B5EF4-FFF2-40B4-BE49-F238E27FC236}">
                    <a16:creationId xmlns:a16="http://schemas.microsoft.com/office/drawing/2014/main" id="{606D3F31-6B3D-4A62-B67C-07EC77A9190E}"/>
                  </a:ext>
                </a:extLst>
              </p:cNvPr>
              <p:cNvSpPr/>
              <p:nvPr/>
            </p:nvSpPr>
            <p:spPr>
              <a:xfrm>
                <a:off x="21149340" y="6487429"/>
                <a:ext cx="462915" cy="467677"/>
              </a:xfrm>
              <a:custGeom>
                <a:avLst/>
                <a:gdLst>
                  <a:gd name="connsiteX0" fmla="*/ 462915 w 462915"/>
                  <a:gd name="connsiteY0" fmla="*/ 147638 h 467677"/>
                  <a:gd name="connsiteX1" fmla="*/ 315278 w 462915"/>
                  <a:gd name="connsiteY1" fmla="*/ 147638 h 467677"/>
                  <a:gd name="connsiteX2" fmla="*/ 315278 w 462915"/>
                  <a:gd name="connsiteY2" fmla="*/ 0 h 467677"/>
                  <a:gd name="connsiteX3" fmla="*/ 147638 w 462915"/>
                  <a:gd name="connsiteY3" fmla="*/ 0 h 467677"/>
                  <a:gd name="connsiteX4" fmla="*/ 147638 w 462915"/>
                  <a:gd name="connsiteY4" fmla="*/ 147638 h 467677"/>
                  <a:gd name="connsiteX5" fmla="*/ 0 w 462915"/>
                  <a:gd name="connsiteY5" fmla="*/ 147638 h 467677"/>
                  <a:gd name="connsiteX6" fmla="*/ 0 w 462915"/>
                  <a:gd name="connsiteY6" fmla="*/ 315278 h 467677"/>
                  <a:gd name="connsiteX7" fmla="*/ 147638 w 462915"/>
                  <a:gd name="connsiteY7" fmla="*/ 315278 h 467677"/>
                  <a:gd name="connsiteX8" fmla="*/ 147638 w 462915"/>
                  <a:gd name="connsiteY8" fmla="*/ 467678 h 467677"/>
                  <a:gd name="connsiteX9" fmla="*/ 315278 w 462915"/>
                  <a:gd name="connsiteY9" fmla="*/ 467678 h 467677"/>
                  <a:gd name="connsiteX10" fmla="*/ 315278 w 462915"/>
                  <a:gd name="connsiteY10" fmla="*/ 315278 h 467677"/>
                  <a:gd name="connsiteX11" fmla="*/ 462915 w 462915"/>
                  <a:gd name="connsiteY11" fmla="*/ 315278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7677">
                    <a:moveTo>
                      <a:pt x="462915" y="147638"/>
                    </a:moveTo>
                    <a:lnTo>
                      <a:pt x="315278" y="147638"/>
                    </a:lnTo>
                    <a:lnTo>
                      <a:pt x="315278" y="0"/>
                    </a:lnTo>
                    <a:lnTo>
                      <a:pt x="147638" y="0"/>
                    </a:lnTo>
                    <a:lnTo>
                      <a:pt x="147638" y="147638"/>
                    </a:lnTo>
                    <a:lnTo>
                      <a:pt x="0" y="147638"/>
                    </a:lnTo>
                    <a:lnTo>
                      <a:pt x="0" y="315278"/>
                    </a:lnTo>
                    <a:lnTo>
                      <a:pt x="147638" y="315278"/>
                    </a:lnTo>
                    <a:lnTo>
                      <a:pt x="147638" y="467678"/>
                    </a:lnTo>
                    <a:lnTo>
                      <a:pt x="315278" y="467678"/>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9" name="Freeform: Shape 38">
                <a:extLst>
                  <a:ext uri="{FF2B5EF4-FFF2-40B4-BE49-F238E27FC236}">
                    <a16:creationId xmlns:a16="http://schemas.microsoft.com/office/drawing/2014/main" id="{621FB519-7B91-4CF3-A38A-D5DB8DC75272}"/>
                  </a:ext>
                </a:extLst>
              </p:cNvPr>
              <p:cNvSpPr/>
              <p:nvPr/>
            </p:nvSpPr>
            <p:spPr>
              <a:xfrm>
                <a:off x="20385435" y="6487429"/>
                <a:ext cx="463867" cy="467677"/>
              </a:xfrm>
              <a:custGeom>
                <a:avLst/>
                <a:gdLst>
                  <a:gd name="connsiteX0" fmla="*/ 463867 w 463867"/>
                  <a:gd name="connsiteY0" fmla="*/ 147638 h 467677"/>
                  <a:gd name="connsiteX1" fmla="*/ 316230 w 463867"/>
                  <a:gd name="connsiteY1" fmla="*/ 147638 h 467677"/>
                  <a:gd name="connsiteX2" fmla="*/ 316230 w 463867"/>
                  <a:gd name="connsiteY2" fmla="*/ 0 h 467677"/>
                  <a:gd name="connsiteX3" fmla="*/ 147638 w 463867"/>
                  <a:gd name="connsiteY3" fmla="*/ 0 h 467677"/>
                  <a:gd name="connsiteX4" fmla="*/ 147638 w 463867"/>
                  <a:gd name="connsiteY4" fmla="*/ 147638 h 467677"/>
                  <a:gd name="connsiteX5" fmla="*/ 0 w 463867"/>
                  <a:gd name="connsiteY5" fmla="*/ 147638 h 467677"/>
                  <a:gd name="connsiteX6" fmla="*/ 0 w 463867"/>
                  <a:gd name="connsiteY6" fmla="*/ 315278 h 467677"/>
                  <a:gd name="connsiteX7" fmla="*/ 147638 w 463867"/>
                  <a:gd name="connsiteY7" fmla="*/ 315278 h 467677"/>
                  <a:gd name="connsiteX8" fmla="*/ 147638 w 463867"/>
                  <a:gd name="connsiteY8" fmla="*/ 467678 h 467677"/>
                  <a:gd name="connsiteX9" fmla="*/ 316230 w 463867"/>
                  <a:gd name="connsiteY9" fmla="*/ 467678 h 467677"/>
                  <a:gd name="connsiteX10" fmla="*/ 316230 w 463867"/>
                  <a:gd name="connsiteY10" fmla="*/ 315278 h 467677"/>
                  <a:gd name="connsiteX11" fmla="*/ 463867 w 463867"/>
                  <a:gd name="connsiteY11" fmla="*/ 315278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7677">
                    <a:moveTo>
                      <a:pt x="463867" y="147638"/>
                    </a:moveTo>
                    <a:lnTo>
                      <a:pt x="316230" y="147638"/>
                    </a:lnTo>
                    <a:lnTo>
                      <a:pt x="316230" y="0"/>
                    </a:lnTo>
                    <a:lnTo>
                      <a:pt x="147638" y="0"/>
                    </a:lnTo>
                    <a:lnTo>
                      <a:pt x="147638" y="147638"/>
                    </a:lnTo>
                    <a:lnTo>
                      <a:pt x="0" y="147638"/>
                    </a:lnTo>
                    <a:lnTo>
                      <a:pt x="0" y="315278"/>
                    </a:lnTo>
                    <a:lnTo>
                      <a:pt x="147638" y="315278"/>
                    </a:lnTo>
                    <a:lnTo>
                      <a:pt x="147638" y="467678"/>
                    </a:lnTo>
                    <a:lnTo>
                      <a:pt x="316230" y="467678"/>
                    </a:lnTo>
                    <a:lnTo>
                      <a:pt x="316230" y="315278"/>
                    </a:lnTo>
                    <a:lnTo>
                      <a:pt x="463867"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0" name="Freeform: Shape 39">
                <a:extLst>
                  <a:ext uri="{FF2B5EF4-FFF2-40B4-BE49-F238E27FC236}">
                    <a16:creationId xmlns:a16="http://schemas.microsoft.com/office/drawing/2014/main" id="{C1686FF9-753B-4A89-90BB-15A804F81C7B}"/>
                  </a:ext>
                </a:extLst>
              </p:cNvPr>
              <p:cNvSpPr/>
              <p:nvPr/>
            </p:nvSpPr>
            <p:spPr>
              <a:xfrm>
                <a:off x="19622482" y="6487429"/>
                <a:ext cx="462915" cy="467677"/>
              </a:xfrm>
              <a:custGeom>
                <a:avLst/>
                <a:gdLst>
                  <a:gd name="connsiteX0" fmla="*/ 462915 w 462915"/>
                  <a:gd name="connsiteY0" fmla="*/ 147638 h 467677"/>
                  <a:gd name="connsiteX1" fmla="*/ 315278 w 462915"/>
                  <a:gd name="connsiteY1" fmla="*/ 147638 h 467677"/>
                  <a:gd name="connsiteX2" fmla="*/ 315278 w 462915"/>
                  <a:gd name="connsiteY2" fmla="*/ 0 h 467677"/>
                  <a:gd name="connsiteX3" fmla="*/ 147638 w 462915"/>
                  <a:gd name="connsiteY3" fmla="*/ 0 h 467677"/>
                  <a:gd name="connsiteX4" fmla="*/ 147638 w 462915"/>
                  <a:gd name="connsiteY4" fmla="*/ 147638 h 467677"/>
                  <a:gd name="connsiteX5" fmla="*/ 0 w 462915"/>
                  <a:gd name="connsiteY5" fmla="*/ 147638 h 467677"/>
                  <a:gd name="connsiteX6" fmla="*/ 0 w 462915"/>
                  <a:gd name="connsiteY6" fmla="*/ 315278 h 467677"/>
                  <a:gd name="connsiteX7" fmla="*/ 147638 w 462915"/>
                  <a:gd name="connsiteY7" fmla="*/ 315278 h 467677"/>
                  <a:gd name="connsiteX8" fmla="*/ 147638 w 462915"/>
                  <a:gd name="connsiteY8" fmla="*/ 467678 h 467677"/>
                  <a:gd name="connsiteX9" fmla="*/ 315278 w 462915"/>
                  <a:gd name="connsiteY9" fmla="*/ 467678 h 467677"/>
                  <a:gd name="connsiteX10" fmla="*/ 315278 w 462915"/>
                  <a:gd name="connsiteY10" fmla="*/ 315278 h 467677"/>
                  <a:gd name="connsiteX11" fmla="*/ 462915 w 462915"/>
                  <a:gd name="connsiteY11" fmla="*/ 315278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7677">
                    <a:moveTo>
                      <a:pt x="462915" y="147638"/>
                    </a:moveTo>
                    <a:lnTo>
                      <a:pt x="315278" y="147638"/>
                    </a:lnTo>
                    <a:lnTo>
                      <a:pt x="315278" y="0"/>
                    </a:lnTo>
                    <a:lnTo>
                      <a:pt x="147638" y="0"/>
                    </a:lnTo>
                    <a:lnTo>
                      <a:pt x="147638" y="147638"/>
                    </a:lnTo>
                    <a:lnTo>
                      <a:pt x="0" y="147638"/>
                    </a:lnTo>
                    <a:lnTo>
                      <a:pt x="0" y="315278"/>
                    </a:lnTo>
                    <a:lnTo>
                      <a:pt x="147638" y="315278"/>
                    </a:lnTo>
                    <a:lnTo>
                      <a:pt x="147638" y="467678"/>
                    </a:lnTo>
                    <a:lnTo>
                      <a:pt x="315278" y="467678"/>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41" name="Freeform: Shape 40">
                <a:extLst>
                  <a:ext uri="{FF2B5EF4-FFF2-40B4-BE49-F238E27FC236}">
                    <a16:creationId xmlns:a16="http://schemas.microsoft.com/office/drawing/2014/main" id="{930F6AD1-F1D3-40B9-9681-98A52793EDAF}"/>
                  </a:ext>
                </a:extLst>
              </p:cNvPr>
              <p:cNvSpPr/>
              <p:nvPr/>
            </p:nvSpPr>
            <p:spPr>
              <a:xfrm>
                <a:off x="18858578" y="6487429"/>
                <a:ext cx="462914" cy="467677"/>
              </a:xfrm>
              <a:custGeom>
                <a:avLst/>
                <a:gdLst>
                  <a:gd name="connsiteX0" fmla="*/ 462915 w 462914"/>
                  <a:gd name="connsiteY0" fmla="*/ 147638 h 467677"/>
                  <a:gd name="connsiteX1" fmla="*/ 315278 w 462914"/>
                  <a:gd name="connsiteY1" fmla="*/ 147638 h 467677"/>
                  <a:gd name="connsiteX2" fmla="*/ 315278 w 462914"/>
                  <a:gd name="connsiteY2" fmla="*/ 0 h 467677"/>
                  <a:gd name="connsiteX3" fmla="*/ 147638 w 462914"/>
                  <a:gd name="connsiteY3" fmla="*/ 0 h 467677"/>
                  <a:gd name="connsiteX4" fmla="*/ 147638 w 462914"/>
                  <a:gd name="connsiteY4" fmla="*/ 147638 h 467677"/>
                  <a:gd name="connsiteX5" fmla="*/ 0 w 462914"/>
                  <a:gd name="connsiteY5" fmla="*/ 147638 h 467677"/>
                  <a:gd name="connsiteX6" fmla="*/ 0 w 462914"/>
                  <a:gd name="connsiteY6" fmla="*/ 315278 h 467677"/>
                  <a:gd name="connsiteX7" fmla="*/ 147638 w 462914"/>
                  <a:gd name="connsiteY7" fmla="*/ 315278 h 467677"/>
                  <a:gd name="connsiteX8" fmla="*/ 147638 w 462914"/>
                  <a:gd name="connsiteY8" fmla="*/ 467678 h 467677"/>
                  <a:gd name="connsiteX9" fmla="*/ 315278 w 462914"/>
                  <a:gd name="connsiteY9" fmla="*/ 467678 h 467677"/>
                  <a:gd name="connsiteX10" fmla="*/ 315278 w 462914"/>
                  <a:gd name="connsiteY10" fmla="*/ 315278 h 467677"/>
                  <a:gd name="connsiteX11" fmla="*/ 462915 w 462914"/>
                  <a:gd name="connsiteY11" fmla="*/ 315278 h 46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7677">
                    <a:moveTo>
                      <a:pt x="462915" y="147638"/>
                    </a:moveTo>
                    <a:lnTo>
                      <a:pt x="315278" y="147638"/>
                    </a:lnTo>
                    <a:lnTo>
                      <a:pt x="315278" y="0"/>
                    </a:lnTo>
                    <a:lnTo>
                      <a:pt x="147638" y="0"/>
                    </a:lnTo>
                    <a:lnTo>
                      <a:pt x="147638" y="147638"/>
                    </a:lnTo>
                    <a:lnTo>
                      <a:pt x="0" y="147638"/>
                    </a:lnTo>
                    <a:lnTo>
                      <a:pt x="0" y="315278"/>
                    </a:lnTo>
                    <a:lnTo>
                      <a:pt x="147638" y="315278"/>
                    </a:lnTo>
                    <a:lnTo>
                      <a:pt x="147638" y="467678"/>
                    </a:lnTo>
                    <a:lnTo>
                      <a:pt x="315278" y="467678"/>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grpSp>
        <p:grpSp>
          <p:nvGrpSpPr>
            <p:cNvPr id="29" name="Graphic 17">
              <a:extLst>
                <a:ext uri="{FF2B5EF4-FFF2-40B4-BE49-F238E27FC236}">
                  <a16:creationId xmlns:a16="http://schemas.microsoft.com/office/drawing/2014/main" id="{7F430F64-24A8-4FAE-B2F5-762440D8FB6F}"/>
                </a:ext>
              </a:extLst>
            </p:cNvPr>
            <p:cNvGrpSpPr/>
            <p:nvPr/>
          </p:nvGrpSpPr>
          <p:grpSpPr>
            <a:xfrm>
              <a:off x="18858578" y="5723525"/>
              <a:ext cx="4281487" cy="468630"/>
              <a:chOff x="18858578" y="5723525"/>
              <a:chExt cx="4281487" cy="468630"/>
            </a:xfrm>
            <a:grpFill/>
          </p:grpSpPr>
          <p:sp>
            <p:nvSpPr>
              <p:cNvPr id="30" name="Freeform: Shape 29">
                <a:extLst>
                  <a:ext uri="{FF2B5EF4-FFF2-40B4-BE49-F238E27FC236}">
                    <a16:creationId xmlns:a16="http://schemas.microsoft.com/office/drawing/2014/main" id="{CE4BC27F-30A9-42B1-B3E6-610707B481FA}"/>
                  </a:ext>
                </a:extLst>
              </p:cNvPr>
              <p:cNvSpPr/>
              <p:nvPr/>
            </p:nvSpPr>
            <p:spPr>
              <a:xfrm>
                <a:off x="22676197" y="5723525"/>
                <a:ext cx="463867" cy="468630"/>
              </a:xfrm>
              <a:custGeom>
                <a:avLst/>
                <a:gdLst>
                  <a:gd name="connsiteX0" fmla="*/ 463868 w 463867"/>
                  <a:gd name="connsiteY0" fmla="*/ 147638 h 468630"/>
                  <a:gd name="connsiteX1" fmla="*/ 316230 w 463867"/>
                  <a:gd name="connsiteY1" fmla="*/ 147638 h 468630"/>
                  <a:gd name="connsiteX2" fmla="*/ 316230 w 463867"/>
                  <a:gd name="connsiteY2" fmla="*/ 0 h 468630"/>
                  <a:gd name="connsiteX3" fmla="*/ 147638 w 463867"/>
                  <a:gd name="connsiteY3" fmla="*/ 0 h 468630"/>
                  <a:gd name="connsiteX4" fmla="*/ 147638 w 463867"/>
                  <a:gd name="connsiteY4" fmla="*/ 147638 h 468630"/>
                  <a:gd name="connsiteX5" fmla="*/ 0 w 463867"/>
                  <a:gd name="connsiteY5" fmla="*/ 147638 h 468630"/>
                  <a:gd name="connsiteX6" fmla="*/ 0 w 463867"/>
                  <a:gd name="connsiteY6" fmla="*/ 315278 h 468630"/>
                  <a:gd name="connsiteX7" fmla="*/ 147638 w 463867"/>
                  <a:gd name="connsiteY7" fmla="*/ 315278 h 468630"/>
                  <a:gd name="connsiteX8" fmla="*/ 147638 w 463867"/>
                  <a:gd name="connsiteY8" fmla="*/ 468630 h 468630"/>
                  <a:gd name="connsiteX9" fmla="*/ 316230 w 463867"/>
                  <a:gd name="connsiteY9" fmla="*/ 468630 h 468630"/>
                  <a:gd name="connsiteX10" fmla="*/ 316230 w 463867"/>
                  <a:gd name="connsiteY10" fmla="*/ 315278 h 468630"/>
                  <a:gd name="connsiteX11" fmla="*/ 463868 w 463867"/>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30">
                    <a:moveTo>
                      <a:pt x="463868" y="147638"/>
                    </a:moveTo>
                    <a:lnTo>
                      <a:pt x="316230" y="147638"/>
                    </a:lnTo>
                    <a:lnTo>
                      <a:pt x="316230" y="0"/>
                    </a:lnTo>
                    <a:lnTo>
                      <a:pt x="147638" y="0"/>
                    </a:lnTo>
                    <a:lnTo>
                      <a:pt x="147638" y="147638"/>
                    </a:lnTo>
                    <a:lnTo>
                      <a:pt x="0" y="147638"/>
                    </a:lnTo>
                    <a:lnTo>
                      <a:pt x="0" y="315278"/>
                    </a:lnTo>
                    <a:lnTo>
                      <a:pt x="147638" y="315278"/>
                    </a:lnTo>
                    <a:lnTo>
                      <a:pt x="147638" y="468630"/>
                    </a:lnTo>
                    <a:lnTo>
                      <a:pt x="316230" y="468630"/>
                    </a:lnTo>
                    <a:lnTo>
                      <a:pt x="316230" y="315278"/>
                    </a:lnTo>
                    <a:lnTo>
                      <a:pt x="463868"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1" name="Freeform: Shape 30">
                <a:extLst>
                  <a:ext uri="{FF2B5EF4-FFF2-40B4-BE49-F238E27FC236}">
                    <a16:creationId xmlns:a16="http://schemas.microsoft.com/office/drawing/2014/main" id="{372733B0-A6D1-4E7E-A81B-352FA4FD1A1B}"/>
                  </a:ext>
                </a:extLst>
              </p:cNvPr>
              <p:cNvSpPr/>
              <p:nvPr/>
            </p:nvSpPr>
            <p:spPr>
              <a:xfrm>
                <a:off x="21913245" y="5723525"/>
                <a:ext cx="462914" cy="468630"/>
              </a:xfrm>
              <a:custGeom>
                <a:avLst/>
                <a:gdLst>
                  <a:gd name="connsiteX0" fmla="*/ 462915 w 462914"/>
                  <a:gd name="connsiteY0" fmla="*/ 147638 h 468630"/>
                  <a:gd name="connsiteX1" fmla="*/ 315277 w 462914"/>
                  <a:gd name="connsiteY1" fmla="*/ 147638 h 468630"/>
                  <a:gd name="connsiteX2" fmla="*/ 315277 w 462914"/>
                  <a:gd name="connsiteY2" fmla="*/ 0 h 468630"/>
                  <a:gd name="connsiteX3" fmla="*/ 147638 w 462914"/>
                  <a:gd name="connsiteY3" fmla="*/ 0 h 468630"/>
                  <a:gd name="connsiteX4" fmla="*/ 147638 w 462914"/>
                  <a:gd name="connsiteY4" fmla="*/ 147638 h 468630"/>
                  <a:gd name="connsiteX5" fmla="*/ 0 w 462914"/>
                  <a:gd name="connsiteY5" fmla="*/ 147638 h 468630"/>
                  <a:gd name="connsiteX6" fmla="*/ 0 w 462914"/>
                  <a:gd name="connsiteY6" fmla="*/ 315278 h 468630"/>
                  <a:gd name="connsiteX7" fmla="*/ 147638 w 462914"/>
                  <a:gd name="connsiteY7" fmla="*/ 315278 h 468630"/>
                  <a:gd name="connsiteX8" fmla="*/ 147638 w 462914"/>
                  <a:gd name="connsiteY8" fmla="*/ 468630 h 468630"/>
                  <a:gd name="connsiteX9" fmla="*/ 315277 w 462914"/>
                  <a:gd name="connsiteY9" fmla="*/ 468630 h 468630"/>
                  <a:gd name="connsiteX10" fmla="*/ 315277 w 462914"/>
                  <a:gd name="connsiteY10" fmla="*/ 315278 h 468630"/>
                  <a:gd name="connsiteX11" fmla="*/ 462915 w 462914"/>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30">
                    <a:moveTo>
                      <a:pt x="462915" y="147638"/>
                    </a:moveTo>
                    <a:lnTo>
                      <a:pt x="315277" y="147638"/>
                    </a:lnTo>
                    <a:lnTo>
                      <a:pt x="315277" y="0"/>
                    </a:lnTo>
                    <a:lnTo>
                      <a:pt x="147638" y="0"/>
                    </a:lnTo>
                    <a:lnTo>
                      <a:pt x="147638" y="147638"/>
                    </a:lnTo>
                    <a:lnTo>
                      <a:pt x="0" y="147638"/>
                    </a:lnTo>
                    <a:lnTo>
                      <a:pt x="0" y="315278"/>
                    </a:lnTo>
                    <a:lnTo>
                      <a:pt x="147638" y="315278"/>
                    </a:lnTo>
                    <a:lnTo>
                      <a:pt x="147638" y="468630"/>
                    </a:lnTo>
                    <a:lnTo>
                      <a:pt x="315277" y="468630"/>
                    </a:lnTo>
                    <a:lnTo>
                      <a:pt x="315277"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2" name="Freeform: Shape 31">
                <a:extLst>
                  <a:ext uri="{FF2B5EF4-FFF2-40B4-BE49-F238E27FC236}">
                    <a16:creationId xmlns:a16="http://schemas.microsoft.com/office/drawing/2014/main" id="{F6EFAD7A-696C-47E1-A012-8967B6BCDF05}"/>
                  </a:ext>
                </a:extLst>
              </p:cNvPr>
              <p:cNvSpPr/>
              <p:nvPr/>
            </p:nvSpPr>
            <p:spPr>
              <a:xfrm>
                <a:off x="21149340" y="5723525"/>
                <a:ext cx="462915" cy="468630"/>
              </a:xfrm>
              <a:custGeom>
                <a:avLst/>
                <a:gdLst>
                  <a:gd name="connsiteX0" fmla="*/ 462915 w 462915"/>
                  <a:gd name="connsiteY0" fmla="*/ 147638 h 468630"/>
                  <a:gd name="connsiteX1" fmla="*/ 315278 w 462915"/>
                  <a:gd name="connsiteY1" fmla="*/ 147638 h 468630"/>
                  <a:gd name="connsiteX2" fmla="*/ 315278 w 462915"/>
                  <a:gd name="connsiteY2" fmla="*/ 0 h 468630"/>
                  <a:gd name="connsiteX3" fmla="*/ 147638 w 462915"/>
                  <a:gd name="connsiteY3" fmla="*/ 0 h 468630"/>
                  <a:gd name="connsiteX4" fmla="*/ 147638 w 462915"/>
                  <a:gd name="connsiteY4" fmla="*/ 147638 h 468630"/>
                  <a:gd name="connsiteX5" fmla="*/ 0 w 462915"/>
                  <a:gd name="connsiteY5" fmla="*/ 147638 h 468630"/>
                  <a:gd name="connsiteX6" fmla="*/ 0 w 462915"/>
                  <a:gd name="connsiteY6" fmla="*/ 315278 h 468630"/>
                  <a:gd name="connsiteX7" fmla="*/ 147638 w 462915"/>
                  <a:gd name="connsiteY7" fmla="*/ 315278 h 468630"/>
                  <a:gd name="connsiteX8" fmla="*/ 147638 w 462915"/>
                  <a:gd name="connsiteY8" fmla="*/ 468630 h 468630"/>
                  <a:gd name="connsiteX9" fmla="*/ 315278 w 462915"/>
                  <a:gd name="connsiteY9" fmla="*/ 468630 h 468630"/>
                  <a:gd name="connsiteX10" fmla="*/ 315278 w 462915"/>
                  <a:gd name="connsiteY10" fmla="*/ 315278 h 468630"/>
                  <a:gd name="connsiteX11" fmla="*/ 462915 w 462915"/>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30">
                    <a:moveTo>
                      <a:pt x="462915" y="147638"/>
                    </a:moveTo>
                    <a:lnTo>
                      <a:pt x="315278" y="147638"/>
                    </a:lnTo>
                    <a:lnTo>
                      <a:pt x="315278" y="0"/>
                    </a:lnTo>
                    <a:lnTo>
                      <a:pt x="147638" y="0"/>
                    </a:lnTo>
                    <a:lnTo>
                      <a:pt x="147638" y="147638"/>
                    </a:lnTo>
                    <a:lnTo>
                      <a:pt x="0" y="147638"/>
                    </a:lnTo>
                    <a:lnTo>
                      <a:pt x="0" y="315278"/>
                    </a:lnTo>
                    <a:lnTo>
                      <a:pt x="147638" y="315278"/>
                    </a:lnTo>
                    <a:lnTo>
                      <a:pt x="147638" y="468630"/>
                    </a:lnTo>
                    <a:lnTo>
                      <a:pt x="315278" y="468630"/>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3" name="Freeform: Shape 32">
                <a:extLst>
                  <a:ext uri="{FF2B5EF4-FFF2-40B4-BE49-F238E27FC236}">
                    <a16:creationId xmlns:a16="http://schemas.microsoft.com/office/drawing/2014/main" id="{A6F3108E-D867-45D3-8AED-75DEF8BBD5D6}"/>
                  </a:ext>
                </a:extLst>
              </p:cNvPr>
              <p:cNvSpPr/>
              <p:nvPr/>
            </p:nvSpPr>
            <p:spPr>
              <a:xfrm>
                <a:off x="20385435" y="5723525"/>
                <a:ext cx="463867" cy="468630"/>
              </a:xfrm>
              <a:custGeom>
                <a:avLst/>
                <a:gdLst>
                  <a:gd name="connsiteX0" fmla="*/ 463867 w 463867"/>
                  <a:gd name="connsiteY0" fmla="*/ 147638 h 468630"/>
                  <a:gd name="connsiteX1" fmla="*/ 316230 w 463867"/>
                  <a:gd name="connsiteY1" fmla="*/ 147638 h 468630"/>
                  <a:gd name="connsiteX2" fmla="*/ 316230 w 463867"/>
                  <a:gd name="connsiteY2" fmla="*/ 0 h 468630"/>
                  <a:gd name="connsiteX3" fmla="*/ 147638 w 463867"/>
                  <a:gd name="connsiteY3" fmla="*/ 0 h 468630"/>
                  <a:gd name="connsiteX4" fmla="*/ 147638 w 463867"/>
                  <a:gd name="connsiteY4" fmla="*/ 147638 h 468630"/>
                  <a:gd name="connsiteX5" fmla="*/ 0 w 463867"/>
                  <a:gd name="connsiteY5" fmla="*/ 147638 h 468630"/>
                  <a:gd name="connsiteX6" fmla="*/ 0 w 463867"/>
                  <a:gd name="connsiteY6" fmla="*/ 315278 h 468630"/>
                  <a:gd name="connsiteX7" fmla="*/ 147638 w 463867"/>
                  <a:gd name="connsiteY7" fmla="*/ 315278 h 468630"/>
                  <a:gd name="connsiteX8" fmla="*/ 147638 w 463867"/>
                  <a:gd name="connsiteY8" fmla="*/ 468630 h 468630"/>
                  <a:gd name="connsiteX9" fmla="*/ 316230 w 463867"/>
                  <a:gd name="connsiteY9" fmla="*/ 468630 h 468630"/>
                  <a:gd name="connsiteX10" fmla="*/ 316230 w 463867"/>
                  <a:gd name="connsiteY10" fmla="*/ 315278 h 468630"/>
                  <a:gd name="connsiteX11" fmla="*/ 463867 w 463867"/>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3867" h="468630">
                    <a:moveTo>
                      <a:pt x="463867" y="147638"/>
                    </a:moveTo>
                    <a:lnTo>
                      <a:pt x="316230" y="147638"/>
                    </a:lnTo>
                    <a:lnTo>
                      <a:pt x="316230" y="0"/>
                    </a:lnTo>
                    <a:lnTo>
                      <a:pt x="147638" y="0"/>
                    </a:lnTo>
                    <a:lnTo>
                      <a:pt x="147638" y="147638"/>
                    </a:lnTo>
                    <a:lnTo>
                      <a:pt x="0" y="147638"/>
                    </a:lnTo>
                    <a:lnTo>
                      <a:pt x="0" y="315278"/>
                    </a:lnTo>
                    <a:lnTo>
                      <a:pt x="147638" y="315278"/>
                    </a:lnTo>
                    <a:lnTo>
                      <a:pt x="147638" y="468630"/>
                    </a:lnTo>
                    <a:lnTo>
                      <a:pt x="316230" y="468630"/>
                    </a:lnTo>
                    <a:lnTo>
                      <a:pt x="316230" y="315278"/>
                    </a:lnTo>
                    <a:lnTo>
                      <a:pt x="463867"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4" name="Freeform: Shape 33">
                <a:extLst>
                  <a:ext uri="{FF2B5EF4-FFF2-40B4-BE49-F238E27FC236}">
                    <a16:creationId xmlns:a16="http://schemas.microsoft.com/office/drawing/2014/main" id="{F81AFB5A-9094-4E3A-8CD2-20F6F33C52A1}"/>
                  </a:ext>
                </a:extLst>
              </p:cNvPr>
              <p:cNvSpPr/>
              <p:nvPr/>
            </p:nvSpPr>
            <p:spPr>
              <a:xfrm>
                <a:off x="19622482" y="5723525"/>
                <a:ext cx="462915" cy="468630"/>
              </a:xfrm>
              <a:custGeom>
                <a:avLst/>
                <a:gdLst>
                  <a:gd name="connsiteX0" fmla="*/ 462915 w 462915"/>
                  <a:gd name="connsiteY0" fmla="*/ 147638 h 468630"/>
                  <a:gd name="connsiteX1" fmla="*/ 315278 w 462915"/>
                  <a:gd name="connsiteY1" fmla="*/ 147638 h 468630"/>
                  <a:gd name="connsiteX2" fmla="*/ 315278 w 462915"/>
                  <a:gd name="connsiteY2" fmla="*/ 0 h 468630"/>
                  <a:gd name="connsiteX3" fmla="*/ 147638 w 462915"/>
                  <a:gd name="connsiteY3" fmla="*/ 0 h 468630"/>
                  <a:gd name="connsiteX4" fmla="*/ 147638 w 462915"/>
                  <a:gd name="connsiteY4" fmla="*/ 147638 h 468630"/>
                  <a:gd name="connsiteX5" fmla="*/ 0 w 462915"/>
                  <a:gd name="connsiteY5" fmla="*/ 147638 h 468630"/>
                  <a:gd name="connsiteX6" fmla="*/ 0 w 462915"/>
                  <a:gd name="connsiteY6" fmla="*/ 315278 h 468630"/>
                  <a:gd name="connsiteX7" fmla="*/ 147638 w 462915"/>
                  <a:gd name="connsiteY7" fmla="*/ 315278 h 468630"/>
                  <a:gd name="connsiteX8" fmla="*/ 147638 w 462915"/>
                  <a:gd name="connsiteY8" fmla="*/ 468630 h 468630"/>
                  <a:gd name="connsiteX9" fmla="*/ 315278 w 462915"/>
                  <a:gd name="connsiteY9" fmla="*/ 468630 h 468630"/>
                  <a:gd name="connsiteX10" fmla="*/ 315278 w 462915"/>
                  <a:gd name="connsiteY10" fmla="*/ 315278 h 468630"/>
                  <a:gd name="connsiteX11" fmla="*/ 462915 w 462915"/>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5" h="468630">
                    <a:moveTo>
                      <a:pt x="462915" y="147638"/>
                    </a:moveTo>
                    <a:lnTo>
                      <a:pt x="315278" y="147638"/>
                    </a:lnTo>
                    <a:lnTo>
                      <a:pt x="315278" y="0"/>
                    </a:lnTo>
                    <a:lnTo>
                      <a:pt x="147638" y="0"/>
                    </a:lnTo>
                    <a:lnTo>
                      <a:pt x="147638" y="147638"/>
                    </a:lnTo>
                    <a:lnTo>
                      <a:pt x="0" y="147638"/>
                    </a:lnTo>
                    <a:lnTo>
                      <a:pt x="0" y="315278"/>
                    </a:lnTo>
                    <a:lnTo>
                      <a:pt x="147638" y="315278"/>
                    </a:lnTo>
                    <a:lnTo>
                      <a:pt x="147638" y="468630"/>
                    </a:lnTo>
                    <a:lnTo>
                      <a:pt x="315278" y="468630"/>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sp>
            <p:nvSpPr>
              <p:cNvPr id="35" name="Freeform: Shape 34">
                <a:extLst>
                  <a:ext uri="{FF2B5EF4-FFF2-40B4-BE49-F238E27FC236}">
                    <a16:creationId xmlns:a16="http://schemas.microsoft.com/office/drawing/2014/main" id="{A0D92000-81C8-42E0-849D-9EDAC60765AB}"/>
                  </a:ext>
                </a:extLst>
              </p:cNvPr>
              <p:cNvSpPr/>
              <p:nvPr/>
            </p:nvSpPr>
            <p:spPr>
              <a:xfrm>
                <a:off x="18858578" y="5723525"/>
                <a:ext cx="462914" cy="468630"/>
              </a:xfrm>
              <a:custGeom>
                <a:avLst/>
                <a:gdLst>
                  <a:gd name="connsiteX0" fmla="*/ 462915 w 462914"/>
                  <a:gd name="connsiteY0" fmla="*/ 147638 h 468630"/>
                  <a:gd name="connsiteX1" fmla="*/ 315278 w 462914"/>
                  <a:gd name="connsiteY1" fmla="*/ 147638 h 468630"/>
                  <a:gd name="connsiteX2" fmla="*/ 315278 w 462914"/>
                  <a:gd name="connsiteY2" fmla="*/ 0 h 468630"/>
                  <a:gd name="connsiteX3" fmla="*/ 147638 w 462914"/>
                  <a:gd name="connsiteY3" fmla="*/ 0 h 468630"/>
                  <a:gd name="connsiteX4" fmla="*/ 147638 w 462914"/>
                  <a:gd name="connsiteY4" fmla="*/ 147638 h 468630"/>
                  <a:gd name="connsiteX5" fmla="*/ 0 w 462914"/>
                  <a:gd name="connsiteY5" fmla="*/ 147638 h 468630"/>
                  <a:gd name="connsiteX6" fmla="*/ 0 w 462914"/>
                  <a:gd name="connsiteY6" fmla="*/ 315278 h 468630"/>
                  <a:gd name="connsiteX7" fmla="*/ 147638 w 462914"/>
                  <a:gd name="connsiteY7" fmla="*/ 315278 h 468630"/>
                  <a:gd name="connsiteX8" fmla="*/ 147638 w 462914"/>
                  <a:gd name="connsiteY8" fmla="*/ 468630 h 468630"/>
                  <a:gd name="connsiteX9" fmla="*/ 315278 w 462914"/>
                  <a:gd name="connsiteY9" fmla="*/ 468630 h 468630"/>
                  <a:gd name="connsiteX10" fmla="*/ 315278 w 462914"/>
                  <a:gd name="connsiteY10" fmla="*/ 315278 h 468630"/>
                  <a:gd name="connsiteX11" fmla="*/ 462915 w 462914"/>
                  <a:gd name="connsiteY11" fmla="*/ 315278 h 46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914" h="468630">
                    <a:moveTo>
                      <a:pt x="462915" y="147638"/>
                    </a:moveTo>
                    <a:lnTo>
                      <a:pt x="315278" y="147638"/>
                    </a:lnTo>
                    <a:lnTo>
                      <a:pt x="315278" y="0"/>
                    </a:lnTo>
                    <a:lnTo>
                      <a:pt x="147638" y="0"/>
                    </a:lnTo>
                    <a:lnTo>
                      <a:pt x="147638" y="147638"/>
                    </a:lnTo>
                    <a:lnTo>
                      <a:pt x="0" y="147638"/>
                    </a:lnTo>
                    <a:lnTo>
                      <a:pt x="0" y="315278"/>
                    </a:lnTo>
                    <a:lnTo>
                      <a:pt x="147638" y="315278"/>
                    </a:lnTo>
                    <a:lnTo>
                      <a:pt x="147638" y="468630"/>
                    </a:lnTo>
                    <a:lnTo>
                      <a:pt x="315278" y="468630"/>
                    </a:lnTo>
                    <a:lnTo>
                      <a:pt x="315278" y="315278"/>
                    </a:lnTo>
                    <a:lnTo>
                      <a:pt x="462915" y="315278"/>
                    </a:lnTo>
                    <a:close/>
                  </a:path>
                </a:pathLst>
              </a:custGeom>
              <a:grpFill/>
              <a:ln w="9525" cap="flat">
                <a:noFill/>
                <a:prstDash val="solid"/>
                <a:miter/>
              </a:ln>
            </p:spPr>
            <p:txBody>
              <a:bodyPr rtlCol="0" anchor="ctr"/>
              <a:lstStyle/>
              <a:p>
                <a:pPr defTabSz="457206" hangingPunct="1">
                  <a:lnSpc>
                    <a:spcPct val="100000"/>
                  </a:lnSpc>
                </a:pPr>
                <a:endParaRPr lang="en-US" sz="675" kern="1200" spc="0">
                  <a:gradFill>
                    <a:gsLst>
                      <a:gs pos="0">
                        <a:srgbClr val="77ABF6"/>
                      </a:gs>
                      <a:gs pos="100000">
                        <a:srgbClr val="5297F4"/>
                      </a:gs>
                    </a:gsLst>
                    <a:lin ang="10800000" scaled="0"/>
                  </a:gradFill>
                  <a:latin typeface="Calibri" panose="020F0502020204030204"/>
                  <a:ea typeface="+mn-ea"/>
                  <a:cs typeface="+mn-cs"/>
                </a:endParaRPr>
              </a:p>
            </p:txBody>
          </p:sp>
        </p:grpSp>
      </p:grpSp>
      <p:pic>
        <p:nvPicPr>
          <p:cNvPr id="5" name="Picture 4">
            <a:extLst>
              <a:ext uri="{FF2B5EF4-FFF2-40B4-BE49-F238E27FC236}">
                <a16:creationId xmlns:a16="http://schemas.microsoft.com/office/drawing/2014/main" id="{636754D6-0E35-69EF-05F2-039D0C850C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pic>
        <p:nvPicPr>
          <p:cNvPr id="6" name="Learning From Inspiration - Uplifting Corporate Ambient Background (1m30s)">
            <a:hlinkClick r:id="" action="ppaction://media"/>
            <a:extLst>
              <a:ext uri="{FF2B5EF4-FFF2-40B4-BE49-F238E27FC236}">
                <a16:creationId xmlns:a16="http://schemas.microsoft.com/office/drawing/2014/main" id="{08382CA7-DB4C-83AE-EB00-2AF8846A8E1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988800" y="13512800"/>
            <a:ext cx="406400" cy="406400"/>
          </a:xfrm>
          <a:prstGeom prst="rect">
            <a:avLst/>
          </a:prstGeom>
        </p:spPr>
      </p:pic>
    </p:spTree>
    <p:extLst>
      <p:ext uri="{BB962C8B-B14F-4D97-AF65-F5344CB8AC3E}">
        <p14:creationId xmlns:p14="http://schemas.microsoft.com/office/powerpoint/2010/main" val="1352022989"/>
      </p:ext>
    </p:extLst>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3" name="Shape"/>
          <p:cNvSpPr/>
          <p:nvPr/>
        </p:nvSpPr>
        <p:spPr>
          <a:xfrm flipH="1">
            <a:off x="13971190" y="3429000"/>
            <a:ext cx="9142810" cy="6858001"/>
          </a:xfrm>
          <a:custGeom>
            <a:avLst/>
            <a:gdLst/>
            <a:ahLst/>
            <a:cxnLst>
              <a:cxn ang="0">
                <a:pos x="wd2" y="hd2"/>
              </a:cxn>
              <a:cxn ang="5400000">
                <a:pos x="wd2" y="hd2"/>
              </a:cxn>
              <a:cxn ang="10800000">
                <a:pos x="wd2" y="hd2"/>
              </a:cxn>
              <a:cxn ang="16200000">
                <a:pos x="wd2" y="hd2"/>
              </a:cxn>
            </a:cxnLst>
            <a:rect l="0" t="0" r="r" b="b"/>
            <a:pathLst>
              <a:path w="21600" h="21599" extrusionOk="0">
                <a:moveTo>
                  <a:pt x="2306" y="0"/>
                </a:moveTo>
                <a:cubicBezTo>
                  <a:pt x="1629" y="0"/>
                  <a:pt x="1223" y="1"/>
                  <a:pt x="953" y="151"/>
                </a:cubicBezTo>
                <a:cubicBezTo>
                  <a:pt x="562" y="341"/>
                  <a:pt x="255" y="750"/>
                  <a:pt x="113" y="1270"/>
                </a:cubicBezTo>
                <a:cubicBezTo>
                  <a:pt x="0" y="1631"/>
                  <a:pt x="0" y="2172"/>
                  <a:pt x="0" y="3074"/>
                </a:cubicBezTo>
                <a:lnTo>
                  <a:pt x="0" y="18526"/>
                </a:lnTo>
                <a:cubicBezTo>
                  <a:pt x="0" y="19428"/>
                  <a:pt x="0" y="19969"/>
                  <a:pt x="113" y="20329"/>
                </a:cubicBezTo>
                <a:cubicBezTo>
                  <a:pt x="255" y="20850"/>
                  <a:pt x="562" y="21260"/>
                  <a:pt x="953" y="21449"/>
                </a:cubicBezTo>
                <a:cubicBezTo>
                  <a:pt x="1223" y="21600"/>
                  <a:pt x="1629" y="21599"/>
                  <a:pt x="2306" y="21599"/>
                </a:cubicBezTo>
                <a:lnTo>
                  <a:pt x="21600" y="21599"/>
                </a:lnTo>
                <a:lnTo>
                  <a:pt x="21600" y="0"/>
                </a:lnTo>
                <a:lnTo>
                  <a:pt x="2306" y="0"/>
                </a:lnTo>
                <a:close/>
              </a:path>
            </a:pathLst>
          </a:custGeom>
          <a:solidFill>
            <a:srgbClr val="0ED3EE"/>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66" name="Shape"/>
          <p:cNvSpPr/>
          <p:nvPr/>
        </p:nvSpPr>
        <p:spPr>
          <a:xfrm>
            <a:off x="2223017" y="3429000"/>
            <a:ext cx="1176107"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67" name="Lorem ipsum dolor sit elit, consect loreretur adipiscing nisi aute. ipsum sit elit, Lorem ipsum dolor sit elit, Lorem ipsum dolor sit elit, consect loreretur adipiscing nisi aute. ipsum sit elit, Lorem ipsum dolor sit elit, Lorem ipsum dolor sit elit, co"/>
          <p:cNvSpPr txBox="1"/>
          <p:nvPr/>
        </p:nvSpPr>
        <p:spPr>
          <a:xfrm>
            <a:off x="15527758" y="4338047"/>
            <a:ext cx="5846794" cy="5126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pPr algn="just">
              <a:defRPr>
                <a:solidFill>
                  <a:srgbClr val="FFFFFF"/>
                </a:solidFill>
              </a:defRPr>
            </a:pPr>
            <a:r>
              <a:rPr lang="en-US" sz="2000" dirty="0">
                <a:solidFill>
                  <a:schemeClr val="tx1"/>
                </a:solidFill>
              </a:rPr>
              <a:t>At </a:t>
            </a:r>
            <a:r>
              <a:rPr lang="en-US" sz="2000" dirty="0" err="1">
                <a:solidFill>
                  <a:schemeClr val="tx1"/>
                </a:solidFill>
              </a:rPr>
              <a:t>Humanxt</a:t>
            </a:r>
            <a:r>
              <a:rPr lang="en-US" sz="2000" dirty="0">
                <a:solidFill>
                  <a:schemeClr val="tx1"/>
                </a:solidFill>
              </a:rPr>
              <a:t>, we are dedicated to empowering organizations by placing people at the core of our mission. Started as a freelance company back in 2013, we gradually established in 2020, we are a premier human resources and organizational development consultancy based in Dubai, United Arab Emirates, with a global presence across India &amp; the GCC. Our goal is to foster thriving workplaces where talent flourishes, driving sustainable success for businesses and their people.</a:t>
            </a:r>
            <a:endParaRPr lang="en-IN" sz="2000" dirty="0">
              <a:solidFill>
                <a:schemeClr val="tx1"/>
              </a:solidFill>
            </a:endParaRPr>
          </a:p>
        </p:txBody>
      </p:sp>
      <p:pic>
        <p:nvPicPr>
          <p:cNvPr id="5" name="Picture 4">
            <a:extLst>
              <a:ext uri="{FF2B5EF4-FFF2-40B4-BE49-F238E27FC236}">
                <a16:creationId xmlns:a16="http://schemas.microsoft.com/office/drawing/2014/main" id="{5DC9721C-0532-7040-CD72-E1C35B4F7D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pic>
        <p:nvPicPr>
          <p:cNvPr id="2" name="skyscrapers-highways-and-cityscape-in-dubai-1080p-2025-08-29-07-20-17-utc">
            <a:hlinkClick r:id="" action="ppaction://media"/>
            <a:extLst>
              <a:ext uri="{FF2B5EF4-FFF2-40B4-BE49-F238E27FC236}">
                <a16:creationId xmlns:a16="http://schemas.microsoft.com/office/drawing/2014/main" id="{2065DD41-EA28-8683-B877-8C72B6CF2CF0}"/>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r="14668"/>
          <a:stretch>
            <a:fillRect/>
          </a:stretch>
        </p:blipFill>
        <p:spPr>
          <a:xfrm>
            <a:off x="3567190" y="3428999"/>
            <a:ext cx="10404000" cy="6858000"/>
          </a:xfrm>
          <a:prstGeom prst="rect">
            <a:avLst/>
          </a:prstGeom>
          <a:ln>
            <a:noFill/>
          </a:ln>
          <a:effectLst>
            <a:outerShdw blurRad="190500" algn="tl" rotWithShape="0">
              <a:srgbClr val="000000">
                <a:alpha val="70000"/>
              </a:srgbClr>
            </a:outerShdw>
          </a:effectLst>
        </p:spPr>
      </p:pic>
      <p:sp>
        <p:nvSpPr>
          <p:cNvPr id="2065" name="Single…"/>
          <p:cNvSpPr txBox="1"/>
          <p:nvPr/>
        </p:nvSpPr>
        <p:spPr>
          <a:xfrm>
            <a:off x="1635188" y="6580413"/>
            <a:ext cx="7384028" cy="13490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nSpc>
                <a:spcPct val="90000"/>
              </a:lnSpc>
              <a:defRPr sz="9000" spc="0">
                <a:latin typeface="+mn-lt"/>
                <a:ea typeface="+mn-ea"/>
                <a:cs typeface="+mn-cs"/>
                <a:sym typeface="Montserrat Bold"/>
              </a:defRPr>
            </a:pPr>
            <a:r>
              <a:rPr lang="en-US" dirty="0">
                <a:solidFill>
                  <a:srgbClr val="85FF3C"/>
                </a:solidFill>
                <a:latin typeface="Montserrat SemiBold" panose="00000700000000000000" pitchFamily="2" charset="0"/>
              </a:rPr>
              <a:t>A</a:t>
            </a:r>
            <a:r>
              <a:rPr lang="en-IN" dirty="0">
                <a:solidFill>
                  <a:srgbClr val="85FF3C"/>
                </a:solidFill>
                <a:latin typeface="Montserrat SemiBold" panose="00000700000000000000" pitchFamily="2" charset="0"/>
              </a:rPr>
              <a:t>bout Us</a:t>
            </a:r>
          </a:p>
        </p:txBody>
      </p:sp>
    </p:spTree>
  </p:cSld>
  <p:clrMapOvr>
    <a:masterClrMapping/>
  </p:clrMapOvr>
  <p:transition spd="slow" advTm="12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2" nodeType="withEffect">
                                  <p:stCondLst>
                                    <p:cond delay="500"/>
                                  </p:stCondLst>
                                  <p:iterate>
                                    <p:tmAbs val="0"/>
                                  </p:iterate>
                                  <p:childTnLst>
                                    <p:set>
                                      <p:cBhvr>
                                        <p:cTn id="6" fill="hold"/>
                                        <p:tgtEl>
                                          <p:spTgt spid="2063"/>
                                        </p:tgtEl>
                                        <p:attrNameLst>
                                          <p:attrName>style.visibility</p:attrName>
                                        </p:attrNameLst>
                                      </p:cBhvr>
                                      <p:to>
                                        <p:strVal val="visible"/>
                                      </p:to>
                                    </p:set>
                                    <p:anim calcmode="lin" valueType="num">
                                      <p:cBhvr>
                                        <p:cTn id="7" dur="1000" fill="hold"/>
                                        <p:tgtEl>
                                          <p:spTgt spid="2063"/>
                                        </p:tgtEl>
                                        <p:attrNameLst>
                                          <p:attrName>ppt_x</p:attrName>
                                        </p:attrNameLst>
                                      </p:cBhvr>
                                      <p:tavLst>
                                        <p:tav tm="0">
                                          <p:val>
                                            <p:strVal val="#ppt_x"/>
                                          </p:val>
                                        </p:tav>
                                        <p:tav tm="100000">
                                          <p:val>
                                            <p:strVal val="#ppt_x"/>
                                          </p:val>
                                        </p:tav>
                                      </p:tavLst>
                                    </p:anim>
                                    <p:anim calcmode="lin" valueType="num">
                                      <p:cBhvr>
                                        <p:cTn id="8" dur="1000" fill="hold"/>
                                        <p:tgtEl>
                                          <p:spTgt spid="2063"/>
                                        </p:tgtEl>
                                        <p:attrNameLst>
                                          <p:attrName>ppt_y</p:attrName>
                                        </p:attrNameLst>
                                      </p:cBhvr>
                                      <p:tavLst>
                                        <p:tav tm="0">
                                          <p:val>
                                            <p:strVal val="0-#ppt_h/2"/>
                                          </p:val>
                                        </p:tav>
                                        <p:tav tm="100000">
                                          <p:val>
                                            <p:strVal val="#ppt_y"/>
                                          </p:val>
                                        </p:tav>
                                      </p:tavLst>
                                    </p:anim>
                                  </p:childTnLst>
                                </p:cTn>
                              </p:par>
                              <p:par>
                                <p:cTn id="9" presetID="2" presetClass="entr" presetSubtype="8" accel="50000" decel="50000" fill="hold" grpId="3" nodeType="withEffect">
                                  <p:stCondLst>
                                    <p:cond delay="1000"/>
                                  </p:stCondLst>
                                  <p:iterate>
                                    <p:tmAbs val="0"/>
                                  </p:iterate>
                                  <p:childTnLst>
                                    <p:set>
                                      <p:cBhvr>
                                        <p:cTn id="10" fill="hold"/>
                                        <p:tgtEl>
                                          <p:spTgt spid="2066"/>
                                        </p:tgtEl>
                                        <p:attrNameLst>
                                          <p:attrName>style.visibility</p:attrName>
                                        </p:attrNameLst>
                                      </p:cBhvr>
                                      <p:to>
                                        <p:strVal val="visible"/>
                                      </p:to>
                                    </p:set>
                                    <p:anim calcmode="lin" valueType="num">
                                      <p:cBhvr>
                                        <p:cTn id="11" dur="1000" fill="hold"/>
                                        <p:tgtEl>
                                          <p:spTgt spid="2066"/>
                                        </p:tgtEl>
                                        <p:attrNameLst>
                                          <p:attrName>ppt_x</p:attrName>
                                        </p:attrNameLst>
                                      </p:cBhvr>
                                      <p:tavLst>
                                        <p:tav tm="0">
                                          <p:val>
                                            <p:strVal val="0-#ppt_w/2"/>
                                          </p:val>
                                        </p:tav>
                                        <p:tav tm="100000">
                                          <p:val>
                                            <p:strVal val="#ppt_x"/>
                                          </p:val>
                                        </p:tav>
                                      </p:tavLst>
                                    </p:anim>
                                    <p:anim calcmode="lin" valueType="num">
                                      <p:cBhvr>
                                        <p:cTn id="12" dur="1000" fill="hold"/>
                                        <p:tgtEl>
                                          <p:spTgt spid="2066"/>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1" presetClass="mediacall" presetSubtype="0" fill="hold" nodeType="afterEffect">
                                  <p:stCondLst>
                                    <p:cond delay="0"/>
                                  </p:stCondLst>
                                  <p:childTnLst>
                                    <p:cmd type="call" cmd="playFrom(0.0)">
                                      <p:cBhvr>
                                        <p:cTn id="15" dur="1116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6" fill="hold" display="0">
                  <p:stCondLst>
                    <p:cond delay="indefinite"/>
                  </p:stCondLst>
                </p:cTn>
                <p:tgtEl>
                  <p:spTgt spid="2"/>
                </p:tgtEl>
              </p:cMediaNode>
            </p:video>
            <p:seq concurrent="1" nextAc="seek">
              <p:cTn id="17" restart="whenNotActive" fill="hold" evtFilter="cancelBubble" nodeType="interactiveSeq">
                <p:stCondLst>
                  <p:cond evt="onClick" delay="0">
                    <p:tgtEl>
                      <p:spTgt spid="2"/>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2"/>
                                        </p:tgtEl>
                                      </p:cBhvr>
                                    </p:cmd>
                                  </p:childTnLst>
                                </p:cTn>
                              </p:par>
                            </p:childTnLst>
                          </p:cTn>
                        </p:par>
                      </p:childTnLst>
                    </p:cTn>
                  </p:par>
                </p:childTnLst>
              </p:cTn>
              <p:nextCondLst>
                <p:cond evt="onClick" delay="0">
                  <p:tgtEl>
                    <p:spTgt spid="2"/>
                  </p:tgtEl>
                </p:cond>
              </p:nextCondLst>
            </p:seq>
          </p:childTnLst>
        </p:cTn>
      </p:par>
    </p:tnLst>
    <p:bldLst>
      <p:bldP spid="2063" grpId="2" animBg="1" advAuto="0"/>
      <p:bldP spid="2066" grpId="3"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takahiro-taguchi-585450-unsplash.jpg"/>
          <p:cNvPicPr>
            <a:picLocks noGrp="1" noChangeAspect="1"/>
          </p:cNvPicPr>
          <p:nvPr>
            <p:ph type="pic" idx="21"/>
          </p:nvPr>
        </p:nvPicPr>
        <p:blipFill>
          <a:blip r:embed="rId2">
            <a:extLst>
              <a:ext uri="{28A0092B-C50C-407E-A947-70E740481C1C}">
                <a14:useLocalDpi xmlns:a14="http://schemas.microsoft.com/office/drawing/2010/main" val="0"/>
              </a:ext>
            </a:extLst>
          </a:blip>
          <a:srcRect t="26210" b="26210"/>
          <a:stretch/>
        </p:blipFill>
        <p:spPr>
          <a:xfrm>
            <a:off x="0" y="5981302"/>
            <a:ext cx="24384000" cy="7734698"/>
          </a:xfrm>
          <a:custGeom>
            <a:avLst/>
            <a:gdLst/>
            <a:ahLst/>
            <a:cxnLst>
              <a:cxn ang="0">
                <a:pos x="wd2" y="hd2"/>
              </a:cxn>
              <a:cxn ang="5400000">
                <a:pos x="wd2" y="hd2"/>
              </a:cxn>
              <a:cxn ang="10800000">
                <a:pos x="wd2" y="hd2"/>
              </a:cxn>
              <a:cxn ang="16200000">
                <a:pos x="wd2" y="hd2"/>
              </a:cxn>
            </a:cxnLst>
            <a:rect l="0" t="0" r="r" b="b"/>
            <a:pathLst>
              <a:path w="21600" h="21600" extrusionOk="0">
                <a:moveTo>
                  <a:pt x="12920" y="0"/>
                </a:moveTo>
                <a:cubicBezTo>
                  <a:pt x="12359" y="0"/>
                  <a:pt x="11904" y="1435"/>
                  <a:pt x="11904" y="3203"/>
                </a:cubicBezTo>
                <a:lnTo>
                  <a:pt x="11904" y="21600"/>
                </a:lnTo>
                <a:lnTo>
                  <a:pt x="13936" y="21600"/>
                </a:lnTo>
                <a:lnTo>
                  <a:pt x="13936" y="3203"/>
                </a:lnTo>
                <a:cubicBezTo>
                  <a:pt x="13936" y="1435"/>
                  <a:pt x="13481" y="0"/>
                  <a:pt x="12920" y="0"/>
                </a:cubicBezTo>
                <a:close/>
                <a:moveTo>
                  <a:pt x="8680" y="1093"/>
                </a:moveTo>
                <a:cubicBezTo>
                  <a:pt x="8119" y="1092"/>
                  <a:pt x="7664" y="2526"/>
                  <a:pt x="7664" y="4295"/>
                </a:cubicBezTo>
                <a:lnTo>
                  <a:pt x="7664" y="21600"/>
                </a:lnTo>
                <a:lnTo>
                  <a:pt x="9696" y="21600"/>
                </a:lnTo>
                <a:lnTo>
                  <a:pt x="9696" y="4295"/>
                </a:lnTo>
                <a:cubicBezTo>
                  <a:pt x="9696" y="2526"/>
                  <a:pt x="9241" y="1093"/>
                  <a:pt x="8680" y="1093"/>
                </a:cubicBezTo>
                <a:close/>
                <a:moveTo>
                  <a:pt x="2320" y="3012"/>
                </a:moveTo>
                <a:cubicBezTo>
                  <a:pt x="1759" y="3012"/>
                  <a:pt x="1304" y="4447"/>
                  <a:pt x="1304" y="6215"/>
                </a:cubicBezTo>
                <a:lnTo>
                  <a:pt x="1304" y="21600"/>
                </a:lnTo>
                <a:lnTo>
                  <a:pt x="3336" y="21600"/>
                </a:lnTo>
                <a:lnTo>
                  <a:pt x="3336" y="6215"/>
                </a:lnTo>
                <a:cubicBezTo>
                  <a:pt x="3336" y="4447"/>
                  <a:pt x="2881" y="3012"/>
                  <a:pt x="2320" y="3012"/>
                </a:cubicBezTo>
                <a:close/>
                <a:moveTo>
                  <a:pt x="19280" y="3012"/>
                </a:moveTo>
                <a:cubicBezTo>
                  <a:pt x="18719" y="3012"/>
                  <a:pt x="18265" y="4447"/>
                  <a:pt x="18265" y="6215"/>
                </a:cubicBezTo>
                <a:lnTo>
                  <a:pt x="18265" y="21600"/>
                </a:lnTo>
                <a:lnTo>
                  <a:pt x="20296" y="21600"/>
                </a:lnTo>
                <a:lnTo>
                  <a:pt x="20296" y="6215"/>
                </a:lnTo>
                <a:cubicBezTo>
                  <a:pt x="20296" y="4447"/>
                  <a:pt x="19841" y="3013"/>
                  <a:pt x="19280" y="3012"/>
                </a:cubicBezTo>
                <a:close/>
                <a:moveTo>
                  <a:pt x="10800" y="4061"/>
                </a:moveTo>
                <a:cubicBezTo>
                  <a:pt x="10239" y="4061"/>
                  <a:pt x="9784" y="5494"/>
                  <a:pt x="9784" y="7263"/>
                </a:cubicBezTo>
                <a:lnTo>
                  <a:pt x="9784" y="21600"/>
                </a:lnTo>
                <a:lnTo>
                  <a:pt x="11816" y="21600"/>
                </a:lnTo>
                <a:lnTo>
                  <a:pt x="11816" y="7263"/>
                </a:lnTo>
                <a:cubicBezTo>
                  <a:pt x="11816" y="5494"/>
                  <a:pt x="11361" y="4061"/>
                  <a:pt x="10800" y="4061"/>
                </a:cubicBezTo>
                <a:close/>
                <a:moveTo>
                  <a:pt x="4440" y="5030"/>
                </a:moveTo>
                <a:cubicBezTo>
                  <a:pt x="3879" y="5030"/>
                  <a:pt x="3424" y="6462"/>
                  <a:pt x="3424" y="8230"/>
                </a:cubicBezTo>
                <a:lnTo>
                  <a:pt x="3424" y="21600"/>
                </a:lnTo>
                <a:lnTo>
                  <a:pt x="5456" y="21600"/>
                </a:lnTo>
                <a:lnTo>
                  <a:pt x="5456" y="8230"/>
                </a:lnTo>
                <a:cubicBezTo>
                  <a:pt x="5456" y="6462"/>
                  <a:pt x="5001" y="5030"/>
                  <a:pt x="4440" y="5030"/>
                </a:cubicBezTo>
                <a:close/>
                <a:moveTo>
                  <a:pt x="17160" y="5030"/>
                </a:moveTo>
                <a:cubicBezTo>
                  <a:pt x="16599" y="5030"/>
                  <a:pt x="16144" y="6462"/>
                  <a:pt x="16144" y="8230"/>
                </a:cubicBezTo>
                <a:lnTo>
                  <a:pt x="16144" y="21600"/>
                </a:lnTo>
                <a:lnTo>
                  <a:pt x="18176" y="21600"/>
                </a:lnTo>
                <a:lnTo>
                  <a:pt x="18176" y="8230"/>
                </a:lnTo>
                <a:cubicBezTo>
                  <a:pt x="18176" y="6462"/>
                  <a:pt x="17721" y="5030"/>
                  <a:pt x="17160" y="5030"/>
                </a:cubicBezTo>
                <a:close/>
                <a:moveTo>
                  <a:pt x="6560" y="6061"/>
                </a:moveTo>
                <a:cubicBezTo>
                  <a:pt x="5999" y="6061"/>
                  <a:pt x="5544" y="7495"/>
                  <a:pt x="5544" y="9263"/>
                </a:cubicBezTo>
                <a:lnTo>
                  <a:pt x="5544" y="21600"/>
                </a:lnTo>
                <a:lnTo>
                  <a:pt x="7576" y="21600"/>
                </a:lnTo>
                <a:lnTo>
                  <a:pt x="7576" y="9263"/>
                </a:lnTo>
                <a:cubicBezTo>
                  <a:pt x="7576" y="7495"/>
                  <a:pt x="7121" y="6061"/>
                  <a:pt x="6560" y="6061"/>
                </a:cubicBezTo>
                <a:close/>
                <a:moveTo>
                  <a:pt x="15041" y="7717"/>
                </a:moveTo>
                <a:cubicBezTo>
                  <a:pt x="14480" y="7717"/>
                  <a:pt x="14024" y="9150"/>
                  <a:pt x="14024" y="10918"/>
                </a:cubicBezTo>
                <a:lnTo>
                  <a:pt x="14024" y="21600"/>
                </a:lnTo>
                <a:lnTo>
                  <a:pt x="16056" y="21600"/>
                </a:lnTo>
                <a:lnTo>
                  <a:pt x="16056" y="10918"/>
                </a:lnTo>
                <a:cubicBezTo>
                  <a:pt x="16056" y="9150"/>
                  <a:pt x="15602" y="7717"/>
                  <a:pt x="15041" y="7717"/>
                </a:cubicBezTo>
                <a:close/>
                <a:moveTo>
                  <a:pt x="21400" y="11596"/>
                </a:moveTo>
                <a:cubicBezTo>
                  <a:pt x="20839" y="11596"/>
                  <a:pt x="20384" y="13030"/>
                  <a:pt x="20384" y="14798"/>
                </a:cubicBezTo>
                <a:lnTo>
                  <a:pt x="20384" y="21600"/>
                </a:lnTo>
                <a:lnTo>
                  <a:pt x="21600" y="21600"/>
                </a:lnTo>
                <a:lnTo>
                  <a:pt x="21600" y="11660"/>
                </a:lnTo>
                <a:cubicBezTo>
                  <a:pt x="21535" y="11619"/>
                  <a:pt x="21469" y="11596"/>
                  <a:pt x="21400" y="11596"/>
                </a:cubicBezTo>
                <a:close/>
                <a:moveTo>
                  <a:pt x="200" y="12945"/>
                </a:moveTo>
                <a:cubicBezTo>
                  <a:pt x="131" y="12945"/>
                  <a:pt x="65" y="12968"/>
                  <a:pt x="0" y="13008"/>
                </a:cubicBezTo>
                <a:lnTo>
                  <a:pt x="0" y="21600"/>
                </a:lnTo>
                <a:lnTo>
                  <a:pt x="1215" y="21600"/>
                </a:lnTo>
                <a:lnTo>
                  <a:pt x="1215" y="16146"/>
                </a:lnTo>
                <a:cubicBezTo>
                  <a:pt x="1215" y="14378"/>
                  <a:pt x="761" y="12945"/>
                  <a:pt x="200" y="12945"/>
                </a:cubicBezTo>
                <a:close/>
              </a:path>
            </a:pathLst>
          </a:custGeom>
        </p:spPr>
      </p:pic>
      <p:sp>
        <p:nvSpPr>
          <p:cNvPr id="2056" name="Green mountains"/>
          <p:cNvSpPr txBox="1"/>
          <p:nvPr/>
        </p:nvSpPr>
        <p:spPr>
          <a:xfrm>
            <a:off x="4240741" y="1866630"/>
            <a:ext cx="7951259" cy="2595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lvl1pPr>
              <a:lnSpc>
                <a:spcPct val="90000"/>
              </a:lnSpc>
              <a:defRPr sz="9000" spc="0">
                <a:latin typeface="+mn-lt"/>
                <a:ea typeface="+mn-ea"/>
                <a:cs typeface="+mn-cs"/>
                <a:sym typeface="Montserrat Bold"/>
              </a:defRPr>
            </a:lvl1pPr>
          </a:lstStyle>
          <a:p>
            <a:r>
              <a:rPr lang="en-IN" dirty="0"/>
              <a:t>Enabling the Enablers</a:t>
            </a:r>
          </a:p>
        </p:txBody>
      </p:sp>
      <p:sp>
        <p:nvSpPr>
          <p:cNvPr id="2057" name="Shape"/>
          <p:cNvSpPr/>
          <p:nvPr/>
        </p:nvSpPr>
        <p:spPr>
          <a:xfrm>
            <a:off x="2410460" y="1974580"/>
            <a:ext cx="1176107"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nvGrpSpPr>
          <p:cNvPr id="2060" name="Group"/>
          <p:cNvGrpSpPr/>
          <p:nvPr/>
        </p:nvGrpSpPr>
        <p:grpSpPr>
          <a:xfrm>
            <a:off x="17017071" y="2923707"/>
            <a:ext cx="6038872" cy="4459808"/>
            <a:chOff x="0" y="0"/>
            <a:chExt cx="4630184" cy="4459806"/>
          </a:xfrm>
        </p:grpSpPr>
        <p:sp>
          <p:nvSpPr>
            <p:cNvPr id="2058" name="Insert title here"/>
            <p:cNvSpPr txBox="1"/>
            <p:nvPr/>
          </p:nvSpPr>
          <p:spPr>
            <a:xfrm>
              <a:off x="0" y="0"/>
              <a:ext cx="4630184" cy="5280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latin typeface="+mn-lt"/>
                  <a:ea typeface="+mn-ea"/>
                  <a:cs typeface="+mn-cs"/>
                  <a:sym typeface="Montserrat Bold"/>
                </a:defRPr>
              </a:lvl1pPr>
            </a:lstStyle>
            <a:p>
              <a:r>
                <a:rPr lang="en-US" dirty="0"/>
                <a:t>Who we are</a:t>
              </a:r>
              <a:endParaRPr dirty="0"/>
            </a:p>
          </p:txBody>
        </p:sp>
        <p:sp>
          <p:nvSpPr>
            <p:cNvPr id="2059" name="Lorem ipsum dolor sit elit, consect loreretur adipiscing nisi aute. ipsum sit elit, Lorem ipsum dolor sit elit, Lorem ipsum dolor sit elit, consect"/>
            <p:cNvSpPr txBox="1"/>
            <p:nvPr/>
          </p:nvSpPr>
          <p:spPr>
            <a:xfrm>
              <a:off x="0" y="666397"/>
              <a:ext cx="4630184" cy="37934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We are a dynamic team of HR strategists, organizational psychologists, talent management experts, and culture architects committed to redefining the employee experience. With deep expertise in human capital strategy, leadership development, and workplace transformation, we partner with organizations of all sizes—from innovative startups to global enterprises—to unlock the full potential of their workforce.</a:t>
              </a:r>
            </a:p>
          </p:txBody>
        </p:sp>
      </p:grpSp>
      <p:pic>
        <p:nvPicPr>
          <p:cNvPr id="2" name="Picture 1">
            <a:extLst>
              <a:ext uri="{FF2B5EF4-FFF2-40B4-BE49-F238E27FC236}">
                <a16:creationId xmlns:a16="http://schemas.microsoft.com/office/drawing/2014/main" id="{F8D6E695-6763-3558-867F-D3ABF64762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cSld>
  <p:clrMapOvr>
    <a:masterClrMapping/>
  </p:clrMapOvr>
  <p:transition spd="slow" advTm="25000">
    <p:push dir="d"/>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1" nodeType="afterEffect">
                                  <p:stCondLst>
                                    <p:cond delay="0"/>
                                  </p:stCondLst>
                                  <p:iterate>
                                    <p:tmAbs val="0"/>
                                  </p:iterate>
                                  <p:childTnLst>
                                    <p:set>
                                      <p:cBhvr>
                                        <p:cTn id="6" fill="hold"/>
                                        <p:tgtEl>
                                          <p:spTgt spid="2055"/>
                                        </p:tgtEl>
                                        <p:attrNameLst>
                                          <p:attrName>style.visibility</p:attrName>
                                        </p:attrNameLst>
                                      </p:cBhvr>
                                      <p:to>
                                        <p:strVal val="visible"/>
                                      </p:to>
                                    </p:set>
                                    <p:anim calcmode="lin" valueType="num">
                                      <p:cBhvr>
                                        <p:cTn id="7" dur="1000" fill="hold"/>
                                        <p:tgtEl>
                                          <p:spTgt spid="2055"/>
                                        </p:tgtEl>
                                        <p:attrNameLst>
                                          <p:attrName>ppt_x</p:attrName>
                                        </p:attrNameLst>
                                      </p:cBhvr>
                                      <p:tavLst>
                                        <p:tav tm="0">
                                          <p:val>
                                            <p:strVal val="#ppt_x"/>
                                          </p:val>
                                        </p:tav>
                                        <p:tav tm="100000">
                                          <p:val>
                                            <p:strVal val="#ppt_x"/>
                                          </p:val>
                                        </p:tav>
                                      </p:tavLst>
                                    </p:anim>
                                    <p:anim calcmode="lin" valueType="num">
                                      <p:cBhvr>
                                        <p:cTn id="8" dur="1000" fill="hold"/>
                                        <p:tgtEl>
                                          <p:spTgt spid="2055"/>
                                        </p:tgtEl>
                                        <p:attrNameLst>
                                          <p:attrName>ppt_y</p:attrName>
                                        </p:attrNameLst>
                                      </p:cBhvr>
                                      <p:tavLst>
                                        <p:tav tm="0">
                                          <p:val>
                                            <p:strVal val="1+#ppt_h/2"/>
                                          </p:val>
                                        </p:tav>
                                        <p:tav tm="100000">
                                          <p:val>
                                            <p:strVal val="#ppt_y"/>
                                          </p:val>
                                        </p:tav>
                                      </p:tavLst>
                                    </p:anim>
                                  </p:childTnLst>
                                </p:cTn>
                              </p:par>
                              <p:par>
                                <p:cTn id="9" presetID="2" presetClass="entr" presetSubtype="8" accel="50000" decel="50000" fill="hold" grpId="2" nodeType="withEffect">
                                  <p:stCondLst>
                                    <p:cond delay="500"/>
                                  </p:stCondLst>
                                  <p:iterate>
                                    <p:tmAbs val="0"/>
                                  </p:iterate>
                                  <p:childTnLst>
                                    <p:set>
                                      <p:cBhvr>
                                        <p:cTn id="10" fill="hold"/>
                                        <p:tgtEl>
                                          <p:spTgt spid="2057"/>
                                        </p:tgtEl>
                                        <p:attrNameLst>
                                          <p:attrName>style.visibility</p:attrName>
                                        </p:attrNameLst>
                                      </p:cBhvr>
                                      <p:to>
                                        <p:strVal val="visible"/>
                                      </p:to>
                                    </p:set>
                                    <p:anim calcmode="lin" valueType="num">
                                      <p:cBhvr>
                                        <p:cTn id="11" dur="1000" fill="hold"/>
                                        <p:tgtEl>
                                          <p:spTgt spid="2057"/>
                                        </p:tgtEl>
                                        <p:attrNameLst>
                                          <p:attrName>ppt_x</p:attrName>
                                        </p:attrNameLst>
                                      </p:cBhvr>
                                      <p:tavLst>
                                        <p:tav tm="0">
                                          <p:val>
                                            <p:strVal val="0-#ppt_w/2"/>
                                          </p:val>
                                        </p:tav>
                                        <p:tav tm="100000">
                                          <p:val>
                                            <p:strVal val="#ppt_x"/>
                                          </p:val>
                                        </p:tav>
                                      </p:tavLst>
                                    </p:anim>
                                    <p:anim calcmode="lin" valueType="num">
                                      <p:cBhvr>
                                        <p:cTn id="12" dur="1000" fill="hold"/>
                                        <p:tgtEl>
                                          <p:spTgt spid="20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1" animBg="1" advAuto="0"/>
      <p:bldP spid="2057"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 name="Rectangle"/>
          <p:cNvSpPr/>
          <p:nvPr/>
        </p:nvSpPr>
        <p:spPr>
          <a:xfrm>
            <a:off x="0" y="9144000"/>
            <a:ext cx="24384001" cy="4572000"/>
          </a:xfrm>
          <a:prstGeom prst="rect">
            <a:avLst/>
          </a:prstGeom>
          <a:solidFill>
            <a:srgbClr val="454546"/>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pic>
        <p:nvPicPr>
          <p:cNvPr id="2036" name="a.jpg"/>
          <p:cNvPicPr>
            <a:picLocks noChangeAspect="1"/>
          </p:cNvPicPr>
          <p:nvPr/>
        </p:nvPicPr>
        <p:blipFill>
          <a:blip r:embed="rId2">
            <a:extLst>
              <a:ext uri="{28A0092B-C50C-407E-A947-70E740481C1C}">
                <a14:useLocalDpi xmlns:a14="http://schemas.microsoft.com/office/drawing/2010/main" val="0"/>
              </a:ext>
            </a:extLst>
          </a:blip>
          <a:srcRect t="28528" b="28528"/>
          <a:stretch/>
        </p:blipFill>
        <p:spPr>
          <a:xfrm>
            <a:off x="-1" y="4618352"/>
            <a:ext cx="24384001" cy="4572000"/>
          </a:xfrm>
          <a:prstGeom prst="rect">
            <a:avLst/>
          </a:prstGeom>
          <a:ln w="12700">
            <a:miter lim="400000"/>
          </a:ln>
        </p:spPr>
      </p:pic>
      <p:sp>
        <p:nvSpPr>
          <p:cNvPr id="2037" name="Single photo showcase"/>
          <p:cNvSpPr txBox="1"/>
          <p:nvPr/>
        </p:nvSpPr>
        <p:spPr>
          <a:xfrm>
            <a:off x="4212458" y="1866630"/>
            <a:ext cx="17792672" cy="13490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a:lnSpc>
                <a:spcPct val="90000"/>
              </a:lnSpc>
              <a:defRPr sz="9000" spc="0">
                <a:latin typeface="+mn-lt"/>
                <a:ea typeface="+mn-ea"/>
                <a:cs typeface="+mn-cs"/>
                <a:sym typeface="Montserrat Bold"/>
              </a:defRPr>
            </a:pPr>
            <a:r>
              <a:rPr lang="en-IN" dirty="0"/>
              <a:t>Our </a:t>
            </a:r>
            <a:r>
              <a:rPr lang="en-IN" dirty="0">
                <a:solidFill>
                  <a:srgbClr val="D5D5D5"/>
                </a:solidFill>
              </a:rPr>
              <a:t>Services</a:t>
            </a:r>
          </a:p>
        </p:txBody>
      </p:sp>
      <p:sp>
        <p:nvSpPr>
          <p:cNvPr id="2038" name="Shape"/>
          <p:cNvSpPr/>
          <p:nvPr/>
        </p:nvSpPr>
        <p:spPr>
          <a:xfrm>
            <a:off x="2378871" y="1974580"/>
            <a:ext cx="1179414" cy="1270001"/>
          </a:xfrm>
          <a:custGeom>
            <a:avLst/>
            <a:gdLst/>
            <a:ahLst/>
            <a:cxnLst>
              <a:cxn ang="0">
                <a:pos x="wd2" y="hd2"/>
              </a:cxn>
              <a:cxn ang="5400000">
                <a:pos x="wd2" y="hd2"/>
              </a:cxn>
              <a:cxn ang="10800000">
                <a:pos x="wd2" y="hd2"/>
              </a:cxn>
              <a:cxn ang="16200000">
                <a:pos x="wd2" y="hd2"/>
              </a:cxn>
            </a:cxnLst>
            <a:rect l="0" t="0" r="r" b="b"/>
            <a:pathLst>
              <a:path w="21540" h="21558" extrusionOk="0">
                <a:moveTo>
                  <a:pt x="9944" y="0"/>
                </a:moveTo>
                <a:cubicBezTo>
                  <a:pt x="9666" y="0"/>
                  <a:pt x="9386" y="56"/>
                  <a:pt x="9128" y="168"/>
                </a:cubicBezTo>
                <a:cubicBezTo>
                  <a:pt x="8925" y="256"/>
                  <a:pt x="8742" y="375"/>
                  <a:pt x="8583" y="523"/>
                </a:cubicBezTo>
                <a:cubicBezTo>
                  <a:pt x="8424" y="670"/>
                  <a:pt x="8296" y="840"/>
                  <a:pt x="8201" y="1029"/>
                </a:cubicBezTo>
                <a:cubicBezTo>
                  <a:pt x="7961" y="1508"/>
                  <a:pt x="7961" y="2062"/>
                  <a:pt x="8201" y="2541"/>
                </a:cubicBezTo>
                <a:cubicBezTo>
                  <a:pt x="8278" y="2689"/>
                  <a:pt x="8405" y="2847"/>
                  <a:pt x="8587" y="3036"/>
                </a:cubicBezTo>
                <a:cubicBezTo>
                  <a:pt x="8769" y="3224"/>
                  <a:pt x="9008" y="3443"/>
                  <a:pt x="9304" y="3718"/>
                </a:cubicBezTo>
                <a:lnTo>
                  <a:pt x="16901" y="10778"/>
                </a:lnTo>
                <a:lnTo>
                  <a:pt x="9304" y="17838"/>
                </a:lnTo>
                <a:cubicBezTo>
                  <a:pt x="9008" y="18114"/>
                  <a:pt x="8769" y="18332"/>
                  <a:pt x="8587" y="18521"/>
                </a:cubicBezTo>
                <a:cubicBezTo>
                  <a:pt x="8405" y="18709"/>
                  <a:pt x="8278" y="18867"/>
                  <a:pt x="8201" y="19015"/>
                </a:cubicBezTo>
                <a:cubicBezTo>
                  <a:pt x="7961" y="19494"/>
                  <a:pt x="7961" y="20048"/>
                  <a:pt x="8201" y="20527"/>
                </a:cubicBezTo>
                <a:cubicBezTo>
                  <a:pt x="8296" y="20716"/>
                  <a:pt x="8424" y="20886"/>
                  <a:pt x="8583" y="21034"/>
                </a:cubicBezTo>
                <a:cubicBezTo>
                  <a:pt x="8742" y="21181"/>
                  <a:pt x="8925" y="21301"/>
                  <a:pt x="9128" y="21389"/>
                </a:cubicBezTo>
                <a:cubicBezTo>
                  <a:pt x="9514" y="21556"/>
                  <a:pt x="9951" y="21600"/>
                  <a:pt x="10360" y="21516"/>
                </a:cubicBezTo>
                <a:cubicBezTo>
                  <a:pt x="10496" y="21488"/>
                  <a:pt x="10630" y="21444"/>
                  <a:pt x="10759" y="21389"/>
                </a:cubicBezTo>
                <a:cubicBezTo>
                  <a:pt x="10918" y="21317"/>
                  <a:pt x="11084" y="21199"/>
                  <a:pt x="11287" y="21030"/>
                </a:cubicBezTo>
                <a:cubicBezTo>
                  <a:pt x="11489" y="20860"/>
                  <a:pt x="11725" y="20639"/>
                  <a:pt x="12021" y="20363"/>
                </a:cubicBezTo>
                <a:lnTo>
                  <a:pt x="20257" y="12709"/>
                </a:lnTo>
                <a:cubicBezTo>
                  <a:pt x="20394" y="12582"/>
                  <a:pt x="20517" y="12470"/>
                  <a:pt x="20626" y="12366"/>
                </a:cubicBezTo>
                <a:cubicBezTo>
                  <a:pt x="20735" y="12262"/>
                  <a:pt x="20834" y="12168"/>
                  <a:pt x="20922" y="12078"/>
                </a:cubicBezTo>
                <a:cubicBezTo>
                  <a:pt x="20939" y="12064"/>
                  <a:pt x="20961" y="12058"/>
                  <a:pt x="20978" y="12043"/>
                </a:cubicBezTo>
                <a:cubicBezTo>
                  <a:pt x="21136" y="11895"/>
                  <a:pt x="21265" y="11725"/>
                  <a:pt x="21360" y="11536"/>
                </a:cubicBezTo>
                <a:cubicBezTo>
                  <a:pt x="21480" y="11297"/>
                  <a:pt x="21540" y="11036"/>
                  <a:pt x="21540" y="10778"/>
                </a:cubicBezTo>
                <a:cubicBezTo>
                  <a:pt x="21540" y="10649"/>
                  <a:pt x="21527" y="10518"/>
                  <a:pt x="21497" y="10391"/>
                </a:cubicBezTo>
                <a:cubicBezTo>
                  <a:pt x="21467" y="10264"/>
                  <a:pt x="21420" y="10140"/>
                  <a:pt x="21360" y="10020"/>
                </a:cubicBezTo>
                <a:cubicBezTo>
                  <a:pt x="21265" y="9831"/>
                  <a:pt x="21136" y="9661"/>
                  <a:pt x="20978" y="9514"/>
                </a:cubicBezTo>
                <a:cubicBezTo>
                  <a:pt x="20961" y="9498"/>
                  <a:pt x="20939" y="9493"/>
                  <a:pt x="20922" y="9478"/>
                </a:cubicBezTo>
                <a:cubicBezTo>
                  <a:pt x="20834" y="9388"/>
                  <a:pt x="20735" y="9294"/>
                  <a:pt x="20626" y="9190"/>
                </a:cubicBezTo>
                <a:cubicBezTo>
                  <a:pt x="20517" y="9087"/>
                  <a:pt x="20394" y="8975"/>
                  <a:pt x="20257" y="8847"/>
                </a:cubicBezTo>
                <a:lnTo>
                  <a:pt x="12021" y="1193"/>
                </a:lnTo>
                <a:cubicBezTo>
                  <a:pt x="11725" y="918"/>
                  <a:pt x="11489" y="696"/>
                  <a:pt x="11287" y="527"/>
                </a:cubicBezTo>
                <a:cubicBezTo>
                  <a:pt x="11084" y="357"/>
                  <a:pt x="10918" y="239"/>
                  <a:pt x="10759" y="168"/>
                </a:cubicBezTo>
                <a:cubicBezTo>
                  <a:pt x="10501" y="56"/>
                  <a:pt x="10221" y="0"/>
                  <a:pt x="9944" y="0"/>
                </a:cubicBezTo>
                <a:close/>
                <a:moveTo>
                  <a:pt x="1922" y="2708"/>
                </a:moveTo>
                <a:cubicBezTo>
                  <a:pt x="1644" y="2708"/>
                  <a:pt x="1364" y="2764"/>
                  <a:pt x="1107" y="2876"/>
                </a:cubicBezTo>
                <a:cubicBezTo>
                  <a:pt x="904" y="2964"/>
                  <a:pt x="720" y="3084"/>
                  <a:pt x="562" y="3231"/>
                </a:cubicBezTo>
                <a:cubicBezTo>
                  <a:pt x="403" y="3378"/>
                  <a:pt x="274" y="3549"/>
                  <a:pt x="180" y="3738"/>
                </a:cubicBezTo>
                <a:cubicBezTo>
                  <a:pt x="-60" y="4217"/>
                  <a:pt x="-60" y="4770"/>
                  <a:pt x="180" y="5249"/>
                </a:cubicBezTo>
                <a:cubicBezTo>
                  <a:pt x="257" y="5398"/>
                  <a:pt x="384" y="5556"/>
                  <a:pt x="566" y="5744"/>
                </a:cubicBezTo>
                <a:cubicBezTo>
                  <a:pt x="748" y="5932"/>
                  <a:pt x="987" y="6151"/>
                  <a:pt x="1283" y="6426"/>
                </a:cubicBezTo>
                <a:lnTo>
                  <a:pt x="5965" y="10778"/>
                </a:lnTo>
                <a:lnTo>
                  <a:pt x="1283" y="15130"/>
                </a:lnTo>
                <a:cubicBezTo>
                  <a:pt x="987" y="15405"/>
                  <a:pt x="748" y="15624"/>
                  <a:pt x="566" y="15812"/>
                </a:cubicBezTo>
                <a:cubicBezTo>
                  <a:pt x="384" y="16000"/>
                  <a:pt x="257" y="16159"/>
                  <a:pt x="180" y="16307"/>
                </a:cubicBezTo>
                <a:cubicBezTo>
                  <a:pt x="-60" y="16786"/>
                  <a:pt x="-60" y="17339"/>
                  <a:pt x="180" y="17819"/>
                </a:cubicBezTo>
                <a:cubicBezTo>
                  <a:pt x="274" y="18007"/>
                  <a:pt x="403" y="18178"/>
                  <a:pt x="562" y="18325"/>
                </a:cubicBezTo>
                <a:cubicBezTo>
                  <a:pt x="720" y="18472"/>
                  <a:pt x="904" y="18592"/>
                  <a:pt x="1107" y="18680"/>
                </a:cubicBezTo>
                <a:cubicBezTo>
                  <a:pt x="1493" y="18848"/>
                  <a:pt x="1929" y="18892"/>
                  <a:pt x="2338" y="18808"/>
                </a:cubicBezTo>
                <a:cubicBezTo>
                  <a:pt x="2475" y="18780"/>
                  <a:pt x="2610" y="18737"/>
                  <a:pt x="2738" y="18680"/>
                </a:cubicBezTo>
                <a:cubicBezTo>
                  <a:pt x="2897" y="18608"/>
                  <a:pt x="3063" y="18490"/>
                  <a:pt x="3265" y="18321"/>
                </a:cubicBezTo>
                <a:cubicBezTo>
                  <a:pt x="3468" y="18152"/>
                  <a:pt x="3703" y="17930"/>
                  <a:pt x="3999" y="17655"/>
                </a:cubicBezTo>
                <a:lnTo>
                  <a:pt x="9321" y="12709"/>
                </a:lnTo>
                <a:cubicBezTo>
                  <a:pt x="9458" y="12582"/>
                  <a:pt x="9581" y="12470"/>
                  <a:pt x="9690" y="12366"/>
                </a:cubicBezTo>
                <a:cubicBezTo>
                  <a:pt x="9799" y="12262"/>
                  <a:pt x="9898" y="12168"/>
                  <a:pt x="9986" y="12078"/>
                </a:cubicBezTo>
                <a:cubicBezTo>
                  <a:pt x="10004" y="12064"/>
                  <a:pt x="10026" y="12058"/>
                  <a:pt x="10042" y="12043"/>
                </a:cubicBezTo>
                <a:cubicBezTo>
                  <a:pt x="10201" y="11895"/>
                  <a:pt x="10329" y="11725"/>
                  <a:pt x="10424" y="11536"/>
                </a:cubicBezTo>
                <a:cubicBezTo>
                  <a:pt x="10544" y="11297"/>
                  <a:pt x="10604" y="11036"/>
                  <a:pt x="10604" y="10778"/>
                </a:cubicBezTo>
                <a:cubicBezTo>
                  <a:pt x="10604" y="10649"/>
                  <a:pt x="10592" y="10518"/>
                  <a:pt x="10562" y="10391"/>
                </a:cubicBezTo>
                <a:cubicBezTo>
                  <a:pt x="10532" y="10264"/>
                  <a:pt x="10484" y="10140"/>
                  <a:pt x="10424" y="10020"/>
                </a:cubicBezTo>
                <a:cubicBezTo>
                  <a:pt x="10329" y="9831"/>
                  <a:pt x="10201" y="9661"/>
                  <a:pt x="10042" y="9514"/>
                </a:cubicBezTo>
                <a:cubicBezTo>
                  <a:pt x="10026" y="9498"/>
                  <a:pt x="10004" y="9493"/>
                  <a:pt x="9986" y="9478"/>
                </a:cubicBezTo>
                <a:cubicBezTo>
                  <a:pt x="9898" y="9388"/>
                  <a:pt x="9799" y="9294"/>
                  <a:pt x="9690" y="9190"/>
                </a:cubicBezTo>
                <a:cubicBezTo>
                  <a:pt x="9581" y="9087"/>
                  <a:pt x="9458" y="8975"/>
                  <a:pt x="9321" y="8847"/>
                </a:cubicBezTo>
                <a:lnTo>
                  <a:pt x="3999" y="3901"/>
                </a:lnTo>
                <a:cubicBezTo>
                  <a:pt x="3703" y="3626"/>
                  <a:pt x="3468" y="3404"/>
                  <a:pt x="3265" y="3235"/>
                </a:cubicBezTo>
                <a:cubicBezTo>
                  <a:pt x="3063" y="3066"/>
                  <a:pt x="2897" y="2948"/>
                  <a:pt x="2738" y="2876"/>
                </a:cubicBezTo>
                <a:cubicBezTo>
                  <a:pt x="2480" y="2764"/>
                  <a:pt x="2200" y="2708"/>
                  <a:pt x="1922" y="2708"/>
                </a:cubicBezTo>
                <a:close/>
              </a:path>
            </a:pathLst>
          </a:custGeom>
          <a:solidFill>
            <a:srgbClr val="85FF3C"/>
          </a:solidFill>
          <a:ln w="12700">
            <a:miter lim="400000"/>
          </a:ln>
        </p:spPr>
        <p:txBody>
          <a:bodyPr lIns="50800" tIns="50800" rIns="50800" bIns="508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nvGrpSpPr>
          <p:cNvPr id="2043" name="Group"/>
          <p:cNvGrpSpPr/>
          <p:nvPr/>
        </p:nvGrpSpPr>
        <p:grpSpPr>
          <a:xfrm>
            <a:off x="2378870" y="8682963"/>
            <a:ext cx="6443853" cy="4695609"/>
            <a:chOff x="-1" y="0"/>
            <a:chExt cx="6443852" cy="4695605"/>
          </a:xfrm>
        </p:grpSpPr>
        <p:sp>
          <p:nvSpPr>
            <p:cNvPr id="2039" name="Title here"/>
            <p:cNvSpPr/>
            <p:nvPr/>
          </p:nvSpPr>
          <p:spPr>
            <a:xfrm>
              <a:off x="0" y="1240057"/>
              <a:ext cx="6443851" cy="98975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IN" dirty="0"/>
                <a:t>AI-Driven People Analytics &amp; Insights</a:t>
              </a:r>
              <a:endParaRPr dirty="0"/>
            </a:p>
          </p:txBody>
        </p:sp>
        <p:sp>
          <p:nvSpPr>
            <p:cNvPr id="2040" name="Circle"/>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41" name="Lorem ipsum dolor sit elit, consect loreretur nisi ipsum sit elit, Lorem ipsum. Lorem ipsum Lorem ipsum dolor sit elit, consect loreretur nisi ipsum"/>
            <p:cNvSpPr/>
            <p:nvPr/>
          </p:nvSpPr>
          <p:spPr>
            <a:xfrm>
              <a:off x="-1" y="2564190"/>
              <a:ext cx="6443852" cy="213141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defRPr>
                  <a:solidFill>
                    <a:srgbClr val="FFFFFF"/>
                  </a:solidFill>
                </a:defRPr>
              </a:lvl1pPr>
            </a:lstStyle>
            <a:p>
              <a:pPr algn="just"/>
              <a:r>
                <a:rPr lang="en-US" dirty="0"/>
                <a:t>In the modern business landscape, data is no longer just a support tool—it’s a strategic driver. At </a:t>
              </a:r>
              <a:r>
                <a:rPr lang="en-US" dirty="0" err="1"/>
                <a:t>Humanxt</a:t>
              </a:r>
              <a:r>
                <a:rPr lang="en-US" dirty="0"/>
                <a:t>, we bring the power of artificial intelligence to human resources with our cutting-edge </a:t>
              </a:r>
              <a:r>
                <a:rPr lang="en-US" b="1" dirty="0"/>
                <a:t>AI-driven HR analytics services in UAE</a:t>
              </a:r>
              <a:r>
                <a:rPr lang="en-US" dirty="0"/>
                <a:t>. </a:t>
              </a:r>
            </a:p>
          </p:txBody>
        </p:sp>
        <p:sp>
          <p:nvSpPr>
            <p:cNvPr id="2042" name="1"/>
            <p:cNvSpPr/>
            <p:nvPr/>
          </p:nvSpPr>
          <p:spPr>
            <a:xfrm>
              <a:off x="79362" y="138848"/>
              <a:ext cx="690474"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t>1</a:t>
              </a:r>
            </a:p>
          </p:txBody>
        </p:sp>
      </p:grpSp>
      <p:grpSp>
        <p:nvGrpSpPr>
          <p:cNvPr id="3" name="Group 2">
            <a:extLst>
              <a:ext uri="{FF2B5EF4-FFF2-40B4-BE49-F238E27FC236}">
                <a16:creationId xmlns:a16="http://schemas.microsoft.com/office/drawing/2014/main" id="{2743718D-1CC5-A863-E5C4-54A72292C0B1}"/>
              </a:ext>
            </a:extLst>
          </p:cNvPr>
          <p:cNvGrpSpPr/>
          <p:nvPr/>
        </p:nvGrpSpPr>
        <p:grpSpPr>
          <a:xfrm>
            <a:off x="9561741" y="8682963"/>
            <a:ext cx="7161951" cy="4356185"/>
            <a:chOff x="9561741" y="8682963"/>
            <a:chExt cx="7161951" cy="4356185"/>
          </a:xfrm>
        </p:grpSpPr>
        <p:sp>
          <p:nvSpPr>
            <p:cNvPr id="2044" name="Title here"/>
            <p:cNvSpPr/>
            <p:nvPr/>
          </p:nvSpPr>
          <p:spPr>
            <a:xfrm>
              <a:off x="9651999" y="9923021"/>
              <a:ext cx="7071693" cy="14514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Talent Acquisition and Assessment Services in UAE and Gulf</a:t>
              </a:r>
              <a:endParaRPr dirty="0"/>
            </a:p>
          </p:txBody>
        </p:sp>
        <p:sp>
          <p:nvSpPr>
            <p:cNvPr id="2045" name="Circle"/>
            <p:cNvSpPr/>
            <p:nvPr/>
          </p:nvSpPr>
          <p:spPr>
            <a:xfrm>
              <a:off x="9652000" y="8682963"/>
              <a:ext cx="849198" cy="849199"/>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sp>
          <p:nvSpPr>
            <p:cNvPr id="2046" name="Lorem ipsum dolor sit elit, consect loreretur nisi ipsum sit elit, Lorem ipsum. Lorem ipsum Lorem ipsum dolor sit elit, consect loreretur nisi ipsum"/>
            <p:cNvSpPr/>
            <p:nvPr/>
          </p:nvSpPr>
          <p:spPr>
            <a:xfrm>
              <a:off x="9561741" y="11324961"/>
              <a:ext cx="6733059" cy="171418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defRPr>
                  <a:solidFill>
                    <a:srgbClr val="FFFFFF"/>
                  </a:solidFill>
                </a:defRPr>
              </a:lvl1pPr>
            </a:lstStyle>
            <a:p>
              <a:pPr algn="just"/>
              <a:r>
                <a:rPr lang="en-US" dirty="0"/>
                <a:t>Finding the right talent is more than just filling roles—it’s about building a team that drives your business forward. At </a:t>
              </a:r>
              <a:r>
                <a:rPr lang="en-US" dirty="0" err="1"/>
                <a:t>Humanxt</a:t>
              </a:r>
              <a:r>
                <a:rPr lang="en-US" dirty="0"/>
                <a:t>, our talent acquisition services in UAE are designed to do exactly that.</a:t>
              </a:r>
              <a:endParaRPr dirty="0"/>
            </a:p>
          </p:txBody>
        </p:sp>
        <p:sp>
          <p:nvSpPr>
            <p:cNvPr id="2047" name="2"/>
            <p:cNvSpPr/>
            <p:nvPr/>
          </p:nvSpPr>
          <p:spPr>
            <a:xfrm>
              <a:off x="9731362" y="8821811"/>
              <a:ext cx="690474"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2</a:t>
              </a:r>
            </a:p>
          </p:txBody>
        </p:sp>
      </p:grpSp>
      <p:grpSp>
        <p:nvGrpSpPr>
          <p:cNvPr id="4" name="Group 3">
            <a:extLst>
              <a:ext uri="{FF2B5EF4-FFF2-40B4-BE49-F238E27FC236}">
                <a16:creationId xmlns:a16="http://schemas.microsoft.com/office/drawing/2014/main" id="{E6985BFE-3FE0-F899-FA66-A9CF48B9F7BB}"/>
              </a:ext>
            </a:extLst>
          </p:cNvPr>
          <p:cNvGrpSpPr/>
          <p:nvPr/>
        </p:nvGrpSpPr>
        <p:grpSpPr>
          <a:xfrm>
            <a:off x="16925129" y="8682962"/>
            <a:ext cx="7071694" cy="4361859"/>
            <a:chOff x="16925129" y="8682962"/>
            <a:chExt cx="7071694" cy="4361859"/>
          </a:xfrm>
        </p:grpSpPr>
        <p:sp>
          <p:nvSpPr>
            <p:cNvPr id="2049" name="Title here"/>
            <p:cNvSpPr/>
            <p:nvPr/>
          </p:nvSpPr>
          <p:spPr>
            <a:xfrm>
              <a:off x="16925129" y="9945428"/>
              <a:ext cx="7071694" cy="9897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Employee Onboarding and Verification Services in UAE</a:t>
              </a:r>
              <a:endParaRPr dirty="0"/>
            </a:p>
          </p:txBody>
        </p:sp>
        <p:sp>
          <p:nvSpPr>
            <p:cNvPr id="2050" name="Circle"/>
            <p:cNvSpPr/>
            <p:nvPr/>
          </p:nvSpPr>
          <p:spPr>
            <a:xfrm>
              <a:off x="16925129" y="8682962"/>
              <a:ext cx="849198" cy="774663"/>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51" name="Lorem ipsum dolor sit elit, consect loreretur nisi ipsum sit elit, Lorem ipsum. Lorem ipsum Lorem ipsum dolor sit elit, consect loreretur nisi ipsum"/>
            <p:cNvSpPr/>
            <p:nvPr/>
          </p:nvSpPr>
          <p:spPr>
            <a:xfrm>
              <a:off x="17018000" y="11328902"/>
              <a:ext cx="6733059" cy="171591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defRPr>
                  <a:solidFill>
                    <a:srgbClr val="FFFFFF"/>
                  </a:solidFill>
                </a:defRPr>
              </a:lvl1pPr>
            </a:lstStyle>
            <a:p>
              <a:pPr algn="just"/>
              <a:r>
                <a:rPr lang="en-US" dirty="0"/>
                <a:t>At HUMANXT, we simplify and strengthen the way businesses welcome and verify new employees with our employee onboarding UAE and background verification Dubai services.</a:t>
              </a:r>
              <a:endParaRPr dirty="0"/>
            </a:p>
          </p:txBody>
        </p:sp>
        <p:sp>
          <p:nvSpPr>
            <p:cNvPr id="2052" name="3"/>
            <p:cNvSpPr/>
            <p:nvPr/>
          </p:nvSpPr>
          <p:spPr>
            <a:xfrm>
              <a:off x="17004491" y="8809623"/>
              <a:ext cx="690474"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3</a:t>
              </a:r>
            </a:p>
          </p:txBody>
        </p:sp>
      </p:grpSp>
      <p:sp>
        <p:nvSpPr>
          <p:cNvPr id="2" name="Lorem ipsum dolor sit elit, consect loreretur adipiscing nisi aute. ipsum sit elit, Lorem ipsum dolor sit elit,">
            <a:extLst>
              <a:ext uri="{FF2B5EF4-FFF2-40B4-BE49-F238E27FC236}">
                <a16:creationId xmlns:a16="http://schemas.microsoft.com/office/drawing/2014/main" id="{AA5813CC-B949-45ED-9904-6EFE9E0BBC5B}"/>
              </a:ext>
            </a:extLst>
          </p:cNvPr>
          <p:cNvSpPr txBox="1"/>
          <p:nvPr/>
        </p:nvSpPr>
        <p:spPr>
          <a:xfrm>
            <a:off x="4313376" y="3090652"/>
            <a:ext cx="16149111" cy="13004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At </a:t>
            </a:r>
            <a:r>
              <a:rPr lang="en-US" dirty="0" err="1"/>
              <a:t>Humanxt</a:t>
            </a:r>
            <a:r>
              <a:rPr lang="en-US" dirty="0"/>
              <a:t>, we empower organizations by blending people expertise with next-gen HR technology. Our services span </a:t>
            </a:r>
            <a:r>
              <a:rPr lang="en-US" b="1" dirty="0"/>
              <a:t>talent acquisition &amp; assessments, employee onboarding &amp; verification, HR policy &amp; compliance, payroll outsourcing, and AI-driven people analytics</a:t>
            </a:r>
            <a:r>
              <a:rPr lang="en-US" dirty="0"/>
              <a:t>. From building future-ready job architectures to streamlining HR operations, we help businesses unlock human potential and achieve lasting growth.</a:t>
            </a:r>
            <a:endParaRPr dirty="0"/>
          </a:p>
        </p:txBody>
      </p:sp>
      <p:pic>
        <p:nvPicPr>
          <p:cNvPr id="5" name="Picture 4">
            <a:extLst>
              <a:ext uri="{FF2B5EF4-FFF2-40B4-BE49-F238E27FC236}">
                <a16:creationId xmlns:a16="http://schemas.microsoft.com/office/drawing/2014/main" id="{99218148-6391-1EED-68A4-7E7C4A4C92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cSld>
  <p:clrMapOvr>
    <a:masterClrMapping/>
  </p:clrMapOvr>
  <p:transition spd="slow" advTm="30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1" nodeType="afterEffect">
                                  <p:stCondLst>
                                    <p:cond delay="0"/>
                                  </p:stCondLst>
                                  <p:iterate>
                                    <p:tmAbs val="0"/>
                                  </p:iterate>
                                  <p:childTnLst>
                                    <p:set>
                                      <p:cBhvr>
                                        <p:cTn id="6" fill="hold"/>
                                        <p:tgtEl>
                                          <p:spTgt spid="2036"/>
                                        </p:tgtEl>
                                        <p:attrNameLst>
                                          <p:attrName>style.visibility</p:attrName>
                                        </p:attrNameLst>
                                      </p:cBhvr>
                                      <p:to>
                                        <p:strVal val="visible"/>
                                      </p:to>
                                    </p:set>
                                    <p:anim calcmode="lin" valueType="num">
                                      <p:cBhvr>
                                        <p:cTn id="7" dur="1000" fill="hold"/>
                                        <p:tgtEl>
                                          <p:spTgt spid="2036"/>
                                        </p:tgtEl>
                                        <p:attrNameLst>
                                          <p:attrName>ppt_x</p:attrName>
                                        </p:attrNameLst>
                                      </p:cBhvr>
                                      <p:tavLst>
                                        <p:tav tm="0">
                                          <p:val>
                                            <p:strVal val="#ppt_x"/>
                                          </p:val>
                                        </p:tav>
                                        <p:tav tm="100000">
                                          <p:val>
                                            <p:strVal val="#ppt_x"/>
                                          </p:val>
                                        </p:tav>
                                      </p:tavLst>
                                    </p:anim>
                                    <p:anim calcmode="lin" valueType="num">
                                      <p:cBhvr>
                                        <p:cTn id="8" dur="1000" fill="hold"/>
                                        <p:tgtEl>
                                          <p:spTgt spid="2036"/>
                                        </p:tgtEl>
                                        <p:attrNameLst>
                                          <p:attrName>ppt_y</p:attrName>
                                        </p:attrNameLst>
                                      </p:cBhvr>
                                      <p:tavLst>
                                        <p:tav tm="0">
                                          <p:val>
                                            <p:strVal val="1+#ppt_h/2"/>
                                          </p:val>
                                        </p:tav>
                                        <p:tav tm="100000">
                                          <p:val>
                                            <p:strVal val="#ppt_y"/>
                                          </p:val>
                                        </p:tav>
                                      </p:tavLst>
                                    </p:anim>
                                  </p:childTnLst>
                                </p:cTn>
                              </p:par>
                              <p:par>
                                <p:cTn id="9" presetID="2" presetClass="entr" presetSubtype="8" accel="50000" decel="50000" fill="hold" grpId="2" nodeType="withEffect">
                                  <p:stCondLst>
                                    <p:cond delay="500"/>
                                  </p:stCondLst>
                                  <p:iterate>
                                    <p:tmAbs val="0"/>
                                  </p:iterate>
                                  <p:childTnLst>
                                    <p:set>
                                      <p:cBhvr>
                                        <p:cTn id="10" fill="hold"/>
                                        <p:tgtEl>
                                          <p:spTgt spid="2035"/>
                                        </p:tgtEl>
                                        <p:attrNameLst>
                                          <p:attrName>style.visibility</p:attrName>
                                        </p:attrNameLst>
                                      </p:cBhvr>
                                      <p:to>
                                        <p:strVal val="visible"/>
                                      </p:to>
                                    </p:set>
                                    <p:anim calcmode="lin" valueType="num">
                                      <p:cBhvr>
                                        <p:cTn id="11" dur="1000" fill="hold"/>
                                        <p:tgtEl>
                                          <p:spTgt spid="2035"/>
                                        </p:tgtEl>
                                        <p:attrNameLst>
                                          <p:attrName>ppt_x</p:attrName>
                                        </p:attrNameLst>
                                      </p:cBhvr>
                                      <p:tavLst>
                                        <p:tav tm="0">
                                          <p:val>
                                            <p:strVal val="0-#ppt_w/2"/>
                                          </p:val>
                                        </p:tav>
                                        <p:tav tm="100000">
                                          <p:val>
                                            <p:strVal val="#ppt_x"/>
                                          </p:val>
                                        </p:tav>
                                      </p:tavLst>
                                    </p:anim>
                                    <p:anim calcmode="lin" valueType="num">
                                      <p:cBhvr>
                                        <p:cTn id="12" dur="1000" fill="hold"/>
                                        <p:tgtEl>
                                          <p:spTgt spid="2035"/>
                                        </p:tgtEl>
                                        <p:attrNameLst>
                                          <p:attrName>ppt_y</p:attrName>
                                        </p:attrNameLst>
                                      </p:cBhvr>
                                      <p:tavLst>
                                        <p:tav tm="0">
                                          <p:val>
                                            <p:strVal val="#ppt_y"/>
                                          </p:val>
                                        </p:tav>
                                        <p:tav tm="100000">
                                          <p:val>
                                            <p:strVal val="#ppt_y"/>
                                          </p:val>
                                        </p:tav>
                                      </p:tavLst>
                                    </p:anim>
                                  </p:childTnLst>
                                </p:cTn>
                              </p:par>
                              <p:par>
                                <p:cTn id="13" presetID="2" presetClass="entr" presetSubtype="8" accel="50000" decel="50000" fill="hold" grpId="3" nodeType="withEffect">
                                  <p:stCondLst>
                                    <p:cond delay="1000"/>
                                  </p:stCondLst>
                                  <p:iterate>
                                    <p:tmAbs val="0"/>
                                  </p:iterate>
                                  <p:childTnLst>
                                    <p:set>
                                      <p:cBhvr>
                                        <p:cTn id="14" fill="hold"/>
                                        <p:tgtEl>
                                          <p:spTgt spid="2038"/>
                                        </p:tgtEl>
                                        <p:attrNameLst>
                                          <p:attrName>style.visibility</p:attrName>
                                        </p:attrNameLst>
                                      </p:cBhvr>
                                      <p:to>
                                        <p:strVal val="visible"/>
                                      </p:to>
                                    </p:set>
                                    <p:anim calcmode="lin" valueType="num">
                                      <p:cBhvr>
                                        <p:cTn id="15" dur="1000" fill="hold"/>
                                        <p:tgtEl>
                                          <p:spTgt spid="2038"/>
                                        </p:tgtEl>
                                        <p:attrNameLst>
                                          <p:attrName>ppt_x</p:attrName>
                                        </p:attrNameLst>
                                      </p:cBhvr>
                                      <p:tavLst>
                                        <p:tav tm="0">
                                          <p:val>
                                            <p:strVal val="0-#ppt_w/2"/>
                                          </p:val>
                                        </p:tav>
                                        <p:tav tm="100000">
                                          <p:val>
                                            <p:strVal val="#ppt_x"/>
                                          </p:val>
                                        </p:tav>
                                      </p:tavLst>
                                    </p:anim>
                                    <p:anim calcmode="lin" valueType="num">
                                      <p:cBhvr>
                                        <p:cTn id="16" dur="1000" fill="hold"/>
                                        <p:tgtEl>
                                          <p:spTgt spid="2038"/>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4" nodeType="withEffect">
                                  <p:stCondLst>
                                    <p:cond delay="1500"/>
                                  </p:stCondLst>
                                  <p:iterate>
                                    <p:tmAbs val="0"/>
                                  </p:iterate>
                                  <p:childTnLst>
                                    <p:set>
                                      <p:cBhvr>
                                        <p:cTn id="18" fill="hold"/>
                                        <p:tgtEl>
                                          <p:spTgt spid="2043"/>
                                        </p:tgtEl>
                                        <p:attrNameLst>
                                          <p:attrName>style.visibility</p:attrName>
                                        </p:attrNameLst>
                                      </p:cBhvr>
                                      <p:to>
                                        <p:strVal val="visible"/>
                                      </p:to>
                                    </p:set>
                                    <p:anim calcmode="lin" valueType="num">
                                      <p:cBhvr>
                                        <p:cTn id="19" dur="1000" fill="hold"/>
                                        <p:tgtEl>
                                          <p:spTgt spid="2043"/>
                                        </p:tgtEl>
                                        <p:attrNameLst>
                                          <p:attrName>ppt_x</p:attrName>
                                        </p:attrNameLst>
                                      </p:cBhvr>
                                      <p:tavLst>
                                        <p:tav tm="0">
                                          <p:val>
                                            <p:strVal val="#ppt_x"/>
                                          </p:val>
                                        </p:tav>
                                        <p:tav tm="100000">
                                          <p:val>
                                            <p:strVal val="#ppt_x"/>
                                          </p:val>
                                        </p:tav>
                                      </p:tavLst>
                                    </p:anim>
                                    <p:anim calcmode="lin" valueType="num">
                                      <p:cBhvr>
                                        <p:cTn id="20" dur="1000" fill="hold"/>
                                        <p:tgtEl>
                                          <p:spTgt spid="2043"/>
                                        </p:tgtEl>
                                        <p:attrNameLst>
                                          <p:attrName>ppt_y</p:attrName>
                                        </p:attrNameLst>
                                      </p:cBhvr>
                                      <p:tavLst>
                                        <p:tav tm="0">
                                          <p:val>
                                            <p:strVal val="1+#ppt_h/2"/>
                                          </p:val>
                                        </p:tav>
                                        <p:tav tm="100000">
                                          <p:val>
                                            <p:strVal val="#ppt_y"/>
                                          </p:val>
                                        </p:tav>
                                      </p:tavLst>
                                    </p:anim>
                                  </p:childTnLst>
                                </p:cTn>
                              </p:par>
                            </p:childTnLst>
                          </p:cTn>
                        </p:par>
                        <p:par>
                          <p:cTn id="21" fill="hold">
                            <p:stCondLst>
                              <p:cond delay="25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par>
                          <p:cTn id="26" fill="hold">
                            <p:stCondLst>
                              <p:cond delay="3000"/>
                            </p:stCondLst>
                            <p:childTnLst>
                              <p:par>
                                <p:cTn id="27" presetID="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5" grpId="2" animBg="1" advAuto="0"/>
      <p:bldP spid="2036" grpId="1" animBg="1" advAuto="0"/>
      <p:bldP spid="2038" grpId="3" animBg="1" advAuto="0"/>
      <p:bldP spid="2043" grpId="4"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7D37C-7F31-46CA-1EC6-B84D7521CA44}"/>
            </a:ext>
          </a:extLst>
        </p:cNvPr>
        <p:cNvGrpSpPr/>
        <p:nvPr/>
      </p:nvGrpSpPr>
      <p:grpSpPr>
        <a:xfrm>
          <a:off x="0" y="0"/>
          <a:ext cx="0" cy="0"/>
          <a:chOff x="0" y="0"/>
          <a:chExt cx="0" cy="0"/>
        </a:xfrm>
      </p:grpSpPr>
      <p:sp>
        <p:nvSpPr>
          <p:cNvPr id="2035" name="Rectangle">
            <a:extLst>
              <a:ext uri="{FF2B5EF4-FFF2-40B4-BE49-F238E27FC236}">
                <a16:creationId xmlns:a16="http://schemas.microsoft.com/office/drawing/2014/main" id="{AE3F9923-391C-313B-38A3-A77D09735FB8}"/>
              </a:ext>
            </a:extLst>
          </p:cNvPr>
          <p:cNvSpPr/>
          <p:nvPr/>
        </p:nvSpPr>
        <p:spPr>
          <a:xfrm>
            <a:off x="0" y="9144000"/>
            <a:ext cx="24384001" cy="4572000"/>
          </a:xfrm>
          <a:prstGeom prst="rect">
            <a:avLst/>
          </a:prstGeom>
          <a:solidFill>
            <a:srgbClr val="454546"/>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pic>
        <p:nvPicPr>
          <p:cNvPr id="2036" name="a.jpg">
            <a:extLst>
              <a:ext uri="{FF2B5EF4-FFF2-40B4-BE49-F238E27FC236}">
                <a16:creationId xmlns:a16="http://schemas.microsoft.com/office/drawing/2014/main" id="{14FD1F97-99B2-E903-31E6-E1D5884EAD3F}"/>
              </a:ext>
            </a:extLst>
          </p:cNvPr>
          <p:cNvPicPr>
            <a:picLocks noChangeAspect="1"/>
          </p:cNvPicPr>
          <p:nvPr/>
        </p:nvPicPr>
        <p:blipFill>
          <a:blip r:embed="rId2">
            <a:extLst>
              <a:ext uri="{28A0092B-C50C-407E-A947-70E740481C1C}">
                <a14:useLocalDpi xmlns:a14="http://schemas.microsoft.com/office/drawing/2010/main" val="0"/>
              </a:ext>
            </a:extLst>
          </a:blip>
          <a:srcRect t="28528" b="28528"/>
          <a:stretch/>
        </p:blipFill>
        <p:spPr>
          <a:xfrm>
            <a:off x="-1" y="4618352"/>
            <a:ext cx="24384001" cy="4572000"/>
          </a:xfrm>
          <a:prstGeom prst="rect">
            <a:avLst/>
          </a:prstGeom>
          <a:ln w="12700">
            <a:miter lim="400000"/>
          </a:ln>
        </p:spPr>
      </p:pic>
      <p:sp>
        <p:nvSpPr>
          <p:cNvPr id="2037" name="Single photo showcase">
            <a:extLst>
              <a:ext uri="{FF2B5EF4-FFF2-40B4-BE49-F238E27FC236}">
                <a16:creationId xmlns:a16="http://schemas.microsoft.com/office/drawing/2014/main" id="{DBBA6ABA-E2A6-DE18-8530-E27D066FA5CC}"/>
              </a:ext>
            </a:extLst>
          </p:cNvPr>
          <p:cNvSpPr txBox="1"/>
          <p:nvPr/>
        </p:nvSpPr>
        <p:spPr>
          <a:xfrm>
            <a:off x="4212458" y="1866630"/>
            <a:ext cx="17792672" cy="13490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a:lnSpc>
                <a:spcPct val="90000"/>
              </a:lnSpc>
              <a:defRPr sz="9000" spc="0">
                <a:latin typeface="+mn-lt"/>
                <a:ea typeface="+mn-ea"/>
                <a:cs typeface="+mn-cs"/>
                <a:sym typeface="Montserrat Bold"/>
              </a:defRPr>
            </a:pPr>
            <a:r>
              <a:rPr lang="en-IN" dirty="0"/>
              <a:t>Our </a:t>
            </a:r>
            <a:r>
              <a:rPr lang="en-IN" dirty="0">
                <a:solidFill>
                  <a:srgbClr val="D5D5D5"/>
                </a:solidFill>
              </a:rPr>
              <a:t>Services</a:t>
            </a:r>
          </a:p>
        </p:txBody>
      </p:sp>
      <p:sp>
        <p:nvSpPr>
          <p:cNvPr id="2038" name="Shape">
            <a:extLst>
              <a:ext uri="{FF2B5EF4-FFF2-40B4-BE49-F238E27FC236}">
                <a16:creationId xmlns:a16="http://schemas.microsoft.com/office/drawing/2014/main" id="{AA5182FD-9245-586D-B444-CB6213EB12DD}"/>
              </a:ext>
            </a:extLst>
          </p:cNvPr>
          <p:cNvSpPr/>
          <p:nvPr/>
        </p:nvSpPr>
        <p:spPr>
          <a:xfrm>
            <a:off x="2378871" y="1974580"/>
            <a:ext cx="1179414" cy="1270001"/>
          </a:xfrm>
          <a:custGeom>
            <a:avLst/>
            <a:gdLst/>
            <a:ahLst/>
            <a:cxnLst>
              <a:cxn ang="0">
                <a:pos x="wd2" y="hd2"/>
              </a:cxn>
              <a:cxn ang="5400000">
                <a:pos x="wd2" y="hd2"/>
              </a:cxn>
              <a:cxn ang="10800000">
                <a:pos x="wd2" y="hd2"/>
              </a:cxn>
              <a:cxn ang="16200000">
                <a:pos x="wd2" y="hd2"/>
              </a:cxn>
            </a:cxnLst>
            <a:rect l="0" t="0" r="r" b="b"/>
            <a:pathLst>
              <a:path w="21540" h="21558" extrusionOk="0">
                <a:moveTo>
                  <a:pt x="9944" y="0"/>
                </a:moveTo>
                <a:cubicBezTo>
                  <a:pt x="9666" y="0"/>
                  <a:pt x="9386" y="56"/>
                  <a:pt x="9128" y="168"/>
                </a:cubicBezTo>
                <a:cubicBezTo>
                  <a:pt x="8925" y="256"/>
                  <a:pt x="8742" y="375"/>
                  <a:pt x="8583" y="523"/>
                </a:cubicBezTo>
                <a:cubicBezTo>
                  <a:pt x="8424" y="670"/>
                  <a:pt x="8296" y="840"/>
                  <a:pt x="8201" y="1029"/>
                </a:cubicBezTo>
                <a:cubicBezTo>
                  <a:pt x="7961" y="1508"/>
                  <a:pt x="7961" y="2062"/>
                  <a:pt x="8201" y="2541"/>
                </a:cubicBezTo>
                <a:cubicBezTo>
                  <a:pt x="8278" y="2689"/>
                  <a:pt x="8405" y="2847"/>
                  <a:pt x="8587" y="3036"/>
                </a:cubicBezTo>
                <a:cubicBezTo>
                  <a:pt x="8769" y="3224"/>
                  <a:pt x="9008" y="3443"/>
                  <a:pt x="9304" y="3718"/>
                </a:cubicBezTo>
                <a:lnTo>
                  <a:pt x="16901" y="10778"/>
                </a:lnTo>
                <a:lnTo>
                  <a:pt x="9304" y="17838"/>
                </a:lnTo>
                <a:cubicBezTo>
                  <a:pt x="9008" y="18114"/>
                  <a:pt x="8769" y="18332"/>
                  <a:pt x="8587" y="18521"/>
                </a:cubicBezTo>
                <a:cubicBezTo>
                  <a:pt x="8405" y="18709"/>
                  <a:pt x="8278" y="18867"/>
                  <a:pt x="8201" y="19015"/>
                </a:cubicBezTo>
                <a:cubicBezTo>
                  <a:pt x="7961" y="19494"/>
                  <a:pt x="7961" y="20048"/>
                  <a:pt x="8201" y="20527"/>
                </a:cubicBezTo>
                <a:cubicBezTo>
                  <a:pt x="8296" y="20716"/>
                  <a:pt x="8424" y="20886"/>
                  <a:pt x="8583" y="21034"/>
                </a:cubicBezTo>
                <a:cubicBezTo>
                  <a:pt x="8742" y="21181"/>
                  <a:pt x="8925" y="21301"/>
                  <a:pt x="9128" y="21389"/>
                </a:cubicBezTo>
                <a:cubicBezTo>
                  <a:pt x="9514" y="21556"/>
                  <a:pt x="9951" y="21600"/>
                  <a:pt x="10360" y="21516"/>
                </a:cubicBezTo>
                <a:cubicBezTo>
                  <a:pt x="10496" y="21488"/>
                  <a:pt x="10630" y="21444"/>
                  <a:pt x="10759" y="21389"/>
                </a:cubicBezTo>
                <a:cubicBezTo>
                  <a:pt x="10918" y="21317"/>
                  <a:pt x="11084" y="21199"/>
                  <a:pt x="11287" y="21030"/>
                </a:cubicBezTo>
                <a:cubicBezTo>
                  <a:pt x="11489" y="20860"/>
                  <a:pt x="11725" y="20639"/>
                  <a:pt x="12021" y="20363"/>
                </a:cubicBezTo>
                <a:lnTo>
                  <a:pt x="20257" y="12709"/>
                </a:lnTo>
                <a:cubicBezTo>
                  <a:pt x="20394" y="12582"/>
                  <a:pt x="20517" y="12470"/>
                  <a:pt x="20626" y="12366"/>
                </a:cubicBezTo>
                <a:cubicBezTo>
                  <a:pt x="20735" y="12262"/>
                  <a:pt x="20834" y="12168"/>
                  <a:pt x="20922" y="12078"/>
                </a:cubicBezTo>
                <a:cubicBezTo>
                  <a:pt x="20939" y="12064"/>
                  <a:pt x="20961" y="12058"/>
                  <a:pt x="20978" y="12043"/>
                </a:cubicBezTo>
                <a:cubicBezTo>
                  <a:pt x="21136" y="11895"/>
                  <a:pt x="21265" y="11725"/>
                  <a:pt x="21360" y="11536"/>
                </a:cubicBezTo>
                <a:cubicBezTo>
                  <a:pt x="21480" y="11297"/>
                  <a:pt x="21540" y="11036"/>
                  <a:pt x="21540" y="10778"/>
                </a:cubicBezTo>
                <a:cubicBezTo>
                  <a:pt x="21540" y="10649"/>
                  <a:pt x="21527" y="10518"/>
                  <a:pt x="21497" y="10391"/>
                </a:cubicBezTo>
                <a:cubicBezTo>
                  <a:pt x="21467" y="10264"/>
                  <a:pt x="21420" y="10140"/>
                  <a:pt x="21360" y="10020"/>
                </a:cubicBezTo>
                <a:cubicBezTo>
                  <a:pt x="21265" y="9831"/>
                  <a:pt x="21136" y="9661"/>
                  <a:pt x="20978" y="9514"/>
                </a:cubicBezTo>
                <a:cubicBezTo>
                  <a:pt x="20961" y="9498"/>
                  <a:pt x="20939" y="9493"/>
                  <a:pt x="20922" y="9478"/>
                </a:cubicBezTo>
                <a:cubicBezTo>
                  <a:pt x="20834" y="9388"/>
                  <a:pt x="20735" y="9294"/>
                  <a:pt x="20626" y="9190"/>
                </a:cubicBezTo>
                <a:cubicBezTo>
                  <a:pt x="20517" y="9087"/>
                  <a:pt x="20394" y="8975"/>
                  <a:pt x="20257" y="8847"/>
                </a:cubicBezTo>
                <a:lnTo>
                  <a:pt x="12021" y="1193"/>
                </a:lnTo>
                <a:cubicBezTo>
                  <a:pt x="11725" y="918"/>
                  <a:pt x="11489" y="696"/>
                  <a:pt x="11287" y="527"/>
                </a:cubicBezTo>
                <a:cubicBezTo>
                  <a:pt x="11084" y="357"/>
                  <a:pt x="10918" y="239"/>
                  <a:pt x="10759" y="168"/>
                </a:cubicBezTo>
                <a:cubicBezTo>
                  <a:pt x="10501" y="56"/>
                  <a:pt x="10221" y="0"/>
                  <a:pt x="9944" y="0"/>
                </a:cubicBezTo>
                <a:close/>
                <a:moveTo>
                  <a:pt x="1922" y="2708"/>
                </a:moveTo>
                <a:cubicBezTo>
                  <a:pt x="1644" y="2708"/>
                  <a:pt x="1364" y="2764"/>
                  <a:pt x="1107" y="2876"/>
                </a:cubicBezTo>
                <a:cubicBezTo>
                  <a:pt x="904" y="2964"/>
                  <a:pt x="720" y="3084"/>
                  <a:pt x="562" y="3231"/>
                </a:cubicBezTo>
                <a:cubicBezTo>
                  <a:pt x="403" y="3378"/>
                  <a:pt x="274" y="3549"/>
                  <a:pt x="180" y="3738"/>
                </a:cubicBezTo>
                <a:cubicBezTo>
                  <a:pt x="-60" y="4217"/>
                  <a:pt x="-60" y="4770"/>
                  <a:pt x="180" y="5249"/>
                </a:cubicBezTo>
                <a:cubicBezTo>
                  <a:pt x="257" y="5398"/>
                  <a:pt x="384" y="5556"/>
                  <a:pt x="566" y="5744"/>
                </a:cubicBezTo>
                <a:cubicBezTo>
                  <a:pt x="748" y="5932"/>
                  <a:pt x="987" y="6151"/>
                  <a:pt x="1283" y="6426"/>
                </a:cubicBezTo>
                <a:lnTo>
                  <a:pt x="5965" y="10778"/>
                </a:lnTo>
                <a:lnTo>
                  <a:pt x="1283" y="15130"/>
                </a:lnTo>
                <a:cubicBezTo>
                  <a:pt x="987" y="15405"/>
                  <a:pt x="748" y="15624"/>
                  <a:pt x="566" y="15812"/>
                </a:cubicBezTo>
                <a:cubicBezTo>
                  <a:pt x="384" y="16000"/>
                  <a:pt x="257" y="16159"/>
                  <a:pt x="180" y="16307"/>
                </a:cubicBezTo>
                <a:cubicBezTo>
                  <a:pt x="-60" y="16786"/>
                  <a:pt x="-60" y="17339"/>
                  <a:pt x="180" y="17819"/>
                </a:cubicBezTo>
                <a:cubicBezTo>
                  <a:pt x="274" y="18007"/>
                  <a:pt x="403" y="18178"/>
                  <a:pt x="562" y="18325"/>
                </a:cubicBezTo>
                <a:cubicBezTo>
                  <a:pt x="720" y="18472"/>
                  <a:pt x="904" y="18592"/>
                  <a:pt x="1107" y="18680"/>
                </a:cubicBezTo>
                <a:cubicBezTo>
                  <a:pt x="1493" y="18848"/>
                  <a:pt x="1929" y="18892"/>
                  <a:pt x="2338" y="18808"/>
                </a:cubicBezTo>
                <a:cubicBezTo>
                  <a:pt x="2475" y="18780"/>
                  <a:pt x="2610" y="18737"/>
                  <a:pt x="2738" y="18680"/>
                </a:cubicBezTo>
                <a:cubicBezTo>
                  <a:pt x="2897" y="18608"/>
                  <a:pt x="3063" y="18490"/>
                  <a:pt x="3265" y="18321"/>
                </a:cubicBezTo>
                <a:cubicBezTo>
                  <a:pt x="3468" y="18152"/>
                  <a:pt x="3703" y="17930"/>
                  <a:pt x="3999" y="17655"/>
                </a:cubicBezTo>
                <a:lnTo>
                  <a:pt x="9321" y="12709"/>
                </a:lnTo>
                <a:cubicBezTo>
                  <a:pt x="9458" y="12582"/>
                  <a:pt x="9581" y="12470"/>
                  <a:pt x="9690" y="12366"/>
                </a:cubicBezTo>
                <a:cubicBezTo>
                  <a:pt x="9799" y="12262"/>
                  <a:pt x="9898" y="12168"/>
                  <a:pt x="9986" y="12078"/>
                </a:cubicBezTo>
                <a:cubicBezTo>
                  <a:pt x="10004" y="12064"/>
                  <a:pt x="10026" y="12058"/>
                  <a:pt x="10042" y="12043"/>
                </a:cubicBezTo>
                <a:cubicBezTo>
                  <a:pt x="10201" y="11895"/>
                  <a:pt x="10329" y="11725"/>
                  <a:pt x="10424" y="11536"/>
                </a:cubicBezTo>
                <a:cubicBezTo>
                  <a:pt x="10544" y="11297"/>
                  <a:pt x="10604" y="11036"/>
                  <a:pt x="10604" y="10778"/>
                </a:cubicBezTo>
                <a:cubicBezTo>
                  <a:pt x="10604" y="10649"/>
                  <a:pt x="10592" y="10518"/>
                  <a:pt x="10562" y="10391"/>
                </a:cubicBezTo>
                <a:cubicBezTo>
                  <a:pt x="10532" y="10264"/>
                  <a:pt x="10484" y="10140"/>
                  <a:pt x="10424" y="10020"/>
                </a:cubicBezTo>
                <a:cubicBezTo>
                  <a:pt x="10329" y="9831"/>
                  <a:pt x="10201" y="9661"/>
                  <a:pt x="10042" y="9514"/>
                </a:cubicBezTo>
                <a:cubicBezTo>
                  <a:pt x="10026" y="9498"/>
                  <a:pt x="10004" y="9493"/>
                  <a:pt x="9986" y="9478"/>
                </a:cubicBezTo>
                <a:cubicBezTo>
                  <a:pt x="9898" y="9388"/>
                  <a:pt x="9799" y="9294"/>
                  <a:pt x="9690" y="9190"/>
                </a:cubicBezTo>
                <a:cubicBezTo>
                  <a:pt x="9581" y="9087"/>
                  <a:pt x="9458" y="8975"/>
                  <a:pt x="9321" y="8847"/>
                </a:cubicBezTo>
                <a:lnTo>
                  <a:pt x="3999" y="3901"/>
                </a:lnTo>
                <a:cubicBezTo>
                  <a:pt x="3703" y="3626"/>
                  <a:pt x="3468" y="3404"/>
                  <a:pt x="3265" y="3235"/>
                </a:cubicBezTo>
                <a:cubicBezTo>
                  <a:pt x="3063" y="3066"/>
                  <a:pt x="2897" y="2948"/>
                  <a:pt x="2738" y="2876"/>
                </a:cubicBezTo>
                <a:cubicBezTo>
                  <a:pt x="2480" y="2764"/>
                  <a:pt x="2200" y="2708"/>
                  <a:pt x="1922" y="2708"/>
                </a:cubicBezTo>
                <a:close/>
              </a:path>
            </a:pathLst>
          </a:custGeom>
          <a:solidFill>
            <a:srgbClr val="85FF3C"/>
          </a:solidFill>
          <a:ln w="12700">
            <a:miter lim="400000"/>
          </a:ln>
        </p:spPr>
        <p:txBody>
          <a:bodyPr lIns="50800" tIns="50800" rIns="50800" bIns="508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nvGrpSpPr>
          <p:cNvPr id="2043" name="Group">
            <a:extLst>
              <a:ext uri="{FF2B5EF4-FFF2-40B4-BE49-F238E27FC236}">
                <a16:creationId xmlns:a16="http://schemas.microsoft.com/office/drawing/2014/main" id="{792B0A60-8B28-8B28-0374-3617A06EEAC6}"/>
              </a:ext>
            </a:extLst>
          </p:cNvPr>
          <p:cNvGrpSpPr/>
          <p:nvPr/>
        </p:nvGrpSpPr>
        <p:grpSpPr>
          <a:xfrm>
            <a:off x="2378870" y="8682963"/>
            <a:ext cx="6443853" cy="4455571"/>
            <a:chOff x="-1" y="0"/>
            <a:chExt cx="6443852" cy="4455568"/>
          </a:xfrm>
        </p:grpSpPr>
        <p:sp>
          <p:nvSpPr>
            <p:cNvPr id="2039" name="Title here">
              <a:extLst>
                <a:ext uri="{FF2B5EF4-FFF2-40B4-BE49-F238E27FC236}">
                  <a16:creationId xmlns:a16="http://schemas.microsoft.com/office/drawing/2014/main" id="{5558F21E-C8A1-9F78-E5B2-7DBD38E7EFC0}"/>
                </a:ext>
              </a:extLst>
            </p:cNvPr>
            <p:cNvSpPr/>
            <p:nvPr/>
          </p:nvSpPr>
          <p:spPr>
            <a:xfrm>
              <a:off x="0" y="1240057"/>
              <a:ext cx="6443851" cy="98975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Career Development and Personal Branding in UAE</a:t>
              </a:r>
            </a:p>
          </p:txBody>
        </p:sp>
        <p:sp>
          <p:nvSpPr>
            <p:cNvPr id="2040" name="Circle">
              <a:extLst>
                <a:ext uri="{FF2B5EF4-FFF2-40B4-BE49-F238E27FC236}">
                  <a16:creationId xmlns:a16="http://schemas.microsoft.com/office/drawing/2014/main" id="{AF6FF221-6962-3F6E-D963-E7B99C41387D}"/>
                </a:ext>
              </a:extLst>
            </p:cNvPr>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41" name="Lorem ipsum dolor sit elit, consect loreretur nisi ipsum sit elit, Lorem ipsum. Lorem ipsum Lorem ipsum dolor sit elit, consect loreretur nisi ipsum">
              <a:extLst>
                <a:ext uri="{FF2B5EF4-FFF2-40B4-BE49-F238E27FC236}">
                  <a16:creationId xmlns:a16="http://schemas.microsoft.com/office/drawing/2014/main" id="{A8D95C13-1441-8D36-24CA-901D332AB5B4}"/>
                </a:ext>
              </a:extLst>
            </p:cNvPr>
            <p:cNvSpPr/>
            <p:nvPr/>
          </p:nvSpPr>
          <p:spPr>
            <a:xfrm>
              <a:off x="-1" y="2739650"/>
              <a:ext cx="6443852" cy="171591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defRPr>
                  <a:solidFill>
                    <a:srgbClr val="FFFFFF"/>
                  </a:solidFill>
                </a:defRPr>
              </a:lvl1pPr>
            </a:lstStyle>
            <a:p>
              <a:pPr algn="just"/>
              <a:r>
                <a:rPr lang="en-US" dirty="0"/>
                <a:t>Our career development and personal branding services in the UAE and Gulf region deliver exceptional value by combining expertise, technology, and local insight.</a:t>
              </a:r>
            </a:p>
          </p:txBody>
        </p:sp>
        <p:sp>
          <p:nvSpPr>
            <p:cNvPr id="2042" name="1">
              <a:extLst>
                <a:ext uri="{FF2B5EF4-FFF2-40B4-BE49-F238E27FC236}">
                  <a16:creationId xmlns:a16="http://schemas.microsoft.com/office/drawing/2014/main" id="{735AB055-1146-E75D-63F7-45994C1D7EEC}"/>
                </a:ext>
              </a:extLst>
            </p:cNvPr>
            <p:cNvSpPr/>
            <p:nvPr/>
          </p:nvSpPr>
          <p:spPr>
            <a:xfrm>
              <a:off x="79362" y="108368"/>
              <a:ext cx="690474" cy="61318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4</a:t>
              </a:r>
              <a:endParaRPr dirty="0"/>
            </a:p>
          </p:txBody>
        </p:sp>
      </p:grpSp>
      <p:grpSp>
        <p:nvGrpSpPr>
          <p:cNvPr id="3" name="Group 2">
            <a:extLst>
              <a:ext uri="{FF2B5EF4-FFF2-40B4-BE49-F238E27FC236}">
                <a16:creationId xmlns:a16="http://schemas.microsoft.com/office/drawing/2014/main" id="{132A9402-74BE-A22A-66F8-A87E27D0A1AA}"/>
              </a:ext>
            </a:extLst>
          </p:cNvPr>
          <p:cNvGrpSpPr/>
          <p:nvPr/>
        </p:nvGrpSpPr>
        <p:grpSpPr>
          <a:xfrm>
            <a:off x="9651999" y="8682963"/>
            <a:ext cx="7071693" cy="4455571"/>
            <a:chOff x="9651999" y="8682963"/>
            <a:chExt cx="7071693" cy="4455571"/>
          </a:xfrm>
        </p:grpSpPr>
        <p:sp>
          <p:nvSpPr>
            <p:cNvPr id="2044" name="Title here">
              <a:extLst>
                <a:ext uri="{FF2B5EF4-FFF2-40B4-BE49-F238E27FC236}">
                  <a16:creationId xmlns:a16="http://schemas.microsoft.com/office/drawing/2014/main" id="{E53A2F2A-7BD5-0588-2E8F-E11A6E7F0711}"/>
                </a:ext>
              </a:extLst>
            </p:cNvPr>
            <p:cNvSpPr/>
            <p:nvPr/>
          </p:nvSpPr>
          <p:spPr>
            <a:xfrm>
              <a:off x="9651999" y="9923021"/>
              <a:ext cx="7071693" cy="9897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HR Policy Development and Compliance Services in UAE &amp; GCC</a:t>
              </a:r>
              <a:endParaRPr dirty="0"/>
            </a:p>
          </p:txBody>
        </p:sp>
        <p:sp>
          <p:nvSpPr>
            <p:cNvPr id="2045" name="Circle">
              <a:extLst>
                <a:ext uri="{FF2B5EF4-FFF2-40B4-BE49-F238E27FC236}">
                  <a16:creationId xmlns:a16="http://schemas.microsoft.com/office/drawing/2014/main" id="{B14CDB79-7B05-E846-97F7-963CFA49C237}"/>
                </a:ext>
              </a:extLst>
            </p:cNvPr>
            <p:cNvSpPr/>
            <p:nvPr/>
          </p:nvSpPr>
          <p:spPr>
            <a:xfrm>
              <a:off x="9652000" y="8682963"/>
              <a:ext cx="849198" cy="849199"/>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46" name="Lorem ipsum dolor sit elit, consect loreretur nisi ipsum sit elit, Lorem ipsum. Lorem ipsum Lorem ipsum dolor sit elit, consect loreretur nisi ipsum">
              <a:extLst>
                <a:ext uri="{FF2B5EF4-FFF2-40B4-BE49-F238E27FC236}">
                  <a16:creationId xmlns:a16="http://schemas.microsoft.com/office/drawing/2014/main" id="{765EFE03-6298-BA5E-DD15-85D6952C42E4}"/>
                </a:ext>
              </a:extLst>
            </p:cNvPr>
            <p:cNvSpPr/>
            <p:nvPr/>
          </p:nvSpPr>
          <p:spPr>
            <a:xfrm>
              <a:off x="9651999" y="11424347"/>
              <a:ext cx="6733059" cy="171418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defRPr>
                  <a:solidFill>
                    <a:srgbClr val="FFFFFF"/>
                  </a:solidFill>
                </a:defRPr>
              </a:lvl1pPr>
            </a:lstStyle>
            <a:p>
              <a:pPr algn="just"/>
              <a:r>
                <a:rPr lang="en-US" dirty="0"/>
                <a:t>Our HR policy development and compliance services in UAE and across the GCC region are designed to help your business stay legally sound, strategically agile, and operationally efficient.</a:t>
              </a:r>
              <a:endParaRPr dirty="0"/>
            </a:p>
          </p:txBody>
        </p:sp>
        <p:sp>
          <p:nvSpPr>
            <p:cNvPr id="2047" name="2">
              <a:extLst>
                <a:ext uri="{FF2B5EF4-FFF2-40B4-BE49-F238E27FC236}">
                  <a16:creationId xmlns:a16="http://schemas.microsoft.com/office/drawing/2014/main" id="{4088060D-4388-0EF9-BAAE-90381B9CCAF1}"/>
                </a:ext>
              </a:extLst>
            </p:cNvPr>
            <p:cNvSpPr/>
            <p:nvPr/>
          </p:nvSpPr>
          <p:spPr>
            <a:xfrm>
              <a:off x="9731362" y="8801491"/>
              <a:ext cx="690474" cy="61318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5</a:t>
              </a:r>
              <a:endParaRPr dirty="0"/>
            </a:p>
          </p:txBody>
        </p:sp>
      </p:grpSp>
      <p:grpSp>
        <p:nvGrpSpPr>
          <p:cNvPr id="4" name="Group 3">
            <a:extLst>
              <a:ext uri="{FF2B5EF4-FFF2-40B4-BE49-F238E27FC236}">
                <a16:creationId xmlns:a16="http://schemas.microsoft.com/office/drawing/2014/main" id="{CC9B20CB-9D77-06A9-B0A2-BE4DE0CF7386}"/>
              </a:ext>
            </a:extLst>
          </p:cNvPr>
          <p:cNvGrpSpPr/>
          <p:nvPr/>
        </p:nvGrpSpPr>
        <p:grpSpPr>
          <a:xfrm>
            <a:off x="16925129" y="8682962"/>
            <a:ext cx="7071694" cy="4837567"/>
            <a:chOff x="16925129" y="8682962"/>
            <a:chExt cx="7071694" cy="4837567"/>
          </a:xfrm>
        </p:grpSpPr>
        <p:sp>
          <p:nvSpPr>
            <p:cNvPr id="2049" name="Title here">
              <a:extLst>
                <a:ext uri="{FF2B5EF4-FFF2-40B4-BE49-F238E27FC236}">
                  <a16:creationId xmlns:a16="http://schemas.microsoft.com/office/drawing/2014/main" id="{C3CA6D49-5083-A6B1-ADBA-8C8169F26CC4}"/>
                </a:ext>
              </a:extLst>
            </p:cNvPr>
            <p:cNvSpPr/>
            <p:nvPr/>
          </p:nvSpPr>
          <p:spPr>
            <a:xfrm>
              <a:off x="16925129" y="9945428"/>
              <a:ext cx="7071694" cy="9897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Payroll Services &amp; HR Outsourcing in UAE and Gulf</a:t>
              </a:r>
            </a:p>
          </p:txBody>
        </p:sp>
        <p:sp>
          <p:nvSpPr>
            <p:cNvPr id="2050" name="Circle">
              <a:extLst>
                <a:ext uri="{FF2B5EF4-FFF2-40B4-BE49-F238E27FC236}">
                  <a16:creationId xmlns:a16="http://schemas.microsoft.com/office/drawing/2014/main" id="{4366C603-A331-A649-535E-1309919DF7BF}"/>
                </a:ext>
              </a:extLst>
            </p:cNvPr>
            <p:cNvSpPr/>
            <p:nvPr/>
          </p:nvSpPr>
          <p:spPr>
            <a:xfrm>
              <a:off x="16925129" y="8682962"/>
              <a:ext cx="849198" cy="774663"/>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sp>
          <p:nvSpPr>
            <p:cNvPr id="2051" name="Lorem ipsum dolor sit elit, consect loreretur nisi ipsum sit elit, Lorem ipsum. Lorem ipsum Lorem ipsum dolor sit elit, consect loreretur nisi ipsum">
              <a:extLst>
                <a:ext uri="{FF2B5EF4-FFF2-40B4-BE49-F238E27FC236}">
                  <a16:creationId xmlns:a16="http://schemas.microsoft.com/office/drawing/2014/main" id="{4377D678-4DE2-CD5C-60A1-2672053A325C}"/>
                </a:ext>
              </a:extLst>
            </p:cNvPr>
            <p:cNvSpPr/>
            <p:nvPr/>
          </p:nvSpPr>
          <p:spPr>
            <a:xfrm>
              <a:off x="16925129" y="11390843"/>
              <a:ext cx="6733059" cy="212968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defRPr>
                  <a:solidFill>
                    <a:srgbClr val="FFFFFF"/>
                  </a:solidFill>
                </a:defRPr>
              </a:lvl1pPr>
            </a:lstStyle>
            <a:p>
              <a:pPr algn="just"/>
              <a:r>
                <a:rPr lang="en-US" dirty="0"/>
                <a:t>Managing payroll and HR operations in today’s fast-changing business world can be complex and time-consuming. At </a:t>
              </a:r>
              <a:r>
                <a:rPr lang="en-US" dirty="0" err="1"/>
                <a:t>Humanxt</a:t>
              </a:r>
              <a:r>
                <a:rPr lang="en-US" dirty="0"/>
                <a:t>, we help simplify this process with our payroll services in UAE and full-scale HR outsourcing solutions in Dubai and the Gulf.</a:t>
              </a:r>
              <a:endParaRPr dirty="0"/>
            </a:p>
          </p:txBody>
        </p:sp>
        <p:sp>
          <p:nvSpPr>
            <p:cNvPr id="2052" name="3">
              <a:extLst>
                <a:ext uri="{FF2B5EF4-FFF2-40B4-BE49-F238E27FC236}">
                  <a16:creationId xmlns:a16="http://schemas.microsoft.com/office/drawing/2014/main" id="{67AF1E1C-5FFE-1FE0-A8E6-E09597FDD1CF}"/>
                </a:ext>
              </a:extLst>
            </p:cNvPr>
            <p:cNvSpPr/>
            <p:nvPr/>
          </p:nvSpPr>
          <p:spPr>
            <a:xfrm>
              <a:off x="17004491" y="8748663"/>
              <a:ext cx="690474" cy="61318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6</a:t>
              </a:r>
              <a:endParaRPr dirty="0"/>
            </a:p>
          </p:txBody>
        </p:sp>
      </p:grpSp>
      <p:sp>
        <p:nvSpPr>
          <p:cNvPr id="5" name="Lorem ipsum dolor sit elit, consect loreretur adipiscing nisi aute. ipsum sit elit, Lorem ipsum dolor sit elit,">
            <a:extLst>
              <a:ext uri="{FF2B5EF4-FFF2-40B4-BE49-F238E27FC236}">
                <a16:creationId xmlns:a16="http://schemas.microsoft.com/office/drawing/2014/main" id="{7ED1F14E-71CB-73CB-A286-7D1EE6D589E4}"/>
              </a:ext>
            </a:extLst>
          </p:cNvPr>
          <p:cNvSpPr txBox="1"/>
          <p:nvPr/>
        </p:nvSpPr>
        <p:spPr>
          <a:xfrm>
            <a:off x="4313376" y="3090652"/>
            <a:ext cx="16149111" cy="13004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At </a:t>
            </a:r>
            <a:r>
              <a:rPr lang="en-US" dirty="0" err="1"/>
              <a:t>Humanxt</a:t>
            </a:r>
            <a:r>
              <a:rPr lang="en-US" dirty="0"/>
              <a:t>, we empower organizations by blending people expertise with next-gen HR technology. Our services span </a:t>
            </a:r>
            <a:r>
              <a:rPr lang="en-US" b="1" dirty="0"/>
              <a:t>talent acquisition &amp; assessments, employee onboarding &amp; verification, HR policy &amp; compliance, payroll outsourcing, and AI-driven people analytics</a:t>
            </a:r>
            <a:r>
              <a:rPr lang="en-US" dirty="0"/>
              <a:t>. From building future-ready job architectures to streamlining HR operations, we help businesses unlock human potential and achieve lasting growth.</a:t>
            </a:r>
            <a:endParaRPr dirty="0"/>
          </a:p>
        </p:txBody>
      </p:sp>
      <p:pic>
        <p:nvPicPr>
          <p:cNvPr id="6" name="Picture 5">
            <a:extLst>
              <a:ext uri="{FF2B5EF4-FFF2-40B4-BE49-F238E27FC236}">
                <a16:creationId xmlns:a16="http://schemas.microsoft.com/office/drawing/2014/main" id="{2948D8CC-BACE-EF97-46AC-F7FCA21EA9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extLst>
      <p:ext uri="{BB962C8B-B14F-4D97-AF65-F5344CB8AC3E}">
        <p14:creationId xmlns:p14="http://schemas.microsoft.com/office/powerpoint/2010/main" val="654586916"/>
      </p:ext>
    </p:extLst>
  </p:cSld>
  <p:clrMapOvr>
    <a:masterClrMapping/>
  </p:clrMapOvr>
  <p:transition spd="slow" advTm="30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0" nodeType="afterEffect">
                                  <p:stCondLst>
                                    <p:cond delay="0"/>
                                  </p:stCondLst>
                                  <p:iterate>
                                    <p:tmAbs val="0"/>
                                  </p:iterate>
                                  <p:childTnLst>
                                    <p:set>
                                      <p:cBhvr>
                                        <p:cTn id="6" fill="hold"/>
                                        <p:tgtEl>
                                          <p:spTgt spid="2036"/>
                                        </p:tgtEl>
                                        <p:attrNameLst>
                                          <p:attrName>style.visibility</p:attrName>
                                        </p:attrNameLst>
                                      </p:cBhvr>
                                      <p:to>
                                        <p:strVal val="visible"/>
                                      </p:to>
                                    </p:set>
                                    <p:anim calcmode="lin" valueType="num">
                                      <p:cBhvr>
                                        <p:cTn id="7" dur="1000" fill="hold"/>
                                        <p:tgtEl>
                                          <p:spTgt spid="2036"/>
                                        </p:tgtEl>
                                        <p:attrNameLst>
                                          <p:attrName>ppt_x</p:attrName>
                                        </p:attrNameLst>
                                      </p:cBhvr>
                                      <p:tavLst>
                                        <p:tav tm="0">
                                          <p:val>
                                            <p:strVal val="#ppt_x"/>
                                          </p:val>
                                        </p:tav>
                                        <p:tav tm="100000">
                                          <p:val>
                                            <p:strVal val="#ppt_x"/>
                                          </p:val>
                                        </p:tav>
                                      </p:tavLst>
                                    </p:anim>
                                    <p:anim calcmode="lin" valueType="num">
                                      <p:cBhvr>
                                        <p:cTn id="8" dur="1000" fill="hold"/>
                                        <p:tgtEl>
                                          <p:spTgt spid="2036"/>
                                        </p:tgtEl>
                                        <p:attrNameLst>
                                          <p:attrName>ppt_y</p:attrName>
                                        </p:attrNameLst>
                                      </p:cBhvr>
                                      <p:tavLst>
                                        <p:tav tm="0">
                                          <p:val>
                                            <p:strVal val="1+#ppt_h/2"/>
                                          </p:val>
                                        </p:tav>
                                        <p:tav tm="100000">
                                          <p:val>
                                            <p:strVal val="#ppt_y"/>
                                          </p:val>
                                        </p:tav>
                                      </p:tavLst>
                                    </p:anim>
                                  </p:childTnLst>
                                </p:cTn>
                              </p:par>
                              <p:par>
                                <p:cTn id="9" presetID="2" presetClass="entr" presetSubtype="8" accel="50000" decel="50000" fill="hold" grpId="0" nodeType="withEffect">
                                  <p:stCondLst>
                                    <p:cond delay="500"/>
                                  </p:stCondLst>
                                  <p:iterate>
                                    <p:tmAbs val="0"/>
                                  </p:iterate>
                                  <p:childTnLst>
                                    <p:set>
                                      <p:cBhvr>
                                        <p:cTn id="10" fill="hold"/>
                                        <p:tgtEl>
                                          <p:spTgt spid="2035"/>
                                        </p:tgtEl>
                                        <p:attrNameLst>
                                          <p:attrName>style.visibility</p:attrName>
                                        </p:attrNameLst>
                                      </p:cBhvr>
                                      <p:to>
                                        <p:strVal val="visible"/>
                                      </p:to>
                                    </p:set>
                                    <p:anim calcmode="lin" valueType="num">
                                      <p:cBhvr>
                                        <p:cTn id="11" dur="1000" fill="hold"/>
                                        <p:tgtEl>
                                          <p:spTgt spid="2035"/>
                                        </p:tgtEl>
                                        <p:attrNameLst>
                                          <p:attrName>ppt_x</p:attrName>
                                        </p:attrNameLst>
                                      </p:cBhvr>
                                      <p:tavLst>
                                        <p:tav tm="0">
                                          <p:val>
                                            <p:strVal val="0-#ppt_w/2"/>
                                          </p:val>
                                        </p:tav>
                                        <p:tav tm="100000">
                                          <p:val>
                                            <p:strVal val="#ppt_x"/>
                                          </p:val>
                                        </p:tav>
                                      </p:tavLst>
                                    </p:anim>
                                    <p:anim calcmode="lin" valueType="num">
                                      <p:cBhvr>
                                        <p:cTn id="12" dur="1000" fill="hold"/>
                                        <p:tgtEl>
                                          <p:spTgt spid="2035"/>
                                        </p:tgtEl>
                                        <p:attrNameLst>
                                          <p:attrName>ppt_y</p:attrName>
                                        </p:attrNameLst>
                                      </p:cBhvr>
                                      <p:tavLst>
                                        <p:tav tm="0">
                                          <p:val>
                                            <p:strVal val="#ppt_y"/>
                                          </p:val>
                                        </p:tav>
                                        <p:tav tm="100000">
                                          <p:val>
                                            <p:strVal val="#ppt_y"/>
                                          </p:val>
                                        </p:tav>
                                      </p:tavLst>
                                    </p:anim>
                                  </p:childTnLst>
                                </p:cTn>
                              </p:par>
                              <p:par>
                                <p:cTn id="13" presetID="2" presetClass="entr" presetSubtype="8" accel="50000" decel="50000" fill="hold" grpId="0" nodeType="withEffect">
                                  <p:stCondLst>
                                    <p:cond delay="1000"/>
                                  </p:stCondLst>
                                  <p:iterate>
                                    <p:tmAbs val="0"/>
                                  </p:iterate>
                                  <p:childTnLst>
                                    <p:set>
                                      <p:cBhvr>
                                        <p:cTn id="14" fill="hold"/>
                                        <p:tgtEl>
                                          <p:spTgt spid="2038"/>
                                        </p:tgtEl>
                                        <p:attrNameLst>
                                          <p:attrName>style.visibility</p:attrName>
                                        </p:attrNameLst>
                                      </p:cBhvr>
                                      <p:to>
                                        <p:strVal val="visible"/>
                                      </p:to>
                                    </p:set>
                                    <p:anim calcmode="lin" valueType="num">
                                      <p:cBhvr>
                                        <p:cTn id="15" dur="1000" fill="hold"/>
                                        <p:tgtEl>
                                          <p:spTgt spid="2038"/>
                                        </p:tgtEl>
                                        <p:attrNameLst>
                                          <p:attrName>ppt_x</p:attrName>
                                        </p:attrNameLst>
                                      </p:cBhvr>
                                      <p:tavLst>
                                        <p:tav tm="0">
                                          <p:val>
                                            <p:strVal val="0-#ppt_w/2"/>
                                          </p:val>
                                        </p:tav>
                                        <p:tav tm="100000">
                                          <p:val>
                                            <p:strVal val="#ppt_x"/>
                                          </p:val>
                                        </p:tav>
                                      </p:tavLst>
                                    </p:anim>
                                    <p:anim calcmode="lin" valueType="num">
                                      <p:cBhvr>
                                        <p:cTn id="16" dur="1000" fill="hold"/>
                                        <p:tgtEl>
                                          <p:spTgt spid="2038"/>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0" nodeType="withEffect">
                                  <p:stCondLst>
                                    <p:cond delay="1500"/>
                                  </p:stCondLst>
                                  <p:iterate>
                                    <p:tmAbs val="0"/>
                                  </p:iterate>
                                  <p:childTnLst>
                                    <p:set>
                                      <p:cBhvr>
                                        <p:cTn id="18" fill="hold"/>
                                        <p:tgtEl>
                                          <p:spTgt spid="2043"/>
                                        </p:tgtEl>
                                        <p:attrNameLst>
                                          <p:attrName>style.visibility</p:attrName>
                                        </p:attrNameLst>
                                      </p:cBhvr>
                                      <p:to>
                                        <p:strVal val="visible"/>
                                      </p:to>
                                    </p:set>
                                    <p:anim calcmode="lin" valueType="num">
                                      <p:cBhvr>
                                        <p:cTn id="19" dur="1000" fill="hold"/>
                                        <p:tgtEl>
                                          <p:spTgt spid="2043"/>
                                        </p:tgtEl>
                                        <p:attrNameLst>
                                          <p:attrName>ppt_x</p:attrName>
                                        </p:attrNameLst>
                                      </p:cBhvr>
                                      <p:tavLst>
                                        <p:tav tm="0">
                                          <p:val>
                                            <p:strVal val="#ppt_x"/>
                                          </p:val>
                                        </p:tav>
                                        <p:tav tm="100000">
                                          <p:val>
                                            <p:strVal val="#ppt_x"/>
                                          </p:val>
                                        </p:tav>
                                      </p:tavLst>
                                    </p:anim>
                                    <p:anim calcmode="lin" valueType="num">
                                      <p:cBhvr>
                                        <p:cTn id="20" dur="1000" fill="hold"/>
                                        <p:tgtEl>
                                          <p:spTgt spid="2043"/>
                                        </p:tgtEl>
                                        <p:attrNameLst>
                                          <p:attrName>ppt_y</p:attrName>
                                        </p:attrNameLst>
                                      </p:cBhvr>
                                      <p:tavLst>
                                        <p:tav tm="0">
                                          <p:val>
                                            <p:strVal val="1+#ppt_h/2"/>
                                          </p:val>
                                        </p:tav>
                                        <p:tav tm="100000">
                                          <p:val>
                                            <p:strVal val="#ppt_y"/>
                                          </p:val>
                                        </p:tav>
                                      </p:tavLst>
                                    </p:anim>
                                  </p:childTnLst>
                                </p:cTn>
                              </p:par>
                            </p:childTnLst>
                          </p:cTn>
                        </p:par>
                        <p:par>
                          <p:cTn id="21" fill="hold">
                            <p:stCondLst>
                              <p:cond delay="25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par>
                          <p:cTn id="26" fill="hold">
                            <p:stCondLst>
                              <p:cond delay="3000"/>
                            </p:stCondLst>
                            <p:childTnLst>
                              <p:par>
                                <p:cTn id="27" presetID="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5" grpId="0" animBg="1" advAuto="0"/>
      <p:bldP spid="2036" grpId="0" animBg="1" advAuto="0"/>
      <p:bldP spid="2038" grpId="0" animBg="1" advAuto="0"/>
      <p:bldP spid="2043"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1566B-6D49-A876-A5AB-FE72293AFFEC}"/>
            </a:ext>
          </a:extLst>
        </p:cNvPr>
        <p:cNvGrpSpPr/>
        <p:nvPr/>
      </p:nvGrpSpPr>
      <p:grpSpPr>
        <a:xfrm>
          <a:off x="0" y="0"/>
          <a:ext cx="0" cy="0"/>
          <a:chOff x="0" y="0"/>
          <a:chExt cx="0" cy="0"/>
        </a:xfrm>
      </p:grpSpPr>
      <p:sp>
        <p:nvSpPr>
          <p:cNvPr id="2035" name="Rectangle">
            <a:extLst>
              <a:ext uri="{FF2B5EF4-FFF2-40B4-BE49-F238E27FC236}">
                <a16:creationId xmlns:a16="http://schemas.microsoft.com/office/drawing/2014/main" id="{6C05A99B-8DCD-32F7-F67A-C61AD204E5B5}"/>
              </a:ext>
            </a:extLst>
          </p:cNvPr>
          <p:cNvSpPr/>
          <p:nvPr/>
        </p:nvSpPr>
        <p:spPr>
          <a:xfrm>
            <a:off x="0" y="9144000"/>
            <a:ext cx="24384001" cy="4572000"/>
          </a:xfrm>
          <a:prstGeom prst="rect">
            <a:avLst/>
          </a:prstGeom>
          <a:solidFill>
            <a:srgbClr val="454546"/>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pic>
        <p:nvPicPr>
          <p:cNvPr id="2036" name="a.jpg">
            <a:extLst>
              <a:ext uri="{FF2B5EF4-FFF2-40B4-BE49-F238E27FC236}">
                <a16:creationId xmlns:a16="http://schemas.microsoft.com/office/drawing/2014/main" id="{081E9F3D-07CD-7DB7-F86C-5CAEE21A258F}"/>
              </a:ext>
            </a:extLst>
          </p:cNvPr>
          <p:cNvPicPr>
            <a:picLocks noChangeAspect="1"/>
          </p:cNvPicPr>
          <p:nvPr/>
        </p:nvPicPr>
        <p:blipFill>
          <a:blip r:embed="rId2">
            <a:extLst>
              <a:ext uri="{28A0092B-C50C-407E-A947-70E740481C1C}">
                <a14:useLocalDpi xmlns:a14="http://schemas.microsoft.com/office/drawing/2010/main" val="0"/>
              </a:ext>
            </a:extLst>
          </a:blip>
          <a:srcRect t="28528" b="28528"/>
          <a:stretch/>
        </p:blipFill>
        <p:spPr>
          <a:xfrm>
            <a:off x="-1" y="4618352"/>
            <a:ext cx="24384001" cy="4572000"/>
          </a:xfrm>
          <a:prstGeom prst="rect">
            <a:avLst/>
          </a:prstGeom>
          <a:ln w="12700">
            <a:miter lim="400000"/>
          </a:ln>
        </p:spPr>
      </p:pic>
      <p:sp>
        <p:nvSpPr>
          <p:cNvPr id="2037" name="Single photo showcase">
            <a:extLst>
              <a:ext uri="{FF2B5EF4-FFF2-40B4-BE49-F238E27FC236}">
                <a16:creationId xmlns:a16="http://schemas.microsoft.com/office/drawing/2014/main" id="{4218B7F5-8266-5912-0AE2-F2F3E4EC0A5F}"/>
              </a:ext>
            </a:extLst>
          </p:cNvPr>
          <p:cNvSpPr txBox="1"/>
          <p:nvPr/>
        </p:nvSpPr>
        <p:spPr>
          <a:xfrm>
            <a:off x="4212458" y="1866630"/>
            <a:ext cx="17792672" cy="13490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a:lnSpc>
                <a:spcPct val="90000"/>
              </a:lnSpc>
              <a:defRPr sz="9000" spc="0">
                <a:latin typeface="+mn-lt"/>
                <a:ea typeface="+mn-ea"/>
                <a:cs typeface="+mn-cs"/>
                <a:sym typeface="Montserrat Bold"/>
              </a:defRPr>
            </a:pPr>
            <a:r>
              <a:rPr lang="en-IN" dirty="0"/>
              <a:t>Our </a:t>
            </a:r>
            <a:r>
              <a:rPr lang="en-IN" dirty="0">
                <a:solidFill>
                  <a:srgbClr val="D5D5D5"/>
                </a:solidFill>
              </a:rPr>
              <a:t>Services</a:t>
            </a:r>
          </a:p>
        </p:txBody>
      </p:sp>
      <p:sp>
        <p:nvSpPr>
          <p:cNvPr id="2038" name="Shape">
            <a:extLst>
              <a:ext uri="{FF2B5EF4-FFF2-40B4-BE49-F238E27FC236}">
                <a16:creationId xmlns:a16="http://schemas.microsoft.com/office/drawing/2014/main" id="{F9087E07-3817-666A-C25F-09C5C748B22B}"/>
              </a:ext>
            </a:extLst>
          </p:cNvPr>
          <p:cNvSpPr/>
          <p:nvPr/>
        </p:nvSpPr>
        <p:spPr>
          <a:xfrm>
            <a:off x="2378871" y="1974580"/>
            <a:ext cx="1179414" cy="1270001"/>
          </a:xfrm>
          <a:custGeom>
            <a:avLst/>
            <a:gdLst/>
            <a:ahLst/>
            <a:cxnLst>
              <a:cxn ang="0">
                <a:pos x="wd2" y="hd2"/>
              </a:cxn>
              <a:cxn ang="5400000">
                <a:pos x="wd2" y="hd2"/>
              </a:cxn>
              <a:cxn ang="10800000">
                <a:pos x="wd2" y="hd2"/>
              </a:cxn>
              <a:cxn ang="16200000">
                <a:pos x="wd2" y="hd2"/>
              </a:cxn>
            </a:cxnLst>
            <a:rect l="0" t="0" r="r" b="b"/>
            <a:pathLst>
              <a:path w="21540" h="21558" extrusionOk="0">
                <a:moveTo>
                  <a:pt x="9944" y="0"/>
                </a:moveTo>
                <a:cubicBezTo>
                  <a:pt x="9666" y="0"/>
                  <a:pt x="9386" y="56"/>
                  <a:pt x="9128" y="168"/>
                </a:cubicBezTo>
                <a:cubicBezTo>
                  <a:pt x="8925" y="256"/>
                  <a:pt x="8742" y="375"/>
                  <a:pt x="8583" y="523"/>
                </a:cubicBezTo>
                <a:cubicBezTo>
                  <a:pt x="8424" y="670"/>
                  <a:pt x="8296" y="840"/>
                  <a:pt x="8201" y="1029"/>
                </a:cubicBezTo>
                <a:cubicBezTo>
                  <a:pt x="7961" y="1508"/>
                  <a:pt x="7961" y="2062"/>
                  <a:pt x="8201" y="2541"/>
                </a:cubicBezTo>
                <a:cubicBezTo>
                  <a:pt x="8278" y="2689"/>
                  <a:pt x="8405" y="2847"/>
                  <a:pt x="8587" y="3036"/>
                </a:cubicBezTo>
                <a:cubicBezTo>
                  <a:pt x="8769" y="3224"/>
                  <a:pt x="9008" y="3443"/>
                  <a:pt x="9304" y="3718"/>
                </a:cubicBezTo>
                <a:lnTo>
                  <a:pt x="16901" y="10778"/>
                </a:lnTo>
                <a:lnTo>
                  <a:pt x="9304" y="17838"/>
                </a:lnTo>
                <a:cubicBezTo>
                  <a:pt x="9008" y="18114"/>
                  <a:pt x="8769" y="18332"/>
                  <a:pt x="8587" y="18521"/>
                </a:cubicBezTo>
                <a:cubicBezTo>
                  <a:pt x="8405" y="18709"/>
                  <a:pt x="8278" y="18867"/>
                  <a:pt x="8201" y="19015"/>
                </a:cubicBezTo>
                <a:cubicBezTo>
                  <a:pt x="7961" y="19494"/>
                  <a:pt x="7961" y="20048"/>
                  <a:pt x="8201" y="20527"/>
                </a:cubicBezTo>
                <a:cubicBezTo>
                  <a:pt x="8296" y="20716"/>
                  <a:pt x="8424" y="20886"/>
                  <a:pt x="8583" y="21034"/>
                </a:cubicBezTo>
                <a:cubicBezTo>
                  <a:pt x="8742" y="21181"/>
                  <a:pt x="8925" y="21301"/>
                  <a:pt x="9128" y="21389"/>
                </a:cubicBezTo>
                <a:cubicBezTo>
                  <a:pt x="9514" y="21556"/>
                  <a:pt x="9951" y="21600"/>
                  <a:pt x="10360" y="21516"/>
                </a:cubicBezTo>
                <a:cubicBezTo>
                  <a:pt x="10496" y="21488"/>
                  <a:pt x="10630" y="21444"/>
                  <a:pt x="10759" y="21389"/>
                </a:cubicBezTo>
                <a:cubicBezTo>
                  <a:pt x="10918" y="21317"/>
                  <a:pt x="11084" y="21199"/>
                  <a:pt x="11287" y="21030"/>
                </a:cubicBezTo>
                <a:cubicBezTo>
                  <a:pt x="11489" y="20860"/>
                  <a:pt x="11725" y="20639"/>
                  <a:pt x="12021" y="20363"/>
                </a:cubicBezTo>
                <a:lnTo>
                  <a:pt x="20257" y="12709"/>
                </a:lnTo>
                <a:cubicBezTo>
                  <a:pt x="20394" y="12582"/>
                  <a:pt x="20517" y="12470"/>
                  <a:pt x="20626" y="12366"/>
                </a:cubicBezTo>
                <a:cubicBezTo>
                  <a:pt x="20735" y="12262"/>
                  <a:pt x="20834" y="12168"/>
                  <a:pt x="20922" y="12078"/>
                </a:cubicBezTo>
                <a:cubicBezTo>
                  <a:pt x="20939" y="12064"/>
                  <a:pt x="20961" y="12058"/>
                  <a:pt x="20978" y="12043"/>
                </a:cubicBezTo>
                <a:cubicBezTo>
                  <a:pt x="21136" y="11895"/>
                  <a:pt x="21265" y="11725"/>
                  <a:pt x="21360" y="11536"/>
                </a:cubicBezTo>
                <a:cubicBezTo>
                  <a:pt x="21480" y="11297"/>
                  <a:pt x="21540" y="11036"/>
                  <a:pt x="21540" y="10778"/>
                </a:cubicBezTo>
                <a:cubicBezTo>
                  <a:pt x="21540" y="10649"/>
                  <a:pt x="21527" y="10518"/>
                  <a:pt x="21497" y="10391"/>
                </a:cubicBezTo>
                <a:cubicBezTo>
                  <a:pt x="21467" y="10264"/>
                  <a:pt x="21420" y="10140"/>
                  <a:pt x="21360" y="10020"/>
                </a:cubicBezTo>
                <a:cubicBezTo>
                  <a:pt x="21265" y="9831"/>
                  <a:pt x="21136" y="9661"/>
                  <a:pt x="20978" y="9514"/>
                </a:cubicBezTo>
                <a:cubicBezTo>
                  <a:pt x="20961" y="9498"/>
                  <a:pt x="20939" y="9493"/>
                  <a:pt x="20922" y="9478"/>
                </a:cubicBezTo>
                <a:cubicBezTo>
                  <a:pt x="20834" y="9388"/>
                  <a:pt x="20735" y="9294"/>
                  <a:pt x="20626" y="9190"/>
                </a:cubicBezTo>
                <a:cubicBezTo>
                  <a:pt x="20517" y="9087"/>
                  <a:pt x="20394" y="8975"/>
                  <a:pt x="20257" y="8847"/>
                </a:cubicBezTo>
                <a:lnTo>
                  <a:pt x="12021" y="1193"/>
                </a:lnTo>
                <a:cubicBezTo>
                  <a:pt x="11725" y="918"/>
                  <a:pt x="11489" y="696"/>
                  <a:pt x="11287" y="527"/>
                </a:cubicBezTo>
                <a:cubicBezTo>
                  <a:pt x="11084" y="357"/>
                  <a:pt x="10918" y="239"/>
                  <a:pt x="10759" y="168"/>
                </a:cubicBezTo>
                <a:cubicBezTo>
                  <a:pt x="10501" y="56"/>
                  <a:pt x="10221" y="0"/>
                  <a:pt x="9944" y="0"/>
                </a:cubicBezTo>
                <a:close/>
                <a:moveTo>
                  <a:pt x="1922" y="2708"/>
                </a:moveTo>
                <a:cubicBezTo>
                  <a:pt x="1644" y="2708"/>
                  <a:pt x="1364" y="2764"/>
                  <a:pt x="1107" y="2876"/>
                </a:cubicBezTo>
                <a:cubicBezTo>
                  <a:pt x="904" y="2964"/>
                  <a:pt x="720" y="3084"/>
                  <a:pt x="562" y="3231"/>
                </a:cubicBezTo>
                <a:cubicBezTo>
                  <a:pt x="403" y="3378"/>
                  <a:pt x="274" y="3549"/>
                  <a:pt x="180" y="3738"/>
                </a:cubicBezTo>
                <a:cubicBezTo>
                  <a:pt x="-60" y="4217"/>
                  <a:pt x="-60" y="4770"/>
                  <a:pt x="180" y="5249"/>
                </a:cubicBezTo>
                <a:cubicBezTo>
                  <a:pt x="257" y="5398"/>
                  <a:pt x="384" y="5556"/>
                  <a:pt x="566" y="5744"/>
                </a:cubicBezTo>
                <a:cubicBezTo>
                  <a:pt x="748" y="5932"/>
                  <a:pt x="987" y="6151"/>
                  <a:pt x="1283" y="6426"/>
                </a:cubicBezTo>
                <a:lnTo>
                  <a:pt x="5965" y="10778"/>
                </a:lnTo>
                <a:lnTo>
                  <a:pt x="1283" y="15130"/>
                </a:lnTo>
                <a:cubicBezTo>
                  <a:pt x="987" y="15405"/>
                  <a:pt x="748" y="15624"/>
                  <a:pt x="566" y="15812"/>
                </a:cubicBezTo>
                <a:cubicBezTo>
                  <a:pt x="384" y="16000"/>
                  <a:pt x="257" y="16159"/>
                  <a:pt x="180" y="16307"/>
                </a:cubicBezTo>
                <a:cubicBezTo>
                  <a:pt x="-60" y="16786"/>
                  <a:pt x="-60" y="17339"/>
                  <a:pt x="180" y="17819"/>
                </a:cubicBezTo>
                <a:cubicBezTo>
                  <a:pt x="274" y="18007"/>
                  <a:pt x="403" y="18178"/>
                  <a:pt x="562" y="18325"/>
                </a:cubicBezTo>
                <a:cubicBezTo>
                  <a:pt x="720" y="18472"/>
                  <a:pt x="904" y="18592"/>
                  <a:pt x="1107" y="18680"/>
                </a:cubicBezTo>
                <a:cubicBezTo>
                  <a:pt x="1493" y="18848"/>
                  <a:pt x="1929" y="18892"/>
                  <a:pt x="2338" y="18808"/>
                </a:cubicBezTo>
                <a:cubicBezTo>
                  <a:pt x="2475" y="18780"/>
                  <a:pt x="2610" y="18737"/>
                  <a:pt x="2738" y="18680"/>
                </a:cubicBezTo>
                <a:cubicBezTo>
                  <a:pt x="2897" y="18608"/>
                  <a:pt x="3063" y="18490"/>
                  <a:pt x="3265" y="18321"/>
                </a:cubicBezTo>
                <a:cubicBezTo>
                  <a:pt x="3468" y="18152"/>
                  <a:pt x="3703" y="17930"/>
                  <a:pt x="3999" y="17655"/>
                </a:cubicBezTo>
                <a:lnTo>
                  <a:pt x="9321" y="12709"/>
                </a:lnTo>
                <a:cubicBezTo>
                  <a:pt x="9458" y="12582"/>
                  <a:pt x="9581" y="12470"/>
                  <a:pt x="9690" y="12366"/>
                </a:cubicBezTo>
                <a:cubicBezTo>
                  <a:pt x="9799" y="12262"/>
                  <a:pt x="9898" y="12168"/>
                  <a:pt x="9986" y="12078"/>
                </a:cubicBezTo>
                <a:cubicBezTo>
                  <a:pt x="10004" y="12064"/>
                  <a:pt x="10026" y="12058"/>
                  <a:pt x="10042" y="12043"/>
                </a:cubicBezTo>
                <a:cubicBezTo>
                  <a:pt x="10201" y="11895"/>
                  <a:pt x="10329" y="11725"/>
                  <a:pt x="10424" y="11536"/>
                </a:cubicBezTo>
                <a:cubicBezTo>
                  <a:pt x="10544" y="11297"/>
                  <a:pt x="10604" y="11036"/>
                  <a:pt x="10604" y="10778"/>
                </a:cubicBezTo>
                <a:cubicBezTo>
                  <a:pt x="10604" y="10649"/>
                  <a:pt x="10592" y="10518"/>
                  <a:pt x="10562" y="10391"/>
                </a:cubicBezTo>
                <a:cubicBezTo>
                  <a:pt x="10532" y="10264"/>
                  <a:pt x="10484" y="10140"/>
                  <a:pt x="10424" y="10020"/>
                </a:cubicBezTo>
                <a:cubicBezTo>
                  <a:pt x="10329" y="9831"/>
                  <a:pt x="10201" y="9661"/>
                  <a:pt x="10042" y="9514"/>
                </a:cubicBezTo>
                <a:cubicBezTo>
                  <a:pt x="10026" y="9498"/>
                  <a:pt x="10004" y="9493"/>
                  <a:pt x="9986" y="9478"/>
                </a:cubicBezTo>
                <a:cubicBezTo>
                  <a:pt x="9898" y="9388"/>
                  <a:pt x="9799" y="9294"/>
                  <a:pt x="9690" y="9190"/>
                </a:cubicBezTo>
                <a:cubicBezTo>
                  <a:pt x="9581" y="9087"/>
                  <a:pt x="9458" y="8975"/>
                  <a:pt x="9321" y="8847"/>
                </a:cubicBezTo>
                <a:lnTo>
                  <a:pt x="3999" y="3901"/>
                </a:lnTo>
                <a:cubicBezTo>
                  <a:pt x="3703" y="3626"/>
                  <a:pt x="3468" y="3404"/>
                  <a:pt x="3265" y="3235"/>
                </a:cubicBezTo>
                <a:cubicBezTo>
                  <a:pt x="3063" y="3066"/>
                  <a:pt x="2897" y="2948"/>
                  <a:pt x="2738" y="2876"/>
                </a:cubicBezTo>
                <a:cubicBezTo>
                  <a:pt x="2480" y="2764"/>
                  <a:pt x="2200" y="2708"/>
                  <a:pt x="1922" y="2708"/>
                </a:cubicBezTo>
                <a:close/>
              </a:path>
            </a:pathLst>
          </a:custGeom>
          <a:solidFill>
            <a:srgbClr val="85FF3C"/>
          </a:solidFill>
          <a:ln w="12700">
            <a:miter lim="400000"/>
          </a:ln>
        </p:spPr>
        <p:txBody>
          <a:bodyPr lIns="50800" tIns="50800" rIns="50800" bIns="508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nvGrpSpPr>
          <p:cNvPr id="2043" name="Group">
            <a:extLst>
              <a:ext uri="{FF2B5EF4-FFF2-40B4-BE49-F238E27FC236}">
                <a16:creationId xmlns:a16="http://schemas.microsoft.com/office/drawing/2014/main" id="{255E6B83-11BF-521D-65A8-661F11306B71}"/>
              </a:ext>
            </a:extLst>
          </p:cNvPr>
          <p:cNvGrpSpPr/>
          <p:nvPr/>
        </p:nvGrpSpPr>
        <p:grpSpPr>
          <a:xfrm>
            <a:off x="2378870" y="8682963"/>
            <a:ext cx="6443853" cy="4455571"/>
            <a:chOff x="-1" y="0"/>
            <a:chExt cx="6443852" cy="4455568"/>
          </a:xfrm>
        </p:grpSpPr>
        <p:sp>
          <p:nvSpPr>
            <p:cNvPr id="2039" name="Title here">
              <a:extLst>
                <a:ext uri="{FF2B5EF4-FFF2-40B4-BE49-F238E27FC236}">
                  <a16:creationId xmlns:a16="http://schemas.microsoft.com/office/drawing/2014/main" id="{FE29C9F1-D78C-5A99-4132-23AE410E163C}"/>
                </a:ext>
              </a:extLst>
            </p:cNvPr>
            <p:cNvSpPr/>
            <p:nvPr/>
          </p:nvSpPr>
          <p:spPr>
            <a:xfrm>
              <a:off x="0" y="1240057"/>
              <a:ext cx="6443851" cy="98975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Comprehensive HR Technology and Operations Management</a:t>
              </a:r>
            </a:p>
          </p:txBody>
        </p:sp>
        <p:sp>
          <p:nvSpPr>
            <p:cNvPr id="2040" name="Circle">
              <a:extLst>
                <a:ext uri="{FF2B5EF4-FFF2-40B4-BE49-F238E27FC236}">
                  <a16:creationId xmlns:a16="http://schemas.microsoft.com/office/drawing/2014/main" id="{2CB4644F-C23F-5D1E-52D9-32D84C50C253}"/>
                </a:ext>
              </a:extLst>
            </p:cNvPr>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41" name="Lorem ipsum dolor sit elit, consect loreretur nisi ipsum sit elit, Lorem ipsum. Lorem ipsum Lorem ipsum dolor sit elit, consect loreretur nisi ipsum">
              <a:extLst>
                <a:ext uri="{FF2B5EF4-FFF2-40B4-BE49-F238E27FC236}">
                  <a16:creationId xmlns:a16="http://schemas.microsoft.com/office/drawing/2014/main" id="{92E94FC1-6C51-ADC1-5D7A-FBD3DDD2D51C}"/>
                </a:ext>
              </a:extLst>
            </p:cNvPr>
            <p:cNvSpPr/>
            <p:nvPr/>
          </p:nvSpPr>
          <p:spPr>
            <a:xfrm>
              <a:off x="-1" y="2739650"/>
              <a:ext cx="6443852" cy="171591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defRPr>
                  <a:solidFill>
                    <a:srgbClr val="FFFFFF"/>
                  </a:solidFill>
                </a:defRPr>
              </a:lvl1pPr>
            </a:lstStyle>
            <a:p>
              <a:pPr algn="just"/>
              <a:r>
                <a:rPr lang="en-US" dirty="0"/>
                <a:t>Our cloud-based HR technology solutions in UAE are designed to streamline workflows, improve data access, and support scalable business operations across the Gulf.</a:t>
              </a:r>
            </a:p>
          </p:txBody>
        </p:sp>
        <p:sp>
          <p:nvSpPr>
            <p:cNvPr id="2042" name="1">
              <a:extLst>
                <a:ext uri="{FF2B5EF4-FFF2-40B4-BE49-F238E27FC236}">
                  <a16:creationId xmlns:a16="http://schemas.microsoft.com/office/drawing/2014/main" id="{2F213870-C31C-AC69-8628-DB09F4DC4B42}"/>
                </a:ext>
              </a:extLst>
            </p:cNvPr>
            <p:cNvSpPr/>
            <p:nvPr/>
          </p:nvSpPr>
          <p:spPr>
            <a:xfrm>
              <a:off x="79362" y="138848"/>
              <a:ext cx="690474" cy="61318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7</a:t>
              </a:r>
              <a:endParaRPr dirty="0"/>
            </a:p>
          </p:txBody>
        </p:sp>
      </p:grpSp>
      <p:grpSp>
        <p:nvGrpSpPr>
          <p:cNvPr id="3" name="Group 2">
            <a:extLst>
              <a:ext uri="{FF2B5EF4-FFF2-40B4-BE49-F238E27FC236}">
                <a16:creationId xmlns:a16="http://schemas.microsoft.com/office/drawing/2014/main" id="{EF0E758D-4657-B659-CE85-4A401299E28A}"/>
              </a:ext>
            </a:extLst>
          </p:cNvPr>
          <p:cNvGrpSpPr/>
          <p:nvPr/>
        </p:nvGrpSpPr>
        <p:grpSpPr>
          <a:xfrm>
            <a:off x="15337182" y="8682963"/>
            <a:ext cx="7071693" cy="4871070"/>
            <a:chOff x="9651999" y="8682963"/>
            <a:chExt cx="7071693" cy="4871070"/>
          </a:xfrm>
        </p:grpSpPr>
        <p:sp>
          <p:nvSpPr>
            <p:cNvPr id="2044" name="Title here">
              <a:extLst>
                <a:ext uri="{FF2B5EF4-FFF2-40B4-BE49-F238E27FC236}">
                  <a16:creationId xmlns:a16="http://schemas.microsoft.com/office/drawing/2014/main" id="{1BD1E93E-7835-48E0-14D6-194A5ABAD5CA}"/>
                </a:ext>
              </a:extLst>
            </p:cNvPr>
            <p:cNvSpPr/>
            <p:nvPr/>
          </p:nvSpPr>
          <p:spPr>
            <a:xfrm>
              <a:off x="9651999" y="9923021"/>
              <a:ext cx="7071693" cy="14514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solidFill>
                    <a:srgbClr val="FFFFFF"/>
                  </a:solidFill>
                  <a:latin typeface="+mn-lt"/>
                  <a:ea typeface="+mn-ea"/>
                  <a:cs typeface="+mn-cs"/>
                  <a:sym typeface="Montserrat Bold"/>
                </a:defRPr>
              </a:lvl1pPr>
            </a:lstStyle>
            <a:p>
              <a:r>
                <a:rPr lang="en-US" dirty="0"/>
                <a:t>Job Architecture &amp; Role Optimization Services in UAE &amp; Gulf</a:t>
              </a:r>
              <a:endParaRPr dirty="0"/>
            </a:p>
          </p:txBody>
        </p:sp>
        <p:sp>
          <p:nvSpPr>
            <p:cNvPr id="2045" name="Circle">
              <a:extLst>
                <a:ext uri="{FF2B5EF4-FFF2-40B4-BE49-F238E27FC236}">
                  <a16:creationId xmlns:a16="http://schemas.microsoft.com/office/drawing/2014/main" id="{DEA31386-0D92-DC20-13E7-6283A0F0D98B}"/>
                </a:ext>
              </a:extLst>
            </p:cNvPr>
            <p:cNvSpPr/>
            <p:nvPr/>
          </p:nvSpPr>
          <p:spPr>
            <a:xfrm>
              <a:off x="9652000" y="8682963"/>
              <a:ext cx="849198" cy="849199"/>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2046" name="Lorem ipsum dolor sit elit, consect loreretur nisi ipsum sit elit, Lorem ipsum. Lorem ipsum Lorem ipsum dolor sit elit, consect loreretur nisi ipsum">
              <a:extLst>
                <a:ext uri="{FF2B5EF4-FFF2-40B4-BE49-F238E27FC236}">
                  <a16:creationId xmlns:a16="http://schemas.microsoft.com/office/drawing/2014/main" id="{0F4E3F32-0951-3DC8-9991-870FCC0A9EB1}"/>
                </a:ext>
              </a:extLst>
            </p:cNvPr>
            <p:cNvSpPr/>
            <p:nvPr/>
          </p:nvSpPr>
          <p:spPr>
            <a:xfrm>
              <a:off x="9651999" y="11424347"/>
              <a:ext cx="6733059" cy="212968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defRPr>
                  <a:solidFill>
                    <a:srgbClr val="FFFFFF"/>
                  </a:solidFill>
                </a:defRPr>
              </a:lvl1pPr>
            </a:lstStyle>
            <a:p>
              <a:pPr algn="just"/>
              <a:r>
                <a:rPr lang="en-US" dirty="0"/>
                <a:t>A clear job structure is the foundation of an efficient, motivated, and high-performing workforce. At </a:t>
              </a:r>
              <a:r>
                <a:rPr lang="en-US" dirty="0" err="1"/>
                <a:t>Humanxt</a:t>
              </a:r>
              <a:r>
                <a:rPr lang="en-US" dirty="0"/>
                <a:t>, we help organizations bring structure, clarity, and purpose to every role through our job architecture and role optimization services in UAE and across the Gulf.</a:t>
              </a:r>
              <a:endParaRPr dirty="0"/>
            </a:p>
          </p:txBody>
        </p:sp>
        <p:sp>
          <p:nvSpPr>
            <p:cNvPr id="2047" name="2">
              <a:extLst>
                <a:ext uri="{FF2B5EF4-FFF2-40B4-BE49-F238E27FC236}">
                  <a16:creationId xmlns:a16="http://schemas.microsoft.com/office/drawing/2014/main" id="{F420CC3F-EA46-1A4B-1699-C96775F6647F}"/>
                </a:ext>
              </a:extLst>
            </p:cNvPr>
            <p:cNvSpPr/>
            <p:nvPr/>
          </p:nvSpPr>
          <p:spPr>
            <a:xfrm>
              <a:off x="9731362" y="8791331"/>
              <a:ext cx="690474" cy="61318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8</a:t>
              </a:r>
              <a:endParaRPr dirty="0"/>
            </a:p>
          </p:txBody>
        </p:sp>
      </p:grpSp>
      <p:sp>
        <p:nvSpPr>
          <p:cNvPr id="5" name="Lorem ipsum dolor sit elit, consect loreretur adipiscing nisi aute. ipsum sit elit, Lorem ipsum dolor sit elit,">
            <a:extLst>
              <a:ext uri="{FF2B5EF4-FFF2-40B4-BE49-F238E27FC236}">
                <a16:creationId xmlns:a16="http://schemas.microsoft.com/office/drawing/2014/main" id="{4D0EC1C7-556F-52C5-701C-1F80AA67F333}"/>
              </a:ext>
            </a:extLst>
          </p:cNvPr>
          <p:cNvSpPr txBox="1"/>
          <p:nvPr/>
        </p:nvSpPr>
        <p:spPr>
          <a:xfrm>
            <a:off x="4313376" y="3090652"/>
            <a:ext cx="16149111" cy="13004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At </a:t>
            </a:r>
            <a:r>
              <a:rPr lang="en-US" dirty="0" err="1"/>
              <a:t>Humanxt</a:t>
            </a:r>
            <a:r>
              <a:rPr lang="en-US" dirty="0"/>
              <a:t>, we empower organizations by blending people expertise with next-gen HR technology. Our services span </a:t>
            </a:r>
            <a:r>
              <a:rPr lang="en-US" b="1" dirty="0"/>
              <a:t>talent acquisition &amp; assessments, employee onboarding &amp; verification, HR policy &amp; compliance, payroll outsourcing, and AI-driven people analytics</a:t>
            </a:r>
            <a:r>
              <a:rPr lang="en-US" dirty="0"/>
              <a:t>. From building future-ready job architectures to streamlining HR operations, we help businesses unlock human potential and achieve lasting growth.</a:t>
            </a:r>
            <a:endParaRPr dirty="0"/>
          </a:p>
        </p:txBody>
      </p:sp>
      <p:pic>
        <p:nvPicPr>
          <p:cNvPr id="7" name="Picture 6">
            <a:extLst>
              <a:ext uri="{FF2B5EF4-FFF2-40B4-BE49-F238E27FC236}">
                <a16:creationId xmlns:a16="http://schemas.microsoft.com/office/drawing/2014/main" id="{450EE9E2-9EBD-1A2D-8DD0-5095D75C60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extLst>
      <p:ext uri="{BB962C8B-B14F-4D97-AF65-F5344CB8AC3E}">
        <p14:creationId xmlns:p14="http://schemas.microsoft.com/office/powerpoint/2010/main" val="3653808234"/>
      </p:ext>
    </p:extLst>
  </p:cSld>
  <p:clrMapOvr>
    <a:masterClrMapping/>
  </p:clrMapOvr>
  <p:transition spd="slow" advTm="20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0" nodeType="afterEffect">
                                  <p:stCondLst>
                                    <p:cond delay="0"/>
                                  </p:stCondLst>
                                  <p:iterate>
                                    <p:tmAbs val="0"/>
                                  </p:iterate>
                                  <p:childTnLst>
                                    <p:set>
                                      <p:cBhvr>
                                        <p:cTn id="6" fill="hold"/>
                                        <p:tgtEl>
                                          <p:spTgt spid="2036"/>
                                        </p:tgtEl>
                                        <p:attrNameLst>
                                          <p:attrName>style.visibility</p:attrName>
                                        </p:attrNameLst>
                                      </p:cBhvr>
                                      <p:to>
                                        <p:strVal val="visible"/>
                                      </p:to>
                                    </p:set>
                                    <p:anim calcmode="lin" valueType="num">
                                      <p:cBhvr>
                                        <p:cTn id="7" dur="1000" fill="hold"/>
                                        <p:tgtEl>
                                          <p:spTgt spid="2036"/>
                                        </p:tgtEl>
                                        <p:attrNameLst>
                                          <p:attrName>ppt_x</p:attrName>
                                        </p:attrNameLst>
                                      </p:cBhvr>
                                      <p:tavLst>
                                        <p:tav tm="0">
                                          <p:val>
                                            <p:strVal val="#ppt_x"/>
                                          </p:val>
                                        </p:tav>
                                        <p:tav tm="100000">
                                          <p:val>
                                            <p:strVal val="#ppt_x"/>
                                          </p:val>
                                        </p:tav>
                                      </p:tavLst>
                                    </p:anim>
                                    <p:anim calcmode="lin" valueType="num">
                                      <p:cBhvr>
                                        <p:cTn id="8" dur="1000" fill="hold"/>
                                        <p:tgtEl>
                                          <p:spTgt spid="2036"/>
                                        </p:tgtEl>
                                        <p:attrNameLst>
                                          <p:attrName>ppt_y</p:attrName>
                                        </p:attrNameLst>
                                      </p:cBhvr>
                                      <p:tavLst>
                                        <p:tav tm="0">
                                          <p:val>
                                            <p:strVal val="1+#ppt_h/2"/>
                                          </p:val>
                                        </p:tav>
                                        <p:tav tm="100000">
                                          <p:val>
                                            <p:strVal val="#ppt_y"/>
                                          </p:val>
                                        </p:tav>
                                      </p:tavLst>
                                    </p:anim>
                                  </p:childTnLst>
                                </p:cTn>
                              </p:par>
                              <p:par>
                                <p:cTn id="9" presetID="2" presetClass="entr" presetSubtype="8" accel="50000" decel="50000" fill="hold" grpId="0" nodeType="withEffect">
                                  <p:stCondLst>
                                    <p:cond delay="500"/>
                                  </p:stCondLst>
                                  <p:iterate>
                                    <p:tmAbs val="0"/>
                                  </p:iterate>
                                  <p:childTnLst>
                                    <p:set>
                                      <p:cBhvr>
                                        <p:cTn id="10" fill="hold"/>
                                        <p:tgtEl>
                                          <p:spTgt spid="2035"/>
                                        </p:tgtEl>
                                        <p:attrNameLst>
                                          <p:attrName>style.visibility</p:attrName>
                                        </p:attrNameLst>
                                      </p:cBhvr>
                                      <p:to>
                                        <p:strVal val="visible"/>
                                      </p:to>
                                    </p:set>
                                    <p:anim calcmode="lin" valueType="num">
                                      <p:cBhvr>
                                        <p:cTn id="11" dur="1000" fill="hold"/>
                                        <p:tgtEl>
                                          <p:spTgt spid="2035"/>
                                        </p:tgtEl>
                                        <p:attrNameLst>
                                          <p:attrName>ppt_x</p:attrName>
                                        </p:attrNameLst>
                                      </p:cBhvr>
                                      <p:tavLst>
                                        <p:tav tm="0">
                                          <p:val>
                                            <p:strVal val="0-#ppt_w/2"/>
                                          </p:val>
                                        </p:tav>
                                        <p:tav tm="100000">
                                          <p:val>
                                            <p:strVal val="#ppt_x"/>
                                          </p:val>
                                        </p:tav>
                                      </p:tavLst>
                                    </p:anim>
                                    <p:anim calcmode="lin" valueType="num">
                                      <p:cBhvr>
                                        <p:cTn id="12" dur="1000" fill="hold"/>
                                        <p:tgtEl>
                                          <p:spTgt spid="2035"/>
                                        </p:tgtEl>
                                        <p:attrNameLst>
                                          <p:attrName>ppt_y</p:attrName>
                                        </p:attrNameLst>
                                      </p:cBhvr>
                                      <p:tavLst>
                                        <p:tav tm="0">
                                          <p:val>
                                            <p:strVal val="#ppt_y"/>
                                          </p:val>
                                        </p:tav>
                                        <p:tav tm="100000">
                                          <p:val>
                                            <p:strVal val="#ppt_y"/>
                                          </p:val>
                                        </p:tav>
                                      </p:tavLst>
                                    </p:anim>
                                  </p:childTnLst>
                                </p:cTn>
                              </p:par>
                              <p:par>
                                <p:cTn id="13" presetID="2" presetClass="entr" presetSubtype="8" accel="50000" decel="50000" fill="hold" grpId="0" nodeType="withEffect">
                                  <p:stCondLst>
                                    <p:cond delay="1000"/>
                                  </p:stCondLst>
                                  <p:iterate>
                                    <p:tmAbs val="0"/>
                                  </p:iterate>
                                  <p:childTnLst>
                                    <p:set>
                                      <p:cBhvr>
                                        <p:cTn id="14" fill="hold"/>
                                        <p:tgtEl>
                                          <p:spTgt spid="2038"/>
                                        </p:tgtEl>
                                        <p:attrNameLst>
                                          <p:attrName>style.visibility</p:attrName>
                                        </p:attrNameLst>
                                      </p:cBhvr>
                                      <p:to>
                                        <p:strVal val="visible"/>
                                      </p:to>
                                    </p:set>
                                    <p:anim calcmode="lin" valueType="num">
                                      <p:cBhvr>
                                        <p:cTn id="15" dur="1000" fill="hold"/>
                                        <p:tgtEl>
                                          <p:spTgt spid="2038"/>
                                        </p:tgtEl>
                                        <p:attrNameLst>
                                          <p:attrName>ppt_x</p:attrName>
                                        </p:attrNameLst>
                                      </p:cBhvr>
                                      <p:tavLst>
                                        <p:tav tm="0">
                                          <p:val>
                                            <p:strVal val="0-#ppt_w/2"/>
                                          </p:val>
                                        </p:tav>
                                        <p:tav tm="100000">
                                          <p:val>
                                            <p:strVal val="#ppt_x"/>
                                          </p:val>
                                        </p:tav>
                                      </p:tavLst>
                                    </p:anim>
                                    <p:anim calcmode="lin" valueType="num">
                                      <p:cBhvr>
                                        <p:cTn id="16" dur="1000" fill="hold"/>
                                        <p:tgtEl>
                                          <p:spTgt spid="2038"/>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0" nodeType="withEffect">
                                  <p:stCondLst>
                                    <p:cond delay="1500"/>
                                  </p:stCondLst>
                                  <p:iterate>
                                    <p:tmAbs val="0"/>
                                  </p:iterate>
                                  <p:childTnLst>
                                    <p:set>
                                      <p:cBhvr>
                                        <p:cTn id="18" fill="hold"/>
                                        <p:tgtEl>
                                          <p:spTgt spid="2043"/>
                                        </p:tgtEl>
                                        <p:attrNameLst>
                                          <p:attrName>style.visibility</p:attrName>
                                        </p:attrNameLst>
                                      </p:cBhvr>
                                      <p:to>
                                        <p:strVal val="visible"/>
                                      </p:to>
                                    </p:set>
                                    <p:anim calcmode="lin" valueType="num">
                                      <p:cBhvr>
                                        <p:cTn id="19" dur="1000" fill="hold"/>
                                        <p:tgtEl>
                                          <p:spTgt spid="2043"/>
                                        </p:tgtEl>
                                        <p:attrNameLst>
                                          <p:attrName>ppt_x</p:attrName>
                                        </p:attrNameLst>
                                      </p:cBhvr>
                                      <p:tavLst>
                                        <p:tav tm="0">
                                          <p:val>
                                            <p:strVal val="#ppt_x"/>
                                          </p:val>
                                        </p:tav>
                                        <p:tav tm="100000">
                                          <p:val>
                                            <p:strVal val="#ppt_x"/>
                                          </p:val>
                                        </p:tav>
                                      </p:tavLst>
                                    </p:anim>
                                    <p:anim calcmode="lin" valueType="num">
                                      <p:cBhvr>
                                        <p:cTn id="20" dur="1000" fill="hold"/>
                                        <p:tgtEl>
                                          <p:spTgt spid="2043"/>
                                        </p:tgtEl>
                                        <p:attrNameLst>
                                          <p:attrName>ppt_y</p:attrName>
                                        </p:attrNameLst>
                                      </p:cBhvr>
                                      <p:tavLst>
                                        <p:tav tm="0">
                                          <p:val>
                                            <p:strVal val="1+#ppt_h/2"/>
                                          </p:val>
                                        </p:tav>
                                        <p:tav tm="100000">
                                          <p:val>
                                            <p:strVal val="#ppt_y"/>
                                          </p:val>
                                        </p:tav>
                                      </p:tavLst>
                                    </p:anim>
                                  </p:childTnLst>
                                </p:cTn>
                              </p:par>
                            </p:childTnLst>
                          </p:cTn>
                        </p:par>
                        <p:par>
                          <p:cTn id="21" fill="hold">
                            <p:stCondLst>
                              <p:cond delay="25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5" grpId="0" animBg="1" advAuto="0"/>
      <p:bldP spid="2036" grpId="0" animBg="1" advAuto="0"/>
      <p:bldP spid="2038" grpId="0" animBg="1" advAuto="0"/>
      <p:bldP spid="2043"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4" name="Rectangle"/>
          <p:cNvSpPr/>
          <p:nvPr/>
        </p:nvSpPr>
        <p:spPr>
          <a:xfrm>
            <a:off x="0" y="0"/>
            <a:ext cx="6741518" cy="13716001"/>
          </a:xfrm>
          <a:prstGeom prst="rect">
            <a:avLst/>
          </a:prstGeom>
          <a:solidFill>
            <a:srgbClr val="EBEBEB"/>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pic>
        <p:nvPicPr>
          <p:cNvPr id="4345" name="JPEG image 12.jpeg"/>
          <p:cNvPicPr>
            <a:picLocks noGrp="1" noChangeAspect="1"/>
          </p:cNvPicPr>
          <p:nvPr>
            <p:ph type="pic" idx="21"/>
          </p:nvPr>
        </p:nvPicPr>
        <p:blipFill>
          <a:blip r:embed="rId2">
            <a:extLst>
              <a:ext uri="{28A0092B-C50C-407E-A947-70E740481C1C}">
                <a14:useLocalDpi xmlns:a14="http://schemas.microsoft.com/office/drawing/2010/main" val="0"/>
              </a:ext>
            </a:extLst>
          </a:blip>
          <a:srcRect l="34409" r="34409"/>
          <a:stretch/>
        </p:blipFill>
        <p:spPr>
          <a:xfrm>
            <a:off x="1291034" y="-774705"/>
            <a:ext cx="10900966" cy="15265401"/>
          </a:xfrm>
          <a:custGeom>
            <a:avLst/>
            <a:gdLst/>
            <a:ahLst/>
            <a:cxnLst>
              <a:cxn ang="0">
                <a:pos x="wd2" y="hd2"/>
              </a:cxn>
              <a:cxn ang="5400000">
                <a:pos x="wd2" y="hd2"/>
              </a:cxn>
              <a:cxn ang="10800000">
                <a:pos x="wd2" y="hd2"/>
              </a:cxn>
              <a:cxn ang="16200000">
                <a:pos x="wd2" y="hd2"/>
              </a:cxn>
            </a:cxnLst>
            <a:rect l="0" t="0" r="r" b="b"/>
            <a:pathLst>
              <a:path w="21600" h="21600" extrusionOk="0">
                <a:moveTo>
                  <a:pt x="11375" y="0"/>
                </a:moveTo>
                <a:cubicBezTo>
                  <a:pt x="4048" y="0"/>
                  <a:pt x="809" y="2646"/>
                  <a:pt x="809" y="5658"/>
                </a:cubicBezTo>
                <a:cubicBezTo>
                  <a:pt x="809" y="13507"/>
                  <a:pt x="19427" y="9674"/>
                  <a:pt x="19427" y="16063"/>
                </a:cubicBezTo>
                <a:cubicBezTo>
                  <a:pt x="19427" y="18375"/>
                  <a:pt x="16785" y="20231"/>
                  <a:pt x="10821" y="20231"/>
                </a:cubicBezTo>
                <a:cubicBezTo>
                  <a:pt x="6816" y="20231"/>
                  <a:pt x="3025" y="19075"/>
                  <a:pt x="980" y="17554"/>
                </a:cubicBezTo>
                <a:lnTo>
                  <a:pt x="0" y="18710"/>
                </a:lnTo>
                <a:cubicBezTo>
                  <a:pt x="2173" y="20413"/>
                  <a:pt x="6433" y="21600"/>
                  <a:pt x="10864" y="21600"/>
                </a:cubicBezTo>
                <a:cubicBezTo>
                  <a:pt x="18234" y="21600"/>
                  <a:pt x="21600" y="18984"/>
                  <a:pt x="21600" y="15972"/>
                </a:cubicBezTo>
                <a:cubicBezTo>
                  <a:pt x="21600" y="8245"/>
                  <a:pt x="2982" y="12017"/>
                  <a:pt x="2982" y="5628"/>
                </a:cubicBezTo>
                <a:cubicBezTo>
                  <a:pt x="2982" y="3285"/>
                  <a:pt x="5581" y="1369"/>
                  <a:pt x="11375" y="1369"/>
                </a:cubicBezTo>
                <a:cubicBezTo>
                  <a:pt x="14059" y="1369"/>
                  <a:pt x="17084" y="1947"/>
                  <a:pt x="19555" y="3164"/>
                </a:cubicBezTo>
                <a:lnTo>
                  <a:pt x="20364" y="1917"/>
                </a:lnTo>
                <a:cubicBezTo>
                  <a:pt x="18063" y="730"/>
                  <a:pt x="14656" y="0"/>
                  <a:pt x="11375" y="0"/>
                </a:cubicBezTo>
                <a:close/>
              </a:path>
            </a:pathLst>
          </a:custGeom>
        </p:spPr>
      </p:pic>
      <p:sp>
        <p:nvSpPr>
          <p:cNvPr id="4346" name="The strengths we have"/>
          <p:cNvSpPr txBox="1"/>
          <p:nvPr/>
        </p:nvSpPr>
        <p:spPr>
          <a:xfrm>
            <a:off x="11262563" y="2443766"/>
            <a:ext cx="9814813" cy="2595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a:lnSpc>
                <a:spcPct val="90000"/>
              </a:lnSpc>
              <a:defRPr sz="9000" spc="0">
                <a:latin typeface="+mn-lt"/>
                <a:ea typeface="+mn-ea"/>
                <a:cs typeface="+mn-cs"/>
                <a:sym typeface="Montserrat Bold"/>
              </a:defRPr>
            </a:pPr>
            <a:r>
              <a:rPr lang="en-US" dirty="0"/>
              <a:t>Why Us</a:t>
            </a:r>
          </a:p>
          <a:p>
            <a:pPr>
              <a:lnSpc>
                <a:spcPct val="90000"/>
              </a:lnSpc>
              <a:defRPr sz="9000" spc="0">
                <a:latin typeface="+mn-lt"/>
                <a:ea typeface="+mn-ea"/>
                <a:cs typeface="+mn-cs"/>
                <a:sym typeface="Montserrat Bold"/>
              </a:defRPr>
            </a:pPr>
            <a:r>
              <a:rPr lang="en-US" dirty="0">
                <a:solidFill>
                  <a:srgbClr val="D5D5D5"/>
                </a:solidFill>
              </a:rPr>
              <a:t>Our Strengths</a:t>
            </a:r>
            <a:endParaRPr dirty="0">
              <a:solidFill>
                <a:srgbClr val="D5D5D5"/>
              </a:solidFill>
            </a:endParaRPr>
          </a:p>
        </p:txBody>
      </p:sp>
      <p:sp>
        <p:nvSpPr>
          <p:cNvPr id="4347" name="Shape"/>
          <p:cNvSpPr/>
          <p:nvPr/>
        </p:nvSpPr>
        <p:spPr>
          <a:xfrm>
            <a:off x="9313553" y="2551716"/>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nvGrpSpPr>
          <p:cNvPr id="4351" name="Group"/>
          <p:cNvGrpSpPr/>
          <p:nvPr/>
        </p:nvGrpSpPr>
        <p:grpSpPr>
          <a:xfrm>
            <a:off x="14561845" y="5138667"/>
            <a:ext cx="7953986" cy="2546916"/>
            <a:chOff x="0" y="-125948"/>
            <a:chExt cx="7953985" cy="2546913"/>
          </a:xfrm>
        </p:grpSpPr>
        <p:sp>
          <p:nvSpPr>
            <p:cNvPr id="4348" name="Circle"/>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sp>
          <p:nvSpPr>
            <p:cNvPr id="4349" name="Lorem ipsum dolor sit elit, consect loreretur nisi ipsum dolor sit consect loreretur nisi Lorem ipsum dolor sit elit, consect loreretur nisi ipsum dolor sit consect loreretur nisi"/>
            <p:cNvSpPr txBox="1"/>
            <p:nvPr/>
          </p:nvSpPr>
          <p:spPr>
            <a:xfrm>
              <a:off x="1302048" y="-125948"/>
              <a:ext cx="6651937" cy="25469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b="1" dirty="0"/>
                <a:t>Human + Tech Advantage</a:t>
              </a:r>
              <a:br>
                <a:rPr lang="en-US" dirty="0"/>
              </a:br>
              <a:r>
                <a:rPr lang="en-US" dirty="0"/>
                <a:t>We bring the perfect balance of empathy and innovation. Our team blends decades of HR expertise with advanced AI-driven analytics to provide insights that go beyond the obvious—helping organizations hire smarter, retain talent longer, and foster a culture of growth.</a:t>
              </a:r>
              <a:endParaRPr dirty="0"/>
            </a:p>
          </p:txBody>
        </p:sp>
        <p:sp>
          <p:nvSpPr>
            <p:cNvPr id="4350" name="1"/>
            <p:cNvSpPr txBox="1"/>
            <p:nvPr/>
          </p:nvSpPr>
          <p:spPr>
            <a:xfrm>
              <a:off x="79362" y="108368"/>
              <a:ext cx="690474" cy="571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1</a:t>
              </a:r>
            </a:p>
          </p:txBody>
        </p:sp>
      </p:grpSp>
      <p:grpSp>
        <p:nvGrpSpPr>
          <p:cNvPr id="4355" name="Group"/>
          <p:cNvGrpSpPr/>
          <p:nvPr/>
        </p:nvGrpSpPr>
        <p:grpSpPr>
          <a:xfrm>
            <a:off x="14561846" y="7727353"/>
            <a:ext cx="7953985" cy="2962414"/>
            <a:chOff x="0" y="-57550"/>
            <a:chExt cx="7953984" cy="2962410"/>
          </a:xfrm>
        </p:grpSpPr>
        <p:sp>
          <p:nvSpPr>
            <p:cNvPr id="4352" name="Circle"/>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4353" name="Lorem ipsum dolor sit elit, consect loreretur nisi ipsum dolor sit consect loreretur nisi Lorem ipsum dolor sit elit, consect loreretur nisi ipsum dolor sit consect loreretur nisi"/>
            <p:cNvSpPr txBox="1"/>
            <p:nvPr/>
          </p:nvSpPr>
          <p:spPr>
            <a:xfrm>
              <a:off x="1267289" y="-57550"/>
              <a:ext cx="6686695" cy="296241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b="1" dirty="0"/>
                <a:t>End-to-End HR Solutions</a:t>
              </a:r>
              <a:br>
                <a:rPr lang="en-US" dirty="0"/>
              </a:br>
              <a:r>
                <a:rPr lang="en-US" dirty="0"/>
                <a:t>Whether you need talent acquisition, employee assessments, onboarding, payroll outsourcing, or HR policy development, </a:t>
              </a:r>
              <a:r>
                <a:rPr lang="en-US" dirty="0" err="1"/>
                <a:t>Humanxt</a:t>
              </a:r>
              <a:r>
                <a:rPr lang="en-US" dirty="0"/>
                <a:t> provides everything under one umbrella. This eliminates the hassle of dealing with multiple vendors, saving time and resources while ensuring consistency across your HR operations.</a:t>
              </a:r>
              <a:endParaRPr dirty="0"/>
            </a:p>
          </p:txBody>
        </p:sp>
        <p:sp>
          <p:nvSpPr>
            <p:cNvPr id="4354" name="2"/>
            <p:cNvSpPr txBox="1"/>
            <p:nvPr/>
          </p:nvSpPr>
          <p:spPr>
            <a:xfrm>
              <a:off x="90513" y="105395"/>
              <a:ext cx="690474" cy="571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2</a:t>
              </a:r>
            </a:p>
          </p:txBody>
        </p:sp>
      </p:grpSp>
      <p:grpSp>
        <p:nvGrpSpPr>
          <p:cNvPr id="4359" name="Group"/>
          <p:cNvGrpSpPr/>
          <p:nvPr/>
        </p:nvGrpSpPr>
        <p:grpSpPr>
          <a:xfrm>
            <a:off x="14641206" y="10753587"/>
            <a:ext cx="7783895" cy="2962414"/>
            <a:chOff x="0" y="0"/>
            <a:chExt cx="7580497" cy="2962407"/>
          </a:xfrm>
        </p:grpSpPr>
        <p:sp>
          <p:nvSpPr>
            <p:cNvPr id="4356" name="Circle"/>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4357" name="Lorem ipsum dolor sit elit, consect loreretur nisi ipsum dolor sit consect loreretur nisi Lorem ipsum dolor sit elit, consect loreretur nisi ipsum dolor sit"/>
            <p:cNvSpPr/>
            <p:nvPr/>
          </p:nvSpPr>
          <p:spPr>
            <a:xfrm>
              <a:off x="1267289" y="0"/>
              <a:ext cx="6313208" cy="296240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b="1" dirty="0"/>
                <a:t>Seamless Integration</a:t>
              </a:r>
              <a:br>
                <a:rPr lang="en-US" dirty="0"/>
              </a:br>
              <a:r>
                <a:rPr lang="en-US" dirty="0"/>
                <a:t>We believe technology should make work simpler, not more complicated. That’s why our systems and services are designed to integrate smoothly with your existing HR platforms. This ensures faster adoption, minimal disruptions, and maximum efficiency in daily operations.</a:t>
              </a:r>
              <a:endParaRPr dirty="0"/>
            </a:p>
          </p:txBody>
        </p:sp>
        <p:sp>
          <p:nvSpPr>
            <p:cNvPr id="4358" name="3"/>
            <p:cNvSpPr/>
            <p:nvPr/>
          </p:nvSpPr>
          <p:spPr>
            <a:xfrm>
              <a:off x="79362" y="138848"/>
              <a:ext cx="690474"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t>3</a:t>
              </a:r>
            </a:p>
          </p:txBody>
        </p:sp>
      </p:grpSp>
      <p:pic>
        <p:nvPicPr>
          <p:cNvPr id="2" name="Picture 1">
            <a:extLst>
              <a:ext uri="{FF2B5EF4-FFF2-40B4-BE49-F238E27FC236}">
                <a16:creationId xmlns:a16="http://schemas.microsoft.com/office/drawing/2014/main" id="{703FE2AA-941A-EA02-5516-D8C1C3BC7D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cSld>
  <p:clrMapOvr>
    <a:masterClrMapping/>
  </p:clrMapOvr>
  <p:transition spd="slow" advTm="30000">
    <p:push dir="r"/>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1" nodeType="withEffect">
                                  <p:stCondLst>
                                    <p:cond delay="0"/>
                                  </p:stCondLst>
                                  <p:iterate>
                                    <p:tmAbs val="0"/>
                                  </p:iterate>
                                  <p:childTnLst>
                                    <p:set>
                                      <p:cBhvr>
                                        <p:cTn id="6" fill="hold"/>
                                        <p:tgtEl>
                                          <p:spTgt spid="4345"/>
                                        </p:tgtEl>
                                        <p:attrNameLst>
                                          <p:attrName>style.visibility</p:attrName>
                                        </p:attrNameLst>
                                      </p:cBhvr>
                                      <p:to>
                                        <p:strVal val="visible"/>
                                      </p:to>
                                    </p:set>
                                    <p:anim calcmode="lin" valueType="num">
                                      <p:cBhvr>
                                        <p:cTn id="7" dur="1000" fill="hold"/>
                                        <p:tgtEl>
                                          <p:spTgt spid="4345"/>
                                        </p:tgtEl>
                                        <p:attrNameLst>
                                          <p:attrName>ppt_x</p:attrName>
                                        </p:attrNameLst>
                                      </p:cBhvr>
                                      <p:tavLst>
                                        <p:tav tm="0">
                                          <p:val>
                                            <p:strVal val="1+#ppt_w/2"/>
                                          </p:val>
                                        </p:tav>
                                        <p:tav tm="100000">
                                          <p:val>
                                            <p:strVal val="#ppt_x"/>
                                          </p:val>
                                        </p:tav>
                                      </p:tavLst>
                                    </p:anim>
                                    <p:anim calcmode="lin" valueType="num">
                                      <p:cBhvr>
                                        <p:cTn id="8" dur="1000" fill="hold"/>
                                        <p:tgtEl>
                                          <p:spTgt spid="4345"/>
                                        </p:tgtEl>
                                        <p:attrNameLst>
                                          <p:attrName>ppt_y</p:attrName>
                                        </p:attrNameLst>
                                      </p:cBhvr>
                                      <p:tavLst>
                                        <p:tav tm="0">
                                          <p:val>
                                            <p:strVal val="#ppt_y"/>
                                          </p:val>
                                        </p:tav>
                                        <p:tav tm="100000">
                                          <p:val>
                                            <p:strVal val="#ppt_y"/>
                                          </p:val>
                                        </p:tav>
                                      </p:tavLst>
                                    </p:anim>
                                  </p:childTnLst>
                                </p:cTn>
                              </p:par>
                              <p:par>
                                <p:cTn id="9" presetID="2" presetClass="entr" presetSubtype="1" accel="50000" decel="50000" fill="hold" grpId="2" nodeType="withEffect">
                                  <p:stCondLst>
                                    <p:cond delay="500"/>
                                  </p:stCondLst>
                                  <p:iterate>
                                    <p:tmAbs val="0"/>
                                  </p:iterate>
                                  <p:childTnLst>
                                    <p:set>
                                      <p:cBhvr>
                                        <p:cTn id="10" fill="hold"/>
                                        <p:tgtEl>
                                          <p:spTgt spid="4344"/>
                                        </p:tgtEl>
                                        <p:attrNameLst>
                                          <p:attrName>style.visibility</p:attrName>
                                        </p:attrNameLst>
                                      </p:cBhvr>
                                      <p:to>
                                        <p:strVal val="visible"/>
                                      </p:to>
                                    </p:set>
                                    <p:anim calcmode="lin" valueType="num">
                                      <p:cBhvr>
                                        <p:cTn id="11" dur="1000" fill="hold"/>
                                        <p:tgtEl>
                                          <p:spTgt spid="4344"/>
                                        </p:tgtEl>
                                        <p:attrNameLst>
                                          <p:attrName>ppt_x</p:attrName>
                                        </p:attrNameLst>
                                      </p:cBhvr>
                                      <p:tavLst>
                                        <p:tav tm="0">
                                          <p:val>
                                            <p:strVal val="#ppt_x"/>
                                          </p:val>
                                        </p:tav>
                                        <p:tav tm="100000">
                                          <p:val>
                                            <p:strVal val="#ppt_x"/>
                                          </p:val>
                                        </p:tav>
                                      </p:tavLst>
                                    </p:anim>
                                    <p:anim calcmode="lin" valueType="num">
                                      <p:cBhvr>
                                        <p:cTn id="12" dur="1000" fill="hold"/>
                                        <p:tgtEl>
                                          <p:spTgt spid="4344"/>
                                        </p:tgtEl>
                                        <p:attrNameLst>
                                          <p:attrName>ppt_y</p:attrName>
                                        </p:attrNameLst>
                                      </p:cBhvr>
                                      <p:tavLst>
                                        <p:tav tm="0">
                                          <p:val>
                                            <p:strVal val="0-#ppt_h/2"/>
                                          </p:val>
                                        </p:tav>
                                        <p:tav tm="100000">
                                          <p:val>
                                            <p:strVal val="#ppt_y"/>
                                          </p:val>
                                        </p:tav>
                                      </p:tavLst>
                                    </p:anim>
                                  </p:childTnLst>
                                </p:cTn>
                              </p:par>
                              <p:par>
                                <p:cTn id="13" presetID="2" presetClass="entr" presetSubtype="8" accel="50000" decel="50000" fill="hold" grpId="3" nodeType="withEffect">
                                  <p:stCondLst>
                                    <p:cond delay="1000"/>
                                  </p:stCondLst>
                                  <p:iterate>
                                    <p:tmAbs val="0"/>
                                  </p:iterate>
                                  <p:childTnLst>
                                    <p:set>
                                      <p:cBhvr>
                                        <p:cTn id="14" fill="hold"/>
                                        <p:tgtEl>
                                          <p:spTgt spid="4347"/>
                                        </p:tgtEl>
                                        <p:attrNameLst>
                                          <p:attrName>style.visibility</p:attrName>
                                        </p:attrNameLst>
                                      </p:cBhvr>
                                      <p:to>
                                        <p:strVal val="visible"/>
                                      </p:to>
                                    </p:set>
                                    <p:anim calcmode="lin" valueType="num">
                                      <p:cBhvr>
                                        <p:cTn id="15" dur="1000" fill="hold"/>
                                        <p:tgtEl>
                                          <p:spTgt spid="4347"/>
                                        </p:tgtEl>
                                        <p:attrNameLst>
                                          <p:attrName>ppt_x</p:attrName>
                                        </p:attrNameLst>
                                      </p:cBhvr>
                                      <p:tavLst>
                                        <p:tav tm="0">
                                          <p:val>
                                            <p:strVal val="0-#ppt_w/2"/>
                                          </p:val>
                                        </p:tav>
                                        <p:tav tm="100000">
                                          <p:val>
                                            <p:strVal val="#ppt_x"/>
                                          </p:val>
                                        </p:tav>
                                      </p:tavLst>
                                    </p:anim>
                                    <p:anim calcmode="lin" valueType="num">
                                      <p:cBhvr>
                                        <p:cTn id="16" dur="1000" fill="hold"/>
                                        <p:tgtEl>
                                          <p:spTgt spid="4347"/>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4" nodeType="withEffect">
                                  <p:stCondLst>
                                    <p:cond delay="1500"/>
                                  </p:stCondLst>
                                  <p:iterate>
                                    <p:tmAbs val="0"/>
                                  </p:iterate>
                                  <p:childTnLst>
                                    <p:set>
                                      <p:cBhvr>
                                        <p:cTn id="18" fill="hold"/>
                                        <p:tgtEl>
                                          <p:spTgt spid="4351"/>
                                        </p:tgtEl>
                                        <p:attrNameLst>
                                          <p:attrName>style.visibility</p:attrName>
                                        </p:attrNameLst>
                                      </p:cBhvr>
                                      <p:to>
                                        <p:strVal val="visible"/>
                                      </p:to>
                                    </p:set>
                                    <p:anim calcmode="lin" valueType="num">
                                      <p:cBhvr>
                                        <p:cTn id="19" dur="1000" fill="hold"/>
                                        <p:tgtEl>
                                          <p:spTgt spid="4351"/>
                                        </p:tgtEl>
                                        <p:attrNameLst>
                                          <p:attrName>ppt_x</p:attrName>
                                        </p:attrNameLst>
                                      </p:cBhvr>
                                      <p:tavLst>
                                        <p:tav tm="0">
                                          <p:val>
                                            <p:strVal val="#ppt_x"/>
                                          </p:val>
                                        </p:tav>
                                        <p:tav tm="100000">
                                          <p:val>
                                            <p:strVal val="#ppt_x"/>
                                          </p:val>
                                        </p:tav>
                                      </p:tavLst>
                                    </p:anim>
                                    <p:anim calcmode="lin" valueType="num">
                                      <p:cBhvr>
                                        <p:cTn id="20" dur="1000" fill="hold"/>
                                        <p:tgtEl>
                                          <p:spTgt spid="4351"/>
                                        </p:tgtEl>
                                        <p:attrNameLst>
                                          <p:attrName>ppt_y</p:attrName>
                                        </p:attrNameLst>
                                      </p:cBhvr>
                                      <p:tavLst>
                                        <p:tav tm="0">
                                          <p:val>
                                            <p:strVal val="1+#ppt_h/2"/>
                                          </p:val>
                                        </p:tav>
                                        <p:tav tm="100000">
                                          <p:val>
                                            <p:strVal val="#ppt_y"/>
                                          </p:val>
                                        </p:tav>
                                      </p:tavLst>
                                    </p:anim>
                                  </p:childTnLst>
                                </p:cTn>
                              </p:par>
                              <p:par>
                                <p:cTn id="21" presetID="2" presetClass="entr" presetSubtype="4" accel="50000" decel="50000" fill="hold" grpId="5" nodeType="withEffect">
                                  <p:stCondLst>
                                    <p:cond delay="2000"/>
                                  </p:stCondLst>
                                  <p:iterate>
                                    <p:tmAbs val="0"/>
                                  </p:iterate>
                                  <p:childTnLst>
                                    <p:set>
                                      <p:cBhvr>
                                        <p:cTn id="22" fill="hold"/>
                                        <p:tgtEl>
                                          <p:spTgt spid="4355"/>
                                        </p:tgtEl>
                                        <p:attrNameLst>
                                          <p:attrName>style.visibility</p:attrName>
                                        </p:attrNameLst>
                                      </p:cBhvr>
                                      <p:to>
                                        <p:strVal val="visible"/>
                                      </p:to>
                                    </p:set>
                                    <p:anim calcmode="lin" valueType="num">
                                      <p:cBhvr>
                                        <p:cTn id="23" dur="1000" fill="hold"/>
                                        <p:tgtEl>
                                          <p:spTgt spid="4355"/>
                                        </p:tgtEl>
                                        <p:attrNameLst>
                                          <p:attrName>ppt_x</p:attrName>
                                        </p:attrNameLst>
                                      </p:cBhvr>
                                      <p:tavLst>
                                        <p:tav tm="0">
                                          <p:val>
                                            <p:strVal val="#ppt_x"/>
                                          </p:val>
                                        </p:tav>
                                        <p:tav tm="100000">
                                          <p:val>
                                            <p:strVal val="#ppt_x"/>
                                          </p:val>
                                        </p:tav>
                                      </p:tavLst>
                                    </p:anim>
                                    <p:anim calcmode="lin" valueType="num">
                                      <p:cBhvr>
                                        <p:cTn id="24" dur="1000" fill="hold"/>
                                        <p:tgtEl>
                                          <p:spTgt spid="4355"/>
                                        </p:tgtEl>
                                        <p:attrNameLst>
                                          <p:attrName>ppt_y</p:attrName>
                                        </p:attrNameLst>
                                      </p:cBhvr>
                                      <p:tavLst>
                                        <p:tav tm="0">
                                          <p:val>
                                            <p:strVal val="1+#ppt_h/2"/>
                                          </p:val>
                                        </p:tav>
                                        <p:tav tm="100000">
                                          <p:val>
                                            <p:strVal val="#ppt_y"/>
                                          </p:val>
                                        </p:tav>
                                      </p:tavLst>
                                    </p:anim>
                                  </p:childTnLst>
                                </p:cTn>
                              </p:par>
                              <p:par>
                                <p:cTn id="25" presetID="2" presetClass="entr" presetSubtype="4" accel="50000" decel="50000" fill="hold" grpId="6" nodeType="withEffect">
                                  <p:stCondLst>
                                    <p:cond delay="2500"/>
                                  </p:stCondLst>
                                  <p:iterate>
                                    <p:tmAbs val="0"/>
                                  </p:iterate>
                                  <p:childTnLst>
                                    <p:set>
                                      <p:cBhvr>
                                        <p:cTn id="26" fill="hold"/>
                                        <p:tgtEl>
                                          <p:spTgt spid="4359"/>
                                        </p:tgtEl>
                                        <p:attrNameLst>
                                          <p:attrName>style.visibility</p:attrName>
                                        </p:attrNameLst>
                                      </p:cBhvr>
                                      <p:to>
                                        <p:strVal val="visible"/>
                                      </p:to>
                                    </p:set>
                                    <p:anim calcmode="lin" valueType="num">
                                      <p:cBhvr>
                                        <p:cTn id="27" dur="1000" fill="hold"/>
                                        <p:tgtEl>
                                          <p:spTgt spid="4359"/>
                                        </p:tgtEl>
                                        <p:attrNameLst>
                                          <p:attrName>ppt_x</p:attrName>
                                        </p:attrNameLst>
                                      </p:cBhvr>
                                      <p:tavLst>
                                        <p:tav tm="0">
                                          <p:val>
                                            <p:strVal val="#ppt_x"/>
                                          </p:val>
                                        </p:tav>
                                        <p:tav tm="100000">
                                          <p:val>
                                            <p:strVal val="#ppt_x"/>
                                          </p:val>
                                        </p:tav>
                                      </p:tavLst>
                                    </p:anim>
                                    <p:anim calcmode="lin" valueType="num">
                                      <p:cBhvr>
                                        <p:cTn id="28" dur="1000" fill="hold"/>
                                        <p:tgtEl>
                                          <p:spTgt spid="43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4" grpId="2" animBg="1" advAuto="0"/>
      <p:bldP spid="4345" grpId="1" animBg="1" advAuto="0"/>
      <p:bldP spid="4347" grpId="3" animBg="1" advAuto="0"/>
      <p:bldP spid="4351" grpId="4" animBg="1" advAuto="0"/>
      <p:bldP spid="4355" grpId="5" animBg="1" advAuto="0"/>
      <p:bldP spid="4359" grpId="6"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7CBA-B1BD-BB54-E03B-3C2550F73855}"/>
            </a:ext>
          </a:extLst>
        </p:cNvPr>
        <p:cNvGrpSpPr/>
        <p:nvPr/>
      </p:nvGrpSpPr>
      <p:grpSpPr>
        <a:xfrm>
          <a:off x="0" y="0"/>
          <a:ext cx="0" cy="0"/>
          <a:chOff x="0" y="0"/>
          <a:chExt cx="0" cy="0"/>
        </a:xfrm>
      </p:grpSpPr>
      <p:sp>
        <p:nvSpPr>
          <p:cNvPr id="4344" name="Rectangle">
            <a:extLst>
              <a:ext uri="{FF2B5EF4-FFF2-40B4-BE49-F238E27FC236}">
                <a16:creationId xmlns:a16="http://schemas.microsoft.com/office/drawing/2014/main" id="{C509A940-EBF1-1CAE-D522-A537F4375EB4}"/>
              </a:ext>
            </a:extLst>
          </p:cNvPr>
          <p:cNvSpPr/>
          <p:nvPr/>
        </p:nvSpPr>
        <p:spPr>
          <a:xfrm>
            <a:off x="0" y="0"/>
            <a:ext cx="6741518" cy="13716001"/>
          </a:xfrm>
          <a:prstGeom prst="rect">
            <a:avLst/>
          </a:prstGeom>
          <a:solidFill>
            <a:srgbClr val="EBEBEB"/>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pic>
        <p:nvPicPr>
          <p:cNvPr id="4345" name="JPEG image 12.jpeg">
            <a:extLst>
              <a:ext uri="{FF2B5EF4-FFF2-40B4-BE49-F238E27FC236}">
                <a16:creationId xmlns:a16="http://schemas.microsoft.com/office/drawing/2014/main" id="{9DCCA0CB-1A3F-4985-E8BC-A6551AD6D0B0}"/>
              </a:ext>
            </a:extLst>
          </p:cNvPr>
          <p:cNvPicPr>
            <a:picLocks noGrp="1" noChangeAspect="1"/>
          </p:cNvPicPr>
          <p:nvPr>
            <p:ph type="pic" idx="21"/>
          </p:nvPr>
        </p:nvPicPr>
        <p:blipFill>
          <a:blip r:embed="rId2">
            <a:extLst>
              <a:ext uri="{28A0092B-C50C-407E-A947-70E740481C1C}">
                <a14:useLocalDpi xmlns:a14="http://schemas.microsoft.com/office/drawing/2010/main" val="0"/>
              </a:ext>
            </a:extLst>
          </a:blip>
          <a:srcRect l="34409" r="34409"/>
          <a:stretch/>
        </p:blipFill>
        <p:spPr>
          <a:xfrm>
            <a:off x="1291034" y="-774705"/>
            <a:ext cx="10900966" cy="15265401"/>
          </a:xfrm>
          <a:custGeom>
            <a:avLst/>
            <a:gdLst/>
            <a:ahLst/>
            <a:cxnLst>
              <a:cxn ang="0">
                <a:pos x="wd2" y="hd2"/>
              </a:cxn>
              <a:cxn ang="5400000">
                <a:pos x="wd2" y="hd2"/>
              </a:cxn>
              <a:cxn ang="10800000">
                <a:pos x="wd2" y="hd2"/>
              </a:cxn>
              <a:cxn ang="16200000">
                <a:pos x="wd2" y="hd2"/>
              </a:cxn>
            </a:cxnLst>
            <a:rect l="0" t="0" r="r" b="b"/>
            <a:pathLst>
              <a:path w="21600" h="21600" extrusionOk="0">
                <a:moveTo>
                  <a:pt x="11375" y="0"/>
                </a:moveTo>
                <a:cubicBezTo>
                  <a:pt x="4048" y="0"/>
                  <a:pt x="809" y="2646"/>
                  <a:pt x="809" y="5658"/>
                </a:cubicBezTo>
                <a:cubicBezTo>
                  <a:pt x="809" y="13507"/>
                  <a:pt x="19427" y="9674"/>
                  <a:pt x="19427" y="16063"/>
                </a:cubicBezTo>
                <a:cubicBezTo>
                  <a:pt x="19427" y="18375"/>
                  <a:pt x="16785" y="20231"/>
                  <a:pt x="10821" y="20231"/>
                </a:cubicBezTo>
                <a:cubicBezTo>
                  <a:pt x="6816" y="20231"/>
                  <a:pt x="3025" y="19075"/>
                  <a:pt x="980" y="17554"/>
                </a:cubicBezTo>
                <a:lnTo>
                  <a:pt x="0" y="18710"/>
                </a:lnTo>
                <a:cubicBezTo>
                  <a:pt x="2173" y="20413"/>
                  <a:pt x="6433" y="21600"/>
                  <a:pt x="10864" y="21600"/>
                </a:cubicBezTo>
                <a:cubicBezTo>
                  <a:pt x="18234" y="21600"/>
                  <a:pt x="21600" y="18984"/>
                  <a:pt x="21600" y="15972"/>
                </a:cubicBezTo>
                <a:cubicBezTo>
                  <a:pt x="21600" y="8245"/>
                  <a:pt x="2982" y="12017"/>
                  <a:pt x="2982" y="5628"/>
                </a:cubicBezTo>
                <a:cubicBezTo>
                  <a:pt x="2982" y="3285"/>
                  <a:pt x="5581" y="1369"/>
                  <a:pt x="11375" y="1369"/>
                </a:cubicBezTo>
                <a:cubicBezTo>
                  <a:pt x="14059" y="1369"/>
                  <a:pt x="17084" y="1947"/>
                  <a:pt x="19555" y="3164"/>
                </a:cubicBezTo>
                <a:lnTo>
                  <a:pt x="20364" y="1917"/>
                </a:lnTo>
                <a:cubicBezTo>
                  <a:pt x="18063" y="730"/>
                  <a:pt x="14656" y="0"/>
                  <a:pt x="11375" y="0"/>
                </a:cubicBezTo>
                <a:close/>
              </a:path>
            </a:pathLst>
          </a:custGeom>
        </p:spPr>
      </p:pic>
      <p:sp>
        <p:nvSpPr>
          <p:cNvPr id="4346" name="The strengths we have">
            <a:extLst>
              <a:ext uri="{FF2B5EF4-FFF2-40B4-BE49-F238E27FC236}">
                <a16:creationId xmlns:a16="http://schemas.microsoft.com/office/drawing/2014/main" id="{9C200099-FF3C-CD91-0BCC-B2897217527A}"/>
              </a:ext>
            </a:extLst>
          </p:cNvPr>
          <p:cNvSpPr txBox="1"/>
          <p:nvPr/>
        </p:nvSpPr>
        <p:spPr>
          <a:xfrm>
            <a:off x="11262563" y="2443766"/>
            <a:ext cx="9814813" cy="2595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a:lnSpc>
                <a:spcPct val="90000"/>
              </a:lnSpc>
              <a:defRPr sz="9000" spc="0">
                <a:latin typeface="+mn-lt"/>
                <a:ea typeface="+mn-ea"/>
                <a:cs typeface="+mn-cs"/>
                <a:sym typeface="Montserrat Bold"/>
              </a:defRPr>
            </a:pPr>
            <a:r>
              <a:rPr lang="en-US" dirty="0"/>
              <a:t>Why Us</a:t>
            </a:r>
          </a:p>
          <a:p>
            <a:pPr>
              <a:lnSpc>
                <a:spcPct val="90000"/>
              </a:lnSpc>
              <a:defRPr sz="9000" spc="0">
                <a:latin typeface="+mn-lt"/>
                <a:ea typeface="+mn-ea"/>
                <a:cs typeface="+mn-cs"/>
                <a:sym typeface="Montserrat Bold"/>
              </a:defRPr>
            </a:pPr>
            <a:r>
              <a:rPr lang="en-US" dirty="0">
                <a:solidFill>
                  <a:srgbClr val="D5D5D5"/>
                </a:solidFill>
              </a:rPr>
              <a:t>Our Strengths</a:t>
            </a:r>
            <a:endParaRPr dirty="0">
              <a:solidFill>
                <a:srgbClr val="D5D5D5"/>
              </a:solidFill>
            </a:endParaRPr>
          </a:p>
        </p:txBody>
      </p:sp>
      <p:sp>
        <p:nvSpPr>
          <p:cNvPr id="4347" name="Shape">
            <a:extLst>
              <a:ext uri="{FF2B5EF4-FFF2-40B4-BE49-F238E27FC236}">
                <a16:creationId xmlns:a16="http://schemas.microsoft.com/office/drawing/2014/main" id="{9A338157-E65C-CC5B-0B32-D8E32E6EAEBD}"/>
              </a:ext>
            </a:extLst>
          </p:cNvPr>
          <p:cNvSpPr/>
          <p:nvPr/>
        </p:nvSpPr>
        <p:spPr>
          <a:xfrm>
            <a:off x="9313553" y="2551716"/>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nvGrpSpPr>
          <p:cNvPr id="4351" name="Group">
            <a:extLst>
              <a:ext uri="{FF2B5EF4-FFF2-40B4-BE49-F238E27FC236}">
                <a16:creationId xmlns:a16="http://schemas.microsoft.com/office/drawing/2014/main" id="{CC53B576-DB2E-35DA-EB9D-FFDCED071050}"/>
              </a:ext>
            </a:extLst>
          </p:cNvPr>
          <p:cNvGrpSpPr/>
          <p:nvPr/>
        </p:nvGrpSpPr>
        <p:grpSpPr>
          <a:xfrm>
            <a:off x="14561845" y="5138667"/>
            <a:ext cx="8097432" cy="2546916"/>
            <a:chOff x="0" y="-125948"/>
            <a:chExt cx="8097431" cy="2546913"/>
          </a:xfrm>
        </p:grpSpPr>
        <p:sp>
          <p:nvSpPr>
            <p:cNvPr id="4348" name="Circle">
              <a:extLst>
                <a:ext uri="{FF2B5EF4-FFF2-40B4-BE49-F238E27FC236}">
                  <a16:creationId xmlns:a16="http://schemas.microsoft.com/office/drawing/2014/main" id="{E50C58EC-7545-A15A-1507-9E0EF779A84D}"/>
                </a:ext>
              </a:extLst>
            </p:cNvPr>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4349" name="Lorem ipsum dolor sit elit, consect loreretur nisi ipsum dolor sit consect loreretur nisi Lorem ipsum dolor sit elit, consect loreretur nisi ipsum dolor sit consect loreretur nisi">
              <a:extLst>
                <a:ext uri="{FF2B5EF4-FFF2-40B4-BE49-F238E27FC236}">
                  <a16:creationId xmlns:a16="http://schemas.microsoft.com/office/drawing/2014/main" id="{3D70359A-C015-E128-4AC3-6962E44A38E2}"/>
                </a:ext>
              </a:extLst>
            </p:cNvPr>
            <p:cNvSpPr txBox="1"/>
            <p:nvPr/>
          </p:nvSpPr>
          <p:spPr>
            <a:xfrm>
              <a:off x="1279745" y="-125948"/>
              <a:ext cx="6817686" cy="254691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r>
                <a:rPr lang="en-US" b="1" dirty="0"/>
                <a:t>Global Standards, Local Expertise</a:t>
              </a:r>
              <a:br>
                <a:rPr lang="en-US" dirty="0"/>
              </a:br>
              <a:r>
                <a:rPr lang="en-US" dirty="0"/>
                <a:t>Operating across the UAE and India, we understand the nuances of different labor laws, compliance frameworks, and cultural contexts. Our solutions are rooted in international HR best practices while being tailored to meet local regulations—giving you the best of both worlds.</a:t>
              </a:r>
              <a:endParaRPr dirty="0"/>
            </a:p>
          </p:txBody>
        </p:sp>
        <p:sp>
          <p:nvSpPr>
            <p:cNvPr id="4350" name="1">
              <a:extLst>
                <a:ext uri="{FF2B5EF4-FFF2-40B4-BE49-F238E27FC236}">
                  <a16:creationId xmlns:a16="http://schemas.microsoft.com/office/drawing/2014/main" id="{491833DC-FF5D-BFB7-C97D-B3D363DB131C}"/>
                </a:ext>
              </a:extLst>
            </p:cNvPr>
            <p:cNvSpPr txBox="1"/>
            <p:nvPr/>
          </p:nvSpPr>
          <p:spPr>
            <a:xfrm>
              <a:off x="79362" y="88048"/>
              <a:ext cx="690474" cy="61318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4</a:t>
              </a:r>
              <a:endParaRPr dirty="0"/>
            </a:p>
          </p:txBody>
        </p:sp>
      </p:grpSp>
      <p:grpSp>
        <p:nvGrpSpPr>
          <p:cNvPr id="4355" name="Group">
            <a:extLst>
              <a:ext uri="{FF2B5EF4-FFF2-40B4-BE49-F238E27FC236}">
                <a16:creationId xmlns:a16="http://schemas.microsoft.com/office/drawing/2014/main" id="{BF58B466-47C0-3D3C-D40F-1DDAB5D0CF7A}"/>
              </a:ext>
            </a:extLst>
          </p:cNvPr>
          <p:cNvGrpSpPr/>
          <p:nvPr/>
        </p:nvGrpSpPr>
        <p:grpSpPr>
          <a:xfrm>
            <a:off x="14561846" y="7727353"/>
            <a:ext cx="7953985" cy="2962414"/>
            <a:chOff x="0" y="-57550"/>
            <a:chExt cx="7953984" cy="2962410"/>
          </a:xfrm>
        </p:grpSpPr>
        <p:sp>
          <p:nvSpPr>
            <p:cNvPr id="4352" name="Circle">
              <a:extLst>
                <a:ext uri="{FF2B5EF4-FFF2-40B4-BE49-F238E27FC236}">
                  <a16:creationId xmlns:a16="http://schemas.microsoft.com/office/drawing/2014/main" id="{0F0D7986-CC1E-3AA8-16EE-E14540794C47}"/>
                </a:ext>
              </a:extLst>
            </p:cNvPr>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4353" name="Lorem ipsum dolor sit elit, consect loreretur nisi ipsum dolor sit consect loreretur nisi Lorem ipsum dolor sit elit, consect loreretur nisi ipsum dolor sit consect loreretur nisi">
              <a:extLst>
                <a:ext uri="{FF2B5EF4-FFF2-40B4-BE49-F238E27FC236}">
                  <a16:creationId xmlns:a16="http://schemas.microsoft.com/office/drawing/2014/main" id="{4E5E04F8-7A9C-8AEF-40D5-B65499722A49}"/>
                </a:ext>
              </a:extLst>
            </p:cNvPr>
            <p:cNvSpPr txBox="1"/>
            <p:nvPr/>
          </p:nvSpPr>
          <p:spPr>
            <a:xfrm>
              <a:off x="1267289" y="-57550"/>
              <a:ext cx="6686695" cy="296241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r>
                <a:rPr lang="en-US" b="1" dirty="0"/>
                <a:t>Scalable &amp; Future-Ready</a:t>
              </a:r>
              <a:br>
                <a:rPr lang="en-US" dirty="0"/>
              </a:br>
              <a:r>
                <a:rPr lang="en-US" dirty="0"/>
                <a:t>Your business today won’t look the same tomorrow—and neither should your HR approach. </a:t>
              </a:r>
              <a:r>
                <a:rPr lang="en-US" dirty="0" err="1"/>
                <a:t>Humanxt</a:t>
              </a:r>
              <a:r>
                <a:rPr lang="en-US" dirty="0"/>
                <a:t> solutions are flexible and scalable, adapting to the evolving needs of startups, SMEs, and large enterprises alike. We future-proof your workforce strategies so you’re always ahead of the curve.</a:t>
              </a:r>
              <a:endParaRPr dirty="0"/>
            </a:p>
          </p:txBody>
        </p:sp>
        <p:sp>
          <p:nvSpPr>
            <p:cNvPr id="4354" name="2">
              <a:extLst>
                <a:ext uri="{FF2B5EF4-FFF2-40B4-BE49-F238E27FC236}">
                  <a16:creationId xmlns:a16="http://schemas.microsoft.com/office/drawing/2014/main" id="{B261A162-BD70-CCBB-A3F6-4D9A18710483}"/>
                </a:ext>
              </a:extLst>
            </p:cNvPr>
            <p:cNvSpPr txBox="1"/>
            <p:nvPr/>
          </p:nvSpPr>
          <p:spPr>
            <a:xfrm>
              <a:off x="90513" y="105395"/>
              <a:ext cx="690474" cy="61318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5</a:t>
              </a:r>
              <a:endParaRPr dirty="0"/>
            </a:p>
          </p:txBody>
        </p:sp>
      </p:grpSp>
      <p:grpSp>
        <p:nvGrpSpPr>
          <p:cNvPr id="4359" name="Group">
            <a:extLst>
              <a:ext uri="{FF2B5EF4-FFF2-40B4-BE49-F238E27FC236}">
                <a16:creationId xmlns:a16="http://schemas.microsoft.com/office/drawing/2014/main" id="{7E055EE5-A0BB-4126-3587-1175DD6EB925}"/>
              </a:ext>
            </a:extLst>
          </p:cNvPr>
          <p:cNvGrpSpPr/>
          <p:nvPr/>
        </p:nvGrpSpPr>
        <p:grpSpPr>
          <a:xfrm>
            <a:off x="14641206" y="10753587"/>
            <a:ext cx="7783895" cy="2546916"/>
            <a:chOff x="0" y="0"/>
            <a:chExt cx="7580497" cy="2546910"/>
          </a:xfrm>
        </p:grpSpPr>
        <p:sp>
          <p:nvSpPr>
            <p:cNvPr id="4356" name="Circle">
              <a:extLst>
                <a:ext uri="{FF2B5EF4-FFF2-40B4-BE49-F238E27FC236}">
                  <a16:creationId xmlns:a16="http://schemas.microsoft.com/office/drawing/2014/main" id="{0CFE863E-2739-77F1-8C24-EA654835B310}"/>
                </a:ext>
              </a:extLst>
            </p:cNvPr>
            <p:cNvSpPr/>
            <p:nvPr/>
          </p:nvSpPr>
          <p:spPr>
            <a:xfrm>
              <a:off x="0" y="0"/>
              <a:ext cx="849198" cy="849198"/>
            </a:xfrm>
            <a:prstGeom prst="ellipse">
              <a:avLst/>
            </a:prstGeom>
            <a:solidFill>
              <a:srgbClr val="0ED3EE"/>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sp>
          <p:nvSpPr>
            <p:cNvPr id="4357" name="Lorem ipsum dolor sit elit, consect loreretur nisi ipsum dolor sit consect loreretur nisi Lorem ipsum dolor sit elit, consect loreretur nisi ipsum dolor sit">
              <a:extLst>
                <a:ext uri="{FF2B5EF4-FFF2-40B4-BE49-F238E27FC236}">
                  <a16:creationId xmlns:a16="http://schemas.microsoft.com/office/drawing/2014/main" id="{150EA620-9FA7-EFB5-4DBD-16691A57F762}"/>
                </a:ext>
              </a:extLst>
            </p:cNvPr>
            <p:cNvSpPr/>
            <p:nvPr/>
          </p:nvSpPr>
          <p:spPr>
            <a:xfrm>
              <a:off x="1267289" y="0"/>
              <a:ext cx="6313208" cy="254691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r>
                <a:rPr lang="en-US" b="1" dirty="0"/>
                <a:t>Trusted Partner in People Growth</a:t>
              </a:r>
              <a:br>
                <a:rPr lang="en-US" dirty="0"/>
              </a:br>
              <a:r>
                <a:rPr lang="en-US" dirty="0"/>
                <a:t>At </a:t>
              </a:r>
              <a:r>
                <a:rPr lang="en-US" dirty="0" err="1"/>
                <a:t>Humanxt</a:t>
              </a:r>
              <a:r>
                <a:rPr lang="en-US" dirty="0"/>
                <a:t>, we don’t just provide services—we build relationships. Our mission is to unlock the full potential of your workforce, strengthen organizational culture, and empower individuals to thrive. With us, you gain a strategic HR partner invested in your long-term success.</a:t>
              </a:r>
              <a:endParaRPr dirty="0"/>
            </a:p>
          </p:txBody>
        </p:sp>
        <p:sp>
          <p:nvSpPr>
            <p:cNvPr id="4358" name="3">
              <a:extLst>
                <a:ext uri="{FF2B5EF4-FFF2-40B4-BE49-F238E27FC236}">
                  <a16:creationId xmlns:a16="http://schemas.microsoft.com/office/drawing/2014/main" id="{AF664AA0-3F09-03F7-05A6-BF736AD5331F}"/>
                </a:ext>
              </a:extLst>
            </p:cNvPr>
            <p:cNvSpPr/>
            <p:nvPr/>
          </p:nvSpPr>
          <p:spPr>
            <a:xfrm>
              <a:off x="79362" y="98208"/>
              <a:ext cx="690474" cy="61318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lang="en-US" dirty="0"/>
                <a:t>6</a:t>
              </a:r>
              <a:endParaRPr dirty="0"/>
            </a:p>
          </p:txBody>
        </p:sp>
      </p:grpSp>
      <p:pic>
        <p:nvPicPr>
          <p:cNvPr id="10" name="Picture 9">
            <a:extLst>
              <a:ext uri="{FF2B5EF4-FFF2-40B4-BE49-F238E27FC236}">
                <a16:creationId xmlns:a16="http://schemas.microsoft.com/office/drawing/2014/main" id="{C5BE9129-9404-115C-C601-165FBFDD69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extLst>
      <p:ext uri="{BB962C8B-B14F-4D97-AF65-F5344CB8AC3E}">
        <p14:creationId xmlns:p14="http://schemas.microsoft.com/office/powerpoint/2010/main" val="2631836294"/>
      </p:ext>
    </p:extLst>
  </p:cSld>
  <p:clrMapOvr>
    <a:masterClrMapping/>
  </p:clrMapOvr>
  <p:transition spd="slow" advTm="30000">
    <p:push dir="r"/>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iterate>
                                    <p:tmAbs val="0"/>
                                  </p:iterate>
                                  <p:childTnLst>
                                    <p:set>
                                      <p:cBhvr>
                                        <p:cTn id="6" fill="hold"/>
                                        <p:tgtEl>
                                          <p:spTgt spid="4345"/>
                                        </p:tgtEl>
                                        <p:attrNameLst>
                                          <p:attrName>style.visibility</p:attrName>
                                        </p:attrNameLst>
                                      </p:cBhvr>
                                      <p:to>
                                        <p:strVal val="visible"/>
                                      </p:to>
                                    </p:set>
                                    <p:anim calcmode="lin" valueType="num">
                                      <p:cBhvr>
                                        <p:cTn id="7" dur="1000" fill="hold"/>
                                        <p:tgtEl>
                                          <p:spTgt spid="4345"/>
                                        </p:tgtEl>
                                        <p:attrNameLst>
                                          <p:attrName>ppt_x</p:attrName>
                                        </p:attrNameLst>
                                      </p:cBhvr>
                                      <p:tavLst>
                                        <p:tav tm="0">
                                          <p:val>
                                            <p:strVal val="1+#ppt_w/2"/>
                                          </p:val>
                                        </p:tav>
                                        <p:tav tm="100000">
                                          <p:val>
                                            <p:strVal val="#ppt_x"/>
                                          </p:val>
                                        </p:tav>
                                      </p:tavLst>
                                    </p:anim>
                                    <p:anim calcmode="lin" valueType="num">
                                      <p:cBhvr>
                                        <p:cTn id="8" dur="1000" fill="hold"/>
                                        <p:tgtEl>
                                          <p:spTgt spid="4345"/>
                                        </p:tgtEl>
                                        <p:attrNameLst>
                                          <p:attrName>ppt_y</p:attrName>
                                        </p:attrNameLst>
                                      </p:cBhvr>
                                      <p:tavLst>
                                        <p:tav tm="0">
                                          <p:val>
                                            <p:strVal val="#ppt_y"/>
                                          </p:val>
                                        </p:tav>
                                        <p:tav tm="100000">
                                          <p:val>
                                            <p:strVal val="#ppt_y"/>
                                          </p:val>
                                        </p:tav>
                                      </p:tavLst>
                                    </p:anim>
                                  </p:childTnLst>
                                </p:cTn>
                              </p:par>
                              <p:par>
                                <p:cTn id="9" presetID="2" presetClass="entr" presetSubtype="1" accel="50000" decel="50000" fill="hold" grpId="0" nodeType="withEffect">
                                  <p:stCondLst>
                                    <p:cond delay="500"/>
                                  </p:stCondLst>
                                  <p:iterate>
                                    <p:tmAbs val="0"/>
                                  </p:iterate>
                                  <p:childTnLst>
                                    <p:set>
                                      <p:cBhvr>
                                        <p:cTn id="10" fill="hold"/>
                                        <p:tgtEl>
                                          <p:spTgt spid="4344"/>
                                        </p:tgtEl>
                                        <p:attrNameLst>
                                          <p:attrName>style.visibility</p:attrName>
                                        </p:attrNameLst>
                                      </p:cBhvr>
                                      <p:to>
                                        <p:strVal val="visible"/>
                                      </p:to>
                                    </p:set>
                                    <p:anim calcmode="lin" valueType="num">
                                      <p:cBhvr>
                                        <p:cTn id="11" dur="1000" fill="hold"/>
                                        <p:tgtEl>
                                          <p:spTgt spid="4344"/>
                                        </p:tgtEl>
                                        <p:attrNameLst>
                                          <p:attrName>ppt_x</p:attrName>
                                        </p:attrNameLst>
                                      </p:cBhvr>
                                      <p:tavLst>
                                        <p:tav tm="0">
                                          <p:val>
                                            <p:strVal val="#ppt_x"/>
                                          </p:val>
                                        </p:tav>
                                        <p:tav tm="100000">
                                          <p:val>
                                            <p:strVal val="#ppt_x"/>
                                          </p:val>
                                        </p:tav>
                                      </p:tavLst>
                                    </p:anim>
                                    <p:anim calcmode="lin" valueType="num">
                                      <p:cBhvr>
                                        <p:cTn id="12" dur="1000" fill="hold"/>
                                        <p:tgtEl>
                                          <p:spTgt spid="4344"/>
                                        </p:tgtEl>
                                        <p:attrNameLst>
                                          <p:attrName>ppt_y</p:attrName>
                                        </p:attrNameLst>
                                      </p:cBhvr>
                                      <p:tavLst>
                                        <p:tav tm="0">
                                          <p:val>
                                            <p:strVal val="0-#ppt_h/2"/>
                                          </p:val>
                                        </p:tav>
                                        <p:tav tm="100000">
                                          <p:val>
                                            <p:strVal val="#ppt_y"/>
                                          </p:val>
                                        </p:tav>
                                      </p:tavLst>
                                    </p:anim>
                                  </p:childTnLst>
                                </p:cTn>
                              </p:par>
                              <p:par>
                                <p:cTn id="13" presetID="2" presetClass="entr" presetSubtype="8" accel="50000" decel="50000" fill="hold" grpId="0" nodeType="withEffect">
                                  <p:stCondLst>
                                    <p:cond delay="1000"/>
                                  </p:stCondLst>
                                  <p:iterate>
                                    <p:tmAbs val="0"/>
                                  </p:iterate>
                                  <p:childTnLst>
                                    <p:set>
                                      <p:cBhvr>
                                        <p:cTn id="14" fill="hold"/>
                                        <p:tgtEl>
                                          <p:spTgt spid="4347"/>
                                        </p:tgtEl>
                                        <p:attrNameLst>
                                          <p:attrName>style.visibility</p:attrName>
                                        </p:attrNameLst>
                                      </p:cBhvr>
                                      <p:to>
                                        <p:strVal val="visible"/>
                                      </p:to>
                                    </p:set>
                                    <p:anim calcmode="lin" valueType="num">
                                      <p:cBhvr>
                                        <p:cTn id="15" dur="1000" fill="hold"/>
                                        <p:tgtEl>
                                          <p:spTgt spid="4347"/>
                                        </p:tgtEl>
                                        <p:attrNameLst>
                                          <p:attrName>ppt_x</p:attrName>
                                        </p:attrNameLst>
                                      </p:cBhvr>
                                      <p:tavLst>
                                        <p:tav tm="0">
                                          <p:val>
                                            <p:strVal val="0-#ppt_w/2"/>
                                          </p:val>
                                        </p:tav>
                                        <p:tav tm="100000">
                                          <p:val>
                                            <p:strVal val="#ppt_x"/>
                                          </p:val>
                                        </p:tav>
                                      </p:tavLst>
                                    </p:anim>
                                    <p:anim calcmode="lin" valueType="num">
                                      <p:cBhvr>
                                        <p:cTn id="16" dur="1000" fill="hold"/>
                                        <p:tgtEl>
                                          <p:spTgt spid="4347"/>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0" nodeType="withEffect">
                                  <p:stCondLst>
                                    <p:cond delay="1500"/>
                                  </p:stCondLst>
                                  <p:iterate>
                                    <p:tmAbs val="0"/>
                                  </p:iterate>
                                  <p:childTnLst>
                                    <p:set>
                                      <p:cBhvr>
                                        <p:cTn id="18" fill="hold"/>
                                        <p:tgtEl>
                                          <p:spTgt spid="4351"/>
                                        </p:tgtEl>
                                        <p:attrNameLst>
                                          <p:attrName>style.visibility</p:attrName>
                                        </p:attrNameLst>
                                      </p:cBhvr>
                                      <p:to>
                                        <p:strVal val="visible"/>
                                      </p:to>
                                    </p:set>
                                    <p:anim calcmode="lin" valueType="num">
                                      <p:cBhvr>
                                        <p:cTn id="19" dur="1000" fill="hold"/>
                                        <p:tgtEl>
                                          <p:spTgt spid="4351"/>
                                        </p:tgtEl>
                                        <p:attrNameLst>
                                          <p:attrName>ppt_x</p:attrName>
                                        </p:attrNameLst>
                                      </p:cBhvr>
                                      <p:tavLst>
                                        <p:tav tm="0">
                                          <p:val>
                                            <p:strVal val="#ppt_x"/>
                                          </p:val>
                                        </p:tav>
                                        <p:tav tm="100000">
                                          <p:val>
                                            <p:strVal val="#ppt_x"/>
                                          </p:val>
                                        </p:tav>
                                      </p:tavLst>
                                    </p:anim>
                                    <p:anim calcmode="lin" valueType="num">
                                      <p:cBhvr>
                                        <p:cTn id="20" dur="1000" fill="hold"/>
                                        <p:tgtEl>
                                          <p:spTgt spid="4351"/>
                                        </p:tgtEl>
                                        <p:attrNameLst>
                                          <p:attrName>ppt_y</p:attrName>
                                        </p:attrNameLst>
                                      </p:cBhvr>
                                      <p:tavLst>
                                        <p:tav tm="0">
                                          <p:val>
                                            <p:strVal val="1+#ppt_h/2"/>
                                          </p:val>
                                        </p:tav>
                                        <p:tav tm="100000">
                                          <p:val>
                                            <p:strVal val="#ppt_y"/>
                                          </p:val>
                                        </p:tav>
                                      </p:tavLst>
                                    </p:anim>
                                  </p:childTnLst>
                                </p:cTn>
                              </p:par>
                              <p:par>
                                <p:cTn id="21" presetID="2" presetClass="entr" presetSubtype="4" accel="50000" decel="50000" fill="hold" grpId="0" nodeType="withEffect">
                                  <p:stCondLst>
                                    <p:cond delay="2000"/>
                                  </p:stCondLst>
                                  <p:iterate>
                                    <p:tmAbs val="0"/>
                                  </p:iterate>
                                  <p:childTnLst>
                                    <p:set>
                                      <p:cBhvr>
                                        <p:cTn id="22" fill="hold"/>
                                        <p:tgtEl>
                                          <p:spTgt spid="4355"/>
                                        </p:tgtEl>
                                        <p:attrNameLst>
                                          <p:attrName>style.visibility</p:attrName>
                                        </p:attrNameLst>
                                      </p:cBhvr>
                                      <p:to>
                                        <p:strVal val="visible"/>
                                      </p:to>
                                    </p:set>
                                    <p:anim calcmode="lin" valueType="num">
                                      <p:cBhvr>
                                        <p:cTn id="23" dur="1000" fill="hold"/>
                                        <p:tgtEl>
                                          <p:spTgt spid="4355"/>
                                        </p:tgtEl>
                                        <p:attrNameLst>
                                          <p:attrName>ppt_x</p:attrName>
                                        </p:attrNameLst>
                                      </p:cBhvr>
                                      <p:tavLst>
                                        <p:tav tm="0">
                                          <p:val>
                                            <p:strVal val="#ppt_x"/>
                                          </p:val>
                                        </p:tav>
                                        <p:tav tm="100000">
                                          <p:val>
                                            <p:strVal val="#ppt_x"/>
                                          </p:val>
                                        </p:tav>
                                      </p:tavLst>
                                    </p:anim>
                                    <p:anim calcmode="lin" valueType="num">
                                      <p:cBhvr>
                                        <p:cTn id="24" dur="1000" fill="hold"/>
                                        <p:tgtEl>
                                          <p:spTgt spid="4355"/>
                                        </p:tgtEl>
                                        <p:attrNameLst>
                                          <p:attrName>ppt_y</p:attrName>
                                        </p:attrNameLst>
                                      </p:cBhvr>
                                      <p:tavLst>
                                        <p:tav tm="0">
                                          <p:val>
                                            <p:strVal val="1+#ppt_h/2"/>
                                          </p:val>
                                        </p:tav>
                                        <p:tav tm="100000">
                                          <p:val>
                                            <p:strVal val="#ppt_y"/>
                                          </p:val>
                                        </p:tav>
                                      </p:tavLst>
                                    </p:anim>
                                  </p:childTnLst>
                                </p:cTn>
                              </p:par>
                              <p:par>
                                <p:cTn id="25" presetID="2" presetClass="entr" presetSubtype="4" accel="50000" decel="50000" fill="hold" grpId="0" nodeType="withEffect">
                                  <p:stCondLst>
                                    <p:cond delay="2500"/>
                                  </p:stCondLst>
                                  <p:iterate>
                                    <p:tmAbs val="0"/>
                                  </p:iterate>
                                  <p:childTnLst>
                                    <p:set>
                                      <p:cBhvr>
                                        <p:cTn id="26" fill="hold"/>
                                        <p:tgtEl>
                                          <p:spTgt spid="4359"/>
                                        </p:tgtEl>
                                        <p:attrNameLst>
                                          <p:attrName>style.visibility</p:attrName>
                                        </p:attrNameLst>
                                      </p:cBhvr>
                                      <p:to>
                                        <p:strVal val="visible"/>
                                      </p:to>
                                    </p:set>
                                    <p:anim calcmode="lin" valueType="num">
                                      <p:cBhvr>
                                        <p:cTn id="27" dur="1000" fill="hold"/>
                                        <p:tgtEl>
                                          <p:spTgt spid="4359"/>
                                        </p:tgtEl>
                                        <p:attrNameLst>
                                          <p:attrName>ppt_x</p:attrName>
                                        </p:attrNameLst>
                                      </p:cBhvr>
                                      <p:tavLst>
                                        <p:tav tm="0">
                                          <p:val>
                                            <p:strVal val="#ppt_x"/>
                                          </p:val>
                                        </p:tav>
                                        <p:tav tm="100000">
                                          <p:val>
                                            <p:strVal val="#ppt_x"/>
                                          </p:val>
                                        </p:tav>
                                      </p:tavLst>
                                    </p:anim>
                                    <p:anim calcmode="lin" valueType="num">
                                      <p:cBhvr>
                                        <p:cTn id="28" dur="1000" fill="hold"/>
                                        <p:tgtEl>
                                          <p:spTgt spid="43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4" grpId="0" animBg="1" advAuto="0"/>
      <p:bldP spid="4345" grpId="0" animBg="1" advAuto="0"/>
      <p:bldP spid="4347" grpId="0" animBg="1" advAuto="0"/>
      <p:bldP spid="4351" grpId="0" animBg="1" advAuto="0"/>
      <p:bldP spid="4355" grpId="0" animBg="1" advAuto="0"/>
      <p:bldP spid="4359"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20" name="JPEG image 10.jpeg"/>
          <p:cNvPicPr>
            <a:picLocks noChangeAspect="1"/>
          </p:cNvPicPr>
          <p:nvPr/>
        </p:nvPicPr>
        <p:blipFill>
          <a:blip r:embed="rId2">
            <a:extLst>
              <a:ext uri="{28A0092B-C50C-407E-A947-70E740481C1C}">
                <a14:useLocalDpi xmlns:a14="http://schemas.microsoft.com/office/drawing/2010/main" val="0"/>
              </a:ext>
            </a:extLst>
          </a:blip>
          <a:srcRect/>
          <a:stretch/>
        </p:blipFill>
        <p:spPr>
          <a:xfrm>
            <a:off x="0" y="-66470"/>
            <a:ext cx="19723887" cy="13804813"/>
          </a:xfrm>
          <a:prstGeom prst="rect">
            <a:avLst/>
          </a:prstGeom>
          <a:ln w="12700">
            <a:miter lim="400000"/>
          </a:ln>
        </p:spPr>
      </p:pic>
      <p:grpSp>
        <p:nvGrpSpPr>
          <p:cNvPr id="2223" name="Group"/>
          <p:cNvGrpSpPr/>
          <p:nvPr/>
        </p:nvGrpSpPr>
        <p:grpSpPr>
          <a:xfrm>
            <a:off x="5820938" y="-88814"/>
            <a:ext cx="18563062" cy="13804814"/>
            <a:chOff x="0" y="0"/>
            <a:chExt cx="16256000" cy="13804813"/>
          </a:xfrm>
        </p:grpSpPr>
        <p:sp>
          <p:nvSpPr>
            <p:cNvPr id="2221" name="Rectangle"/>
            <p:cNvSpPr/>
            <p:nvPr/>
          </p:nvSpPr>
          <p:spPr>
            <a:xfrm>
              <a:off x="0" y="0"/>
              <a:ext cx="8128000" cy="13804813"/>
            </a:xfrm>
            <a:prstGeom prst="rect">
              <a:avLst/>
            </a:prstGeom>
            <a:gradFill flip="none" rotWithShape="1">
              <a:gsLst>
                <a:gs pos="0">
                  <a:srgbClr val="FFFFFF">
                    <a:alpha val="0"/>
                  </a:srgbClr>
                </a:gs>
                <a:gs pos="100000">
                  <a:srgbClr val="FFFFFF"/>
                </a:gs>
              </a:gsLst>
              <a:lin ang="0" scaled="0"/>
            </a:gradFill>
            <a:ln w="12700" cap="flat">
              <a:noFill/>
              <a:miter lim="400000"/>
            </a:ln>
            <a:effectLst/>
          </p:spPr>
          <p:txBody>
            <a:bodyPr wrap="square" lIns="0" tIns="0" rIns="0" bIns="0" numCol="1" anchor="ctr">
              <a:noAutofit/>
            </a:bodyPr>
            <a:lstStyle/>
            <a:p>
              <a:pPr algn="ctr">
                <a:lnSpc>
                  <a:spcPct val="100000"/>
                </a:lnSpc>
                <a:defRPr sz="3200" spc="0">
                  <a:solidFill>
                    <a:srgbClr val="FFFFFF">
                      <a:alpha val="0"/>
                    </a:srgbClr>
                  </a:solidFill>
                  <a:latin typeface="Helvetica Neue Medium"/>
                  <a:ea typeface="Helvetica Neue Medium"/>
                  <a:cs typeface="Helvetica Neue Medium"/>
                  <a:sym typeface="Helvetica Neue Medium"/>
                </a:defRPr>
              </a:pPr>
              <a:endParaRPr dirty="0"/>
            </a:p>
          </p:txBody>
        </p:sp>
        <p:sp>
          <p:nvSpPr>
            <p:cNvPr id="2222" name="Rectangle"/>
            <p:cNvSpPr/>
            <p:nvPr/>
          </p:nvSpPr>
          <p:spPr>
            <a:xfrm>
              <a:off x="8128000" y="0"/>
              <a:ext cx="8128000" cy="13804813"/>
            </a:xfrm>
            <a:prstGeom prst="rect">
              <a:avLst/>
            </a:prstGeom>
            <a:solidFill>
              <a:srgbClr val="FFFFFF"/>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grpSp>
        <p:nvGrpSpPr>
          <p:cNvPr id="2227" name="Group"/>
          <p:cNvGrpSpPr/>
          <p:nvPr/>
        </p:nvGrpSpPr>
        <p:grpSpPr>
          <a:xfrm>
            <a:off x="15743528" y="2025522"/>
            <a:ext cx="7510008" cy="3048068"/>
            <a:chOff x="0" y="0"/>
            <a:chExt cx="7510007" cy="3048067"/>
          </a:xfrm>
        </p:grpSpPr>
        <p:sp>
          <p:nvSpPr>
            <p:cNvPr id="2224" name="The power of hands and a pencil"/>
            <p:cNvSpPr txBox="1"/>
            <p:nvPr/>
          </p:nvSpPr>
          <p:spPr>
            <a:xfrm>
              <a:off x="129508" y="729485"/>
              <a:ext cx="7380499" cy="231858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90000"/>
                </a:lnSpc>
                <a:defRPr sz="6500" spc="0">
                  <a:latin typeface="+mn-lt"/>
                  <a:ea typeface="+mn-ea"/>
                  <a:cs typeface="+mn-cs"/>
                  <a:sym typeface="Montserrat Bold"/>
                </a:defRPr>
              </a:lvl1pPr>
            </a:lstStyle>
            <a:p>
              <a:pPr>
                <a:lnSpc>
                  <a:spcPct val="90000"/>
                </a:lnSpc>
                <a:defRPr sz="9000" spc="0">
                  <a:latin typeface="+mn-lt"/>
                  <a:ea typeface="+mn-ea"/>
                  <a:cs typeface="+mn-cs"/>
                  <a:sym typeface="Montserrat Bold"/>
                </a:defRPr>
              </a:pPr>
              <a:r>
                <a:rPr lang="en-US" sz="8000" dirty="0">
                  <a:solidFill>
                    <a:srgbClr val="D5D5D5"/>
                  </a:solidFill>
                </a:rPr>
                <a:t>Our</a:t>
              </a:r>
              <a:endParaRPr lang="en-US" sz="8000" dirty="0"/>
            </a:p>
            <a:p>
              <a:pPr>
                <a:lnSpc>
                  <a:spcPct val="90000"/>
                </a:lnSpc>
                <a:defRPr sz="9000" spc="0">
                  <a:latin typeface="+mn-lt"/>
                  <a:ea typeface="+mn-ea"/>
                  <a:cs typeface="+mn-cs"/>
                  <a:sym typeface="Montserrat Bold"/>
                </a:defRPr>
              </a:pPr>
              <a:r>
                <a:rPr lang="en-US" sz="8000" dirty="0"/>
                <a:t>Standing</a:t>
              </a:r>
              <a:endParaRPr lang="en-US" dirty="0"/>
            </a:p>
          </p:txBody>
        </p:sp>
        <p:sp>
          <p:nvSpPr>
            <p:cNvPr id="2225" name="Awesome template"/>
            <p:cNvSpPr txBox="1"/>
            <p:nvPr/>
          </p:nvSpPr>
          <p:spPr>
            <a:xfrm>
              <a:off x="0" y="0"/>
              <a:ext cx="6350000" cy="5280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latin typeface="+mn-lt"/>
                  <a:ea typeface="+mn-ea"/>
                  <a:cs typeface="+mn-cs"/>
                  <a:sym typeface="Montserrat Bold"/>
                </a:defRPr>
              </a:lvl1pPr>
            </a:lstStyle>
            <a:p>
              <a:endParaRPr dirty="0"/>
            </a:p>
          </p:txBody>
        </p:sp>
      </p:grpSp>
      <p:sp>
        <p:nvSpPr>
          <p:cNvPr id="2228" name="Insert title here"/>
          <p:cNvSpPr txBox="1"/>
          <p:nvPr/>
        </p:nvSpPr>
        <p:spPr>
          <a:xfrm>
            <a:off x="15743528" y="6505172"/>
            <a:ext cx="6873586" cy="5280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latin typeface="+mn-lt"/>
                <a:ea typeface="+mn-ea"/>
                <a:cs typeface="+mn-cs"/>
                <a:sym typeface="Montserrat Bold"/>
              </a:defRPr>
            </a:lvl1pPr>
          </a:lstStyle>
          <a:p>
            <a:endParaRPr dirty="0"/>
          </a:p>
        </p:txBody>
      </p:sp>
      <p:sp>
        <p:nvSpPr>
          <p:cNvPr id="4" name="Shape">
            <a:extLst>
              <a:ext uri="{FF2B5EF4-FFF2-40B4-BE49-F238E27FC236}">
                <a16:creationId xmlns:a16="http://schemas.microsoft.com/office/drawing/2014/main" id="{648D1CAD-5B63-46F6-D726-219F9E4A988B}"/>
              </a:ext>
            </a:extLst>
          </p:cNvPr>
          <p:cNvSpPr/>
          <p:nvPr/>
        </p:nvSpPr>
        <p:spPr>
          <a:xfrm rot="5400000">
            <a:off x="15919982" y="1289795"/>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grpSp>
        <p:nvGrpSpPr>
          <p:cNvPr id="2" name="Group">
            <a:extLst>
              <a:ext uri="{FF2B5EF4-FFF2-40B4-BE49-F238E27FC236}">
                <a16:creationId xmlns:a16="http://schemas.microsoft.com/office/drawing/2014/main" id="{B2D20977-C1A6-B378-2698-B7EA71224AB7}"/>
              </a:ext>
            </a:extLst>
          </p:cNvPr>
          <p:cNvGrpSpPr/>
          <p:nvPr/>
        </p:nvGrpSpPr>
        <p:grpSpPr>
          <a:xfrm>
            <a:off x="14641207" y="5298576"/>
            <a:ext cx="7887094" cy="2546916"/>
            <a:chOff x="79362" y="33961"/>
            <a:chExt cx="7887093" cy="2546913"/>
          </a:xfrm>
        </p:grpSpPr>
        <p:sp>
          <p:nvSpPr>
            <p:cNvPr id="5" name="Lorem ipsum dolor sit elit, consect loreretur nisi ipsum dolor sit consect loreretur nisi Lorem ipsum dolor sit elit, consect loreretur nisi ipsum dolor sit consect loreretur nisi">
              <a:extLst>
                <a:ext uri="{FF2B5EF4-FFF2-40B4-BE49-F238E27FC236}">
                  <a16:creationId xmlns:a16="http://schemas.microsoft.com/office/drawing/2014/main" id="{062D35D4-F434-2DBE-8568-3B563E530F36}"/>
                </a:ext>
              </a:extLst>
            </p:cNvPr>
            <p:cNvSpPr txBox="1"/>
            <p:nvPr/>
          </p:nvSpPr>
          <p:spPr>
            <a:xfrm>
              <a:off x="1314518" y="33961"/>
              <a:ext cx="6651937" cy="25469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The team at </a:t>
              </a:r>
              <a:r>
                <a:rPr lang="en-US" dirty="0" err="1"/>
                <a:t>Humanxt</a:t>
              </a:r>
              <a:r>
                <a:rPr lang="en-US" dirty="0"/>
                <a:t> delivered exactly what our HR department needed. Their AI-driven insights helped us uncover workforce patterns that directly improved our retention and employee engagement strategy.</a:t>
              </a:r>
            </a:p>
            <a:p>
              <a:r>
                <a:rPr lang="en-US" b="1" dirty="0"/>
                <a:t>Sarah Al Mansoori</a:t>
              </a:r>
            </a:p>
            <a:p>
              <a:r>
                <a:rPr lang="en-US" dirty="0"/>
                <a:t>HR Director</a:t>
              </a:r>
            </a:p>
          </p:txBody>
        </p:sp>
        <p:sp>
          <p:nvSpPr>
            <p:cNvPr id="6" name="1">
              <a:extLst>
                <a:ext uri="{FF2B5EF4-FFF2-40B4-BE49-F238E27FC236}">
                  <a16:creationId xmlns:a16="http://schemas.microsoft.com/office/drawing/2014/main" id="{64BB8F35-C731-6225-F312-750722612365}"/>
                </a:ext>
              </a:extLst>
            </p:cNvPr>
            <p:cNvSpPr txBox="1"/>
            <p:nvPr/>
          </p:nvSpPr>
          <p:spPr>
            <a:xfrm>
              <a:off x="79362" y="138848"/>
              <a:ext cx="690474" cy="571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1</a:t>
              </a:r>
            </a:p>
          </p:txBody>
        </p:sp>
      </p:grpSp>
      <p:pic>
        <p:nvPicPr>
          <p:cNvPr id="8" name="Picture 7">
            <a:extLst>
              <a:ext uri="{FF2B5EF4-FFF2-40B4-BE49-F238E27FC236}">
                <a16:creationId xmlns:a16="http://schemas.microsoft.com/office/drawing/2014/main" id="{D92BEB26-28DE-D8A8-0A59-A30F247DD637}"/>
              </a:ext>
            </a:extLst>
          </p:cNvPr>
          <p:cNvPicPr>
            <a:picLocks noChangeAspect="1"/>
          </p:cNvPicPr>
          <p:nvPr/>
        </p:nvPicPr>
        <p:blipFill>
          <a:blip r:embed="rId3"/>
          <a:stretch>
            <a:fillRect/>
          </a:stretch>
        </p:blipFill>
        <p:spPr>
          <a:xfrm>
            <a:off x="20781775" y="7014088"/>
            <a:ext cx="1038370" cy="895475"/>
          </a:xfrm>
          <a:prstGeom prst="rect">
            <a:avLst/>
          </a:prstGeom>
        </p:spPr>
      </p:pic>
      <p:grpSp>
        <p:nvGrpSpPr>
          <p:cNvPr id="9" name="Group">
            <a:extLst>
              <a:ext uri="{FF2B5EF4-FFF2-40B4-BE49-F238E27FC236}">
                <a16:creationId xmlns:a16="http://schemas.microsoft.com/office/drawing/2014/main" id="{340BAF8F-4734-EAB3-E3D5-B0D7C7B4FD07}"/>
              </a:ext>
            </a:extLst>
          </p:cNvPr>
          <p:cNvGrpSpPr/>
          <p:nvPr/>
        </p:nvGrpSpPr>
        <p:grpSpPr>
          <a:xfrm>
            <a:off x="14625750" y="7890449"/>
            <a:ext cx="7874624" cy="2546916"/>
            <a:chOff x="79362" y="-125948"/>
            <a:chExt cx="7874623" cy="2546913"/>
          </a:xfrm>
        </p:grpSpPr>
        <p:sp>
          <p:nvSpPr>
            <p:cNvPr id="10" name="Lorem ipsum dolor sit elit, consect loreretur nisi ipsum dolor sit consect loreretur nisi Lorem ipsum dolor sit elit, consect loreretur nisi ipsum dolor sit consect loreretur nisi">
              <a:extLst>
                <a:ext uri="{FF2B5EF4-FFF2-40B4-BE49-F238E27FC236}">
                  <a16:creationId xmlns:a16="http://schemas.microsoft.com/office/drawing/2014/main" id="{A5368C1E-3317-9F21-7D98-885FA3F5026E}"/>
                </a:ext>
              </a:extLst>
            </p:cNvPr>
            <p:cNvSpPr txBox="1"/>
            <p:nvPr/>
          </p:nvSpPr>
          <p:spPr>
            <a:xfrm>
              <a:off x="1302048" y="-125948"/>
              <a:ext cx="6651937" cy="25469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Thanks to </a:t>
              </a:r>
              <a:r>
                <a:rPr lang="en-US" dirty="0" err="1"/>
                <a:t>HumanXT</a:t>
              </a:r>
              <a:r>
                <a:rPr lang="en-US" dirty="0"/>
                <a:t>, we built a compliant and scalable HR structure that supported our rapid business growth. Their role design, onboarding solutions, and continuous support were tailored perfectly to our evolving needs.</a:t>
              </a:r>
            </a:p>
            <a:p>
              <a:r>
                <a:rPr lang="en-US" b="1" dirty="0"/>
                <a:t>Neha Kapoor</a:t>
              </a:r>
            </a:p>
            <a:p>
              <a:r>
                <a:rPr lang="en-US" dirty="0"/>
                <a:t>People Operations Manager</a:t>
              </a:r>
            </a:p>
          </p:txBody>
        </p:sp>
        <p:sp>
          <p:nvSpPr>
            <p:cNvPr id="11" name="1">
              <a:extLst>
                <a:ext uri="{FF2B5EF4-FFF2-40B4-BE49-F238E27FC236}">
                  <a16:creationId xmlns:a16="http://schemas.microsoft.com/office/drawing/2014/main" id="{CEB41364-991E-A1E9-25BF-73647F89A058}"/>
                </a:ext>
              </a:extLst>
            </p:cNvPr>
            <p:cNvSpPr txBox="1"/>
            <p:nvPr/>
          </p:nvSpPr>
          <p:spPr>
            <a:xfrm>
              <a:off x="79362" y="138848"/>
              <a:ext cx="690474" cy="571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1</a:t>
              </a:r>
            </a:p>
          </p:txBody>
        </p:sp>
      </p:grpSp>
      <p:pic>
        <p:nvPicPr>
          <p:cNvPr id="12" name="Picture 11">
            <a:extLst>
              <a:ext uri="{FF2B5EF4-FFF2-40B4-BE49-F238E27FC236}">
                <a16:creationId xmlns:a16="http://schemas.microsoft.com/office/drawing/2014/main" id="{9B57C293-A045-9C0A-2ADB-4731F898578E}"/>
              </a:ext>
            </a:extLst>
          </p:cNvPr>
          <p:cNvPicPr>
            <a:picLocks noChangeAspect="1"/>
          </p:cNvPicPr>
          <p:nvPr/>
        </p:nvPicPr>
        <p:blipFill>
          <a:blip r:embed="rId3"/>
          <a:stretch>
            <a:fillRect/>
          </a:stretch>
        </p:blipFill>
        <p:spPr>
          <a:xfrm>
            <a:off x="20893535" y="9607875"/>
            <a:ext cx="1038370" cy="895475"/>
          </a:xfrm>
          <a:prstGeom prst="rect">
            <a:avLst/>
          </a:prstGeom>
        </p:spPr>
      </p:pic>
      <p:grpSp>
        <p:nvGrpSpPr>
          <p:cNvPr id="13" name="Group">
            <a:extLst>
              <a:ext uri="{FF2B5EF4-FFF2-40B4-BE49-F238E27FC236}">
                <a16:creationId xmlns:a16="http://schemas.microsoft.com/office/drawing/2014/main" id="{8A17518B-29B5-EC24-4960-1040D84C49F8}"/>
              </a:ext>
            </a:extLst>
          </p:cNvPr>
          <p:cNvGrpSpPr/>
          <p:nvPr/>
        </p:nvGrpSpPr>
        <p:grpSpPr>
          <a:xfrm>
            <a:off x="14625750" y="10525694"/>
            <a:ext cx="7874624" cy="2962414"/>
            <a:chOff x="79362" y="-231314"/>
            <a:chExt cx="7874623" cy="2962411"/>
          </a:xfrm>
        </p:grpSpPr>
        <p:sp>
          <p:nvSpPr>
            <p:cNvPr id="14" name="Lorem ipsum dolor sit elit, consect loreretur nisi ipsum dolor sit consect loreretur nisi Lorem ipsum dolor sit elit, consect loreretur nisi ipsum dolor sit consect loreretur nisi">
              <a:extLst>
                <a:ext uri="{FF2B5EF4-FFF2-40B4-BE49-F238E27FC236}">
                  <a16:creationId xmlns:a16="http://schemas.microsoft.com/office/drawing/2014/main" id="{FFDBA530-2706-81AB-B234-64A14DAD4E8E}"/>
                </a:ext>
              </a:extLst>
            </p:cNvPr>
            <p:cNvSpPr txBox="1"/>
            <p:nvPr/>
          </p:nvSpPr>
          <p:spPr>
            <a:xfrm>
              <a:off x="1302048" y="-231314"/>
              <a:ext cx="6651937" cy="29624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r>
                <a:rPr lang="en-US" dirty="0"/>
                <a:t>What I appreciated most was their proactive mindset. </a:t>
              </a:r>
              <a:r>
                <a:rPr lang="en-US" dirty="0" err="1"/>
                <a:t>HumanXT</a:t>
              </a:r>
              <a:r>
                <a:rPr lang="en-US" dirty="0"/>
                <a:t> didn't just provide dashboards—they interpreted the data, suggested solutions, and helped us act fast. Their people analytics service is among the best I’ve seen.</a:t>
              </a:r>
            </a:p>
            <a:p>
              <a:r>
                <a:rPr lang="en-US" b="1" dirty="0"/>
                <a:t>Imran Hussain Shaikh</a:t>
              </a:r>
            </a:p>
            <a:p>
              <a:r>
                <a:rPr lang="en-US" dirty="0"/>
                <a:t>Senior HR Consultant</a:t>
              </a:r>
            </a:p>
          </p:txBody>
        </p:sp>
        <p:sp>
          <p:nvSpPr>
            <p:cNvPr id="15" name="1">
              <a:extLst>
                <a:ext uri="{FF2B5EF4-FFF2-40B4-BE49-F238E27FC236}">
                  <a16:creationId xmlns:a16="http://schemas.microsoft.com/office/drawing/2014/main" id="{0A01EE48-EFF7-459E-E73E-DAE39673A014}"/>
                </a:ext>
              </a:extLst>
            </p:cNvPr>
            <p:cNvSpPr txBox="1"/>
            <p:nvPr/>
          </p:nvSpPr>
          <p:spPr>
            <a:xfrm>
              <a:off x="79362" y="138848"/>
              <a:ext cx="690474" cy="571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gn="ctr">
                <a:lnSpc>
                  <a:spcPct val="120000"/>
                </a:lnSpc>
                <a:defRPr sz="3000" cap="all" spc="150">
                  <a:solidFill>
                    <a:srgbClr val="FFFFFF"/>
                  </a:solidFill>
                  <a:latin typeface="+mn-lt"/>
                  <a:ea typeface="+mn-ea"/>
                  <a:cs typeface="+mn-cs"/>
                  <a:sym typeface="Montserrat Bold"/>
                </a:defRPr>
              </a:lvl1pPr>
            </a:lstStyle>
            <a:p>
              <a:r>
                <a:rPr dirty="0"/>
                <a:t>1</a:t>
              </a:r>
            </a:p>
          </p:txBody>
        </p:sp>
      </p:grpSp>
      <p:pic>
        <p:nvPicPr>
          <p:cNvPr id="16" name="Picture 15">
            <a:extLst>
              <a:ext uri="{FF2B5EF4-FFF2-40B4-BE49-F238E27FC236}">
                <a16:creationId xmlns:a16="http://schemas.microsoft.com/office/drawing/2014/main" id="{21D9578D-766F-E634-0150-8786553CDA20}"/>
              </a:ext>
            </a:extLst>
          </p:cNvPr>
          <p:cNvPicPr>
            <a:picLocks noChangeAspect="1"/>
          </p:cNvPicPr>
          <p:nvPr/>
        </p:nvPicPr>
        <p:blipFill>
          <a:blip r:embed="rId3"/>
          <a:stretch>
            <a:fillRect/>
          </a:stretch>
        </p:blipFill>
        <p:spPr>
          <a:xfrm>
            <a:off x="20893535" y="12416952"/>
            <a:ext cx="1038370" cy="895475"/>
          </a:xfrm>
          <a:prstGeom prst="rect">
            <a:avLst/>
          </a:prstGeom>
        </p:spPr>
      </p:pic>
      <p:pic>
        <p:nvPicPr>
          <p:cNvPr id="23" name="Picture 22">
            <a:extLst>
              <a:ext uri="{FF2B5EF4-FFF2-40B4-BE49-F238E27FC236}">
                <a16:creationId xmlns:a16="http://schemas.microsoft.com/office/drawing/2014/main" id="{87684AED-090C-CE29-0339-0D0F41F5DF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cSld>
  <p:clrMapOvr>
    <a:masterClrMapping/>
  </p:clrMapOvr>
  <p:transition spd="slow" advTm="20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accel="50000" decel="50000" fill="hold" grpId="1" nodeType="afterEffect">
                                  <p:stCondLst>
                                    <p:cond delay="0"/>
                                  </p:stCondLst>
                                  <p:iterate>
                                    <p:tmAbs val="0"/>
                                  </p:iterate>
                                  <p:childTnLst>
                                    <p:set>
                                      <p:cBhvr>
                                        <p:cTn id="6" fill="hold"/>
                                        <p:tgtEl>
                                          <p:spTgt spid="2220"/>
                                        </p:tgtEl>
                                        <p:attrNameLst>
                                          <p:attrName>style.visibility</p:attrName>
                                        </p:attrNameLst>
                                      </p:cBhvr>
                                      <p:to>
                                        <p:strVal val="visible"/>
                                      </p:to>
                                    </p:set>
                                    <p:animEffect transition="in" filter="fade">
                                      <p:cBhvr>
                                        <p:cTn id="7" dur="1000"/>
                                        <p:tgtEl>
                                          <p:spTgt spid="2220"/>
                                        </p:tgtEl>
                                      </p:cBhvr>
                                    </p:animEffect>
                                  </p:childTnLst>
                                </p:cTn>
                              </p:par>
                              <p:par>
                                <p:cTn id="8" presetID="2" presetClass="entr" presetSubtype="2" accel="50000" decel="50000" fill="hold" grpId="2" nodeType="withEffect">
                                  <p:stCondLst>
                                    <p:cond delay="500"/>
                                  </p:stCondLst>
                                  <p:iterate>
                                    <p:tmAbs val="0"/>
                                  </p:iterate>
                                  <p:childTnLst>
                                    <p:set>
                                      <p:cBhvr>
                                        <p:cTn id="9" fill="hold"/>
                                        <p:tgtEl>
                                          <p:spTgt spid="2223"/>
                                        </p:tgtEl>
                                        <p:attrNameLst>
                                          <p:attrName>style.visibility</p:attrName>
                                        </p:attrNameLst>
                                      </p:cBhvr>
                                      <p:to>
                                        <p:strVal val="visible"/>
                                      </p:to>
                                    </p:set>
                                    <p:anim calcmode="lin" valueType="num">
                                      <p:cBhvr>
                                        <p:cTn id="10" dur="1000" fill="hold"/>
                                        <p:tgtEl>
                                          <p:spTgt spid="2223"/>
                                        </p:tgtEl>
                                        <p:attrNameLst>
                                          <p:attrName>ppt_x</p:attrName>
                                        </p:attrNameLst>
                                      </p:cBhvr>
                                      <p:tavLst>
                                        <p:tav tm="0">
                                          <p:val>
                                            <p:strVal val="1+#ppt_w/2"/>
                                          </p:val>
                                        </p:tav>
                                        <p:tav tm="100000">
                                          <p:val>
                                            <p:strVal val="#ppt_x"/>
                                          </p:val>
                                        </p:tav>
                                      </p:tavLst>
                                    </p:anim>
                                    <p:anim calcmode="lin" valueType="num">
                                      <p:cBhvr>
                                        <p:cTn id="11" dur="1000" fill="hold"/>
                                        <p:tgtEl>
                                          <p:spTgt spid="2223"/>
                                        </p:tgtEl>
                                        <p:attrNameLst>
                                          <p:attrName>ppt_y</p:attrName>
                                        </p:attrNameLst>
                                      </p:cBhvr>
                                      <p:tavLst>
                                        <p:tav tm="0">
                                          <p:val>
                                            <p:strVal val="#ppt_y"/>
                                          </p:val>
                                        </p:tav>
                                        <p:tav tm="100000">
                                          <p:val>
                                            <p:strVal val="#ppt_y"/>
                                          </p:val>
                                        </p:tav>
                                      </p:tavLst>
                                    </p:anim>
                                  </p:childTnLst>
                                </p:cTn>
                              </p:par>
                              <p:par>
                                <p:cTn id="12" presetID="2" presetClass="entr" presetSubtype="1" accel="50000" decel="50000" fill="hold" grpId="3" nodeType="withEffect">
                                  <p:stCondLst>
                                    <p:cond delay="1000"/>
                                  </p:stCondLst>
                                  <p:iterate>
                                    <p:tmAbs val="0"/>
                                  </p:iterate>
                                  <p:childTnLst>
                                    <p:set>
                                      <p:cBhvr>
                                        <p:cTn id="13" fill="hold"/>
                                        <p:tgtEl>
                                          <p:spTgt spid="2227"/>
                                        </p:tgtEl>
                                        <p:attrNameLst>
                                          <p:attrName>style.visibility</p:attrName>
                                        </p:attrNameLst>
                                      </p:cBhvr>
                                      <p:to>
                                        <p:strVal val="visible"/>
                                      </p:to>
                                    </p:set>
                                    <p:anim calcmode="lin" valueType="num">
                                      <p:cBhvr>
                                        <p:cTn id="14" dur="1000" fill="hold"/>
                                        <p:tgtEl>
                                          <p:spTgt spid="2227"/>
                                        </p:tgtEl>
                                        <p:attrNameLst>
                                          <p:attrName>ppt_x</p:attrName>
                                        </p:attrNameLst>
                                      </p:cBhvr>
                                      <p:tavLst>
                                        <p:tav tm="0">
                                          <p:val>
                                            <p:strVal val="#ppt_x"/>
                                          </p:val>
                                        </p:tav>
                                        <p:tav tm="100000">
                                          <p:val>
                                            <p:strVal val="#ppt_x"/>
                                          </p:val>
                                        </p:tav>
                                      </p:tavLst>
                                    </p:anim>
                                    <p:anim calcmode="lin" valueType="num">
                                      <p:cBhvr>
                                        <p:cTn id="15" dur="1000" fill="hold"/>
                                        <p:tgtEl>
                                          <p:spTgt spid="2227"/>
                                        </p:tgtEl>
                                        <p:attrNameLst>
                                          <p:attrName>ppt_y</p:attrName>
                                        </p:attrNameLst>
                                      </p:cBhvr>
                                      <p:tavLst>
                                        <p:tav tm="0">
                                          <p:val>
                                            <p:strVal val="0-#ppt_h/2"/>
                                          </p:val>
                                        </p:tav>
                                        <p:tav tm="100000">
                                          <p:val>
                                            <p:strVal val="#ppt_y"/>
                                          </p:val>
                                        </p:tav>
                                      </p:tavLst>
                                    </p:anim>
                                  </p:childTnLst>
                                </p:cTn>
                              </p:par>
                              <p:par>
                                <p:cTn id="16" presetID="2" presetClass="entr" presetSubtype="1" accel="50000" decel="50000" fill="hold" grpId="0" nodeType="withEffect">
                                  <p:stCondLst>
                                    <p:cond delay="500"/>
                                  </p:stCondLst>
                                  <p:iterate>
                                    <p:tmAbs val="0"/>
                                  </p:iterate>
                                  <p:childTnLst>
                                    <p:set>
                                      <p:cBhvr>
                                        <p:cTn id="17" fill="hold"/>
                                        <p:tgtEl>
                                          <p:spTgt spid="4"/>
                                        </p:tgtEl>
                                        <p:attrNameLst>
                                          <p:attrName>style.visibility</p:attrName>
                                        </p:attrNameLst>
                                      </p:cBhvr>
                                      <p:to>
                                        <p:strVal val="visible"/>
                                      </p:to>
                                    </p:se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0-#ppt_h/2"/>
                                          </p:val>
                                        </p:tav>
                                        <p:tav tm="100000">
                                          <p:val>
                                            <p:strVal val="#ppt_y"/>
                                          </p:val>
                                        </p:tav>
                                      </p:tavLst>
                                    </p:anim>
                                  </p:childTnLst>
                                </p:cTn>
                              </p:par>
                              <p:par>
                                <p:cTn id="20" presetID="2" presetClass="entr" presetSubtype="4" accel="50000" decel="50000" fill="hold" grpId="0" nodeType="withEffect">
                                  <p:stCondLst>
                                    <p:cond delay="1500"/>
                                  </p:stCondLst>
                                  <p:iterate>
                                    <p:tmAbs val="0"/>
                                  </p:iterate>
                                  <p:childTnLst>
                                    <p:set>
                                      <p:cBhvr>
                                        <p:cTn id="21" fill="hold"/>
                                        <p:tgtEl>
                                          <p:spTgt spid="2"/>
                                        </p:tgtEl>
                                        <p:attrNameLst>
                                          <p:attrName>style.visibility</p:attrName>
                                        </p:attrNameLst>
                                      </p:cBhvr>
                                      <p:to>
                                        <p:strVal val="visible"/>
                                      </p:to>
                                    </p:se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1+#ppt_h/2"/>
                                          </p:val>
                                        </p:tav>
                                        <p:tav tm="100000">
                                          <p:val>
                                            <p:strVal val="#ppt_y"/>
                                          </p:val>
                                        </p:tav>
                                      </p:tavLst>
                                    </p:anim>
                                  </p:childTnLst>
                                </p:cTn>
                              </p:par>
                              <p:par>
                                <p:cTn id="24" presetID="2" presetClass="entr" presetSubtype="4" accel="50000" decel="50000" fill="hold" grpId="0" nodeType="withEffect">
                                  <p:stCondLst>
                                    <p:cond delay="1500"/>
                                  </p:stCondLst>
                                  <p:iterate>
                                    <p:tmAbs val="0"/>
                                  </p:iterate>
                                  <p:childTnLst>
                                    <p:set>
                                      <p:cBhvr>
                                        <p:cTn id="25" fill="hold"/>
                                        <p:tgtEl>
                                          <p:spTgt spid="9"/>
                                        </p:tgtEl>
                                        <p:attrNameLst>
                                          <p:attrName>style.visibility</p:attrName>
                                        </p:attrNameLst>
                                      </p:cBhvr>
                                      <p:to>
                                        <p:strVal val="visible"/>
                                      </p:to>
                                    </p:se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1+#ppt_h/2"/>
                                          </p:val>
                                        </p:tav>
                                        <p:tav tm="100000">
                                          <p:val>
                                            <p:strVal val="#ppt_y"/>
                                          </p:val>
                                        </p:tav>
                                      </p:tavLst>
                                    </p:anim>
                                  </p:childTnLst>
                                </p:cTn>
                              </p:par>
                              <p:par>
                                <p:cTn id="28" presetID="2" presetClass="entr" presetSubtype="4" accel="50000" decel="50000" fill="hold" grpId="0" nodeType="withEffect">
                                  <p:stCondLst>
                                    <p:cond delay="1500"/>
                                  </p:stCondLst>
                                  <p:iterate>
                                    <p:tmAbs val="0"/>
                                  </p:iterate>
                                  <p:childTnLst>
                                    <p:set>
                                      <p:cBhvr>
                                        <p:cTn id="29" fill="hold"/>
                                        <p:tgtEl>
                                          <p:spTgt spid="13"/>
                                        </p:tgtEl>
                                        <p:attrNameLst>
                                          <p:attrName>style.visibility</p:attrName>
                                        </p:attrNameLst>
                                      </p:cBhvr>
                                      <p:to>
                                        <p:strVal val="visible"/>
                                      </p:to>
                                    </p:se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0" grpId="1" animBg="1" advAuto="0"/>
      <p:bldP spid="2223" grpId="2" animBg="1" advAuto="0"/>
      <p:bldP spid="2227" grpId="3" animBg="1" advAuto="0"/>
      <p:bldP spid="4" grpId="0" animBg="1" advAuto="0"/>
      <p:bldP spid="2" grpId="0" animBg="1" advAuto="0"/>
      <p:bldP spid="9" grpId="0" animBg="1" advAuto="0"/>
      <p:bldP spid="13"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627E-5FEB-4660-262D-BB74309FEFD8}"/>
            </a:ext>
          </a:extLst>
        </p:cNvPr>
        <p:cNvGrpSpPr/>
        <p:nvPr/>
      </p:nvGrpSpPr>
      <p:grpSpPr>
        <a:xfrm>
          <a:off x="0" y="0"/>
          <a:ext cx="0" cy="0"/>
          <a:chOff x="0" y="0"/>
          <a:chExt cx="0" cy="0"/>
        </a:xfrm>
      </p:grpSpPr>
      <p:pic>
        <p:nvPicPr>
          <p:cNvPr id="2220" name="JPEG image 10.jpeg">
            <a:extLst>
              <a:ext uri="{FF2B5EF4-FFF2-40B4-BE49-F238E27FC236}">
                <a16:creationId xmlns:a16="http://schemas.microsoft.com/office/drawing/2014/main" id="{ABDA5828-F792-927F-320A-C165DFC3B22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66470"/>
            <a:ext cx="19723887" cy="13804813"/>
          </a:xfrm>
          <a:prstGeom prst="rect">
            <a:avLst/>
          </a:prstGeom>
          <a:ln w="12700">
            <a:miter lim="400000"/>
          </a:ln>
        </p:spPr>
      </p:pic>
      <p:grpSp>
        <p:nvGrpSpPr>
          <p:cNvPr id="2223" name="Group">
            <a:extLst>
              <a:ext uri="{FF2B5EF4-FFF2-40B4-BE49-F238E27FC236}">
                <a16:creationId xmlns:a16="http://schemas.microsoft.com/office/drawing/2014/main" id="{14299A2C-C94F-6012-BD7D-6C91D14987D8}"/>
              </a:ext>
            </a:extLst>
          </p:cNvPr>
          <p:cNvGrpSpPr/>
          <p:nvPr/>
        </p:nvGrpSpPr>
        <p:grpSpPr>
          <a:xfrm>
            <a:off x="5820938" y="-88814"/>
            <a:ext cx="18563062" cy="13804814"/>
            <a:chOff x="0" y="0"/>
            <a:chExt cx="16256000" cy="13804813"/>
          </a:xfrm>
        </p:grpSpPr>
        <p:sp>
          <p:nvSpPr>
            <p:cNvPr id="2221" name="Rectangle">
              <a:extLst>
                <a:ext uri="{FF2B5EF4-FFF2-40B4-BE49-F238E27FC236}">
                  <a16:creationId xmlns:a16="http://schemas.microsoft.com/office/drawing/2014/main" id="{9018CED2-C14D-77C9-A7FF-4785720AF13E}"/>
                </a:ext>
              </a:extLst>
            </p:cNvPr>
            <p:cNvSpPr/>
            <p:nvPr/>
          </p:nvSpPr>
          <p:spPr>
            <a:xfrm>
              <a:off x="0" y="0"/>
              <a:ext cx="8128000" cy="13804813"/>
            </a:xfrm>
            <a:prstGeom prst="rect">
              <a:avLst/>
            </a:prstGeom>
            <a:gradFill flip="none" rotWithShape="1">
              <a:gsLst>
                <a:gs pos="0">
                  <a:srgbClr val="FFFFFF">
                    <a:alpha val="0"/>
                  </a:srgbClr>
                </a:gs>
                <a:gs pos="100000">
                  <a:srgbClr val="FFFFFF"/>
                </a:gs>
              </a:gsLst>
              <a:lin ang="0" scaled="0"/>
            </a:gradFill>
            <a:ln w="12700" cap="flat">
              <a:noFill/>
              <a:miter lim="400000"/>
            </a:ln>
            <a:effectLst/>
          </p:spPr>
          <p:txBody>
            <a:bodyPr wrap="square" lIns="0" tIns="0" rIns="0" bIns="0" numCol="1" anchor="ctr">
              <a:noAutofit/>
            </a:bodyPr>
            <a:lstStyle/>
            <a:p>
              <a:pPr algn="ctr">
                <a:lnSpc>
                  <a:spcPct val="100000"/>
                </a:lnSpc>
                <a:defRPr sz="3200" spc="0">
                  <a:solidFill>
                    <a:srgbClr val="FFFFFF">
                      <a:alpha val="0"/>
                    </a:srgbClr>
                  </a:solidFill>
                  <a:latin typeface="Helvetica Neue Medium"/>
                  <a:ea typeface="Helvetica Neue Medium"/>
                  <a:cs typeface="Helvetica Neue Medium"/>
                  <a:sym typeface="Helvetica Neue Medium"/>
                </a:defRPr>
              </a:pPr>
              <a:endParaRPr dirty="0"/>
            </a:p>
          </p:txBody>
        </p:sp>
        <p:sp>
          <p:nvSpPr>
            <p:cNvPr id="2222" name="Rectangle">
              <a:extLst>
                <a:ext uri="{FF2B5EF4-FFF2-40B4-BE49-F238E27FC236}">
                  <a16:creationId xmlns:a16="http://schemas.microsoft.com/office/drawing/2014/main" id="{2F68B149-188B-44AC-6BE0-ADD97D570E20}"/>
                </a:ext>
              </a:extLst>
            </p:cNvPr>
            <p:cNvSpPr/>
            <p:nvPr/>
          </p:nvSpPr>
          <p:spPr>
            <a:xfrm>
              <a:off x="8128000" y="0"/>
              <a:ext cx="8128000" cy="13804813"/>
            </a:xfrm>
            <a:prstGeom prst="rect">
              <a:avLst/>
            </a:prstGeom>
            <a:solidFill>
              <a:srgbClr val="FFFFFF"/>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grpSp>
        <p:nvGrpSpPr>
          <p:cNvPr id="2227" name="Group">
            <a:extLst>
              <a:ext uri="{FF2B5EF4-FFF2-40B4-BE49-F238E27FC236}">
                <a16:creationId xmlns:a16="http://schemas.microsoft.com/office/drawing/2014/main" id="{709AE43B-5BD4-27E7-8298-D484BC2AE816}"/>
              </a:ext>
            </a:extLst>
          </p:cNvPr>
          <p:cNvGrpSpPr/>
          <p:nvPr/>
        </p:nvGrpSpPr>
        <p:grpSpPr>
          <a:xfrm>
            <a:off x="15743528" y="2025522"/>
            <a:ext cx="7510008" cy="4433063"/>
            <a:chOff x="0" y="0"/>
            <a:chExt cx="7510007" cy="4433062"/>
          </a:xfrm>
        </p:grpSpPr>
        <p:sp>
          <p:nvSpPr>
            <p:cNvPr id="2224" name="The power of hands and a pencil">
              <a:extLst>
                <a:ext uri="{FF2B5EF4-FFF2-40B4-BE49-F238E27FC236}">
                  <a16:creationId xmlns:a16="http://schemas.microsoft.com/office/drawing/2014/main" id="{78AD9E06-7300-F281-4F62-4662E47F68DE}"/>
                </a:ext>
              </a:extLst>
            </p:cNvPr>
            <p:cNvSpPr txBox="1"/>
            <p:nvPr/>
          </p:nvSpPr>
          <p:spPr>
            <a:xfrm>
              <a:off x="129508" y="729485"/>
              <a:ext cx="7380499" cy="37035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90000"/>
                </a:lnSpc>
                <a:defRPr sz="6500" spc="0">
                  <a:latin typeface="+mn-lt"/>
                  <a:ea typeface="+mn-ea"/>
                  <a:cs typeface="+mn-cs"/>
                  <a:sym typeface="Montserrat Bold"/>
                </a:defRPr>
              </a:lvl1pPr>
            </a:lstStyle>
            <a:p>
              <a:pPr>
                <a:lnSpc>
                  <a:spcPct val="90000"/>
                </a:lnSpc>
                <a:defRPr sz="9000" spc="0">
                  <a:latin typeface="+mn-lt"/>
                  <a:ea typeface="+mn-ea"/>
                  <a:cs typeface="+mn-cs"/>
                  <a:sym typeface="Montserrat Bold"/>
                </a:defRPr>
              </a:pPr>
              <a:r>
                <a:rPr lang="en-US" sz="8000" dirty="0">
                  <a:solidFill>
                    <a:srgbClr val="D5D5D5"/>
                  </a:solidFill>
                </a:rPr>
                <a:t>Our</a:t>
              </a:r>
              <a:endParaRPr lang="en-US" sz="8000" dirty="0"/>
            </a:p>
            <a:p>
              <a:pPr>
                <a:lnSpc>
                  <a:spcPct val="90000"/>
                </a:lnSpc>
                <a:defRPr sz="9000" spc="0">
                  <a:latin typeface="+mn-lt"/>
                  <a:ea typeface="+mn-ea"/>
                  <a:cs typeface="+mn-cs"/>
                  <a:sym typeface="Montserrat Bold"/>
                </a:defRPr>
              </a:pPr>
              <a:r>
                <a:rPr lang="en-US" sz="8000" dirty="0"/>
                <a:t>Clients</a:t>
              </a:r>
              <a:endParaRPr lang="en-US" dirty="0"/>
            </a:p>
            <a:p>
              <a:pPr>
                <a:lnSpc>
                  <a:spcPct val="90000"/>
                </a:lnSpc>
                <a:defRPr sz="9000" spc="0">
                  <a:solidFill>
                    <a:srgbClr val="D5D5D5"/>
                  </a:solidFill>
                  <a:latin typeface="+mn-lt"/>
                  <a:ea typeface="+mn-ea"/>
                  <a:cs typeface="+mn-cs"/>
                  <a:sym typeface="Montserrat Bold"/>
                </a:defRPr>
              </a:pPr>
              <a:endParaRPr lang="en-US" dirty="0"/>
            </a:p>
          </p:txBody>
        </p:sp>
        <p:sp>
          <p:nvSpPr>
            <p:cNvPr id="2225" name="Awesome template">
              <a:extLst>
                <a:ext uri="{FF2B5EF4-FFF2-40B4-BE49-F238E27FC236}">
                  <a16:creationId xmlns:a16="http://schemas.microsoft.com/office/drawing/2014/main" id="{A14C84A4-C23D-D2E1-9DC3-5CB7D1C061D1}"/>
                </a:ext>
              </a:extLst>
            </p:cNvPr>
            <p:cNvSpPr txBox="1"/>
            <p:nvPr/>
          </p:nvSpPr>
          <p:spPr>
            <a:xfrm>
              <a:off x="0" y="0"/>
              <a:ext cx="6350000" cy="5280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120000"/>
                </a:lnSpc>
                <a:defRPr sz="2500" cap="all" spc="125">
                  <a:latin typeface="+mn-lt"/>
                  <a:ea typeface="+mn-ea"/>
                  <a:cs typeface="+mn-cs"/>
                  <a:sym typeface="Montserrat Bold"/>
                </a:defRPr>
              </a:lvl1pPr>
            </a:lstStyle>
            <a:p>
              <a:endParaRPr dirty="0"/>
            </a:p>
          </p:txBody>
        </p:sp>
      </p:grpSp>
      <p:sp>
        <p:nvSpPr>
          <p:cNvPr id="4" name="Shape">
            <a:extLst>
              <a:ext uri="{FF2B5EF4-FFF2-40B4-BE49-F238E27FC236}">
                <a16:creationId xmlns:a16="http://schemas.microsoft.com/office/drawing/2014/main" id="{80528C37-06CE-A5D0-F20A-27F95E8727D8}"/>
              </a:ext>
            </a:extLst>
          </p:cNvPr>
          <p:cNvSpPr/>
          <p:nvPr/>
        </p:nvSpPr>
        <p:spPr>
          <a:xfrm rot="5400000">
            <a:off x="15919982" y="1289795"/>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pic>
        <p:nvPicPr>
          <p:cNvPr id="7" name="Picture 6">
            <a:extLst>
              <a:ext uri="{FF2B5EF4-FFF2-40B4-BE49-F238E27FC236}">
                <a16:creationId xmlns:a16="http://schemas.microsoft.com/office/drawing/2014/main" id="{2D4DBF7A-E196-3B06-03F0-7209434CD4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98160" y="5125233"/>
            <a:ext cx="3373755" cy="2132183"/>
          </a:xfrm>
          <a:prstGeom prst="rect">
            <a:avLst/>
          </a:prstGeom>
        </p:spPr>
      </p:pic>
      <p:pic>
        <p:nvPicPr>
          <p:cNvPr id="18" name="Picture 17">
            <a:extLst>
              <a:ext uri="{FF2B5EF4-FFF2-40B4-BE49-F238E27FC236}">
                <a16:creationId xmlns:a16="http://schemas.microsoft.com/office/drawing/2014/main" id="{CE41DCBD-DF26-C653-319D-7F8300D6FF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03577" y="4925417"/>
            <a:ext cx="2694583" cy="2694583"/>
          </a:xfrm>
          <a:prstGeom prst="rect">
            <a:avLst/>
          </a:prstGeom>
        </p:spPr>
      </p:pic>
      <p:pic>
        <p:nvPicPr>
          <p:cNvPr id="20" name="Picture 19">
            <a:extLst>
              <a:ext uri="{FF2B5EF4-FFF2-40B4-BE49-F238E27FC236}">
                <a16:creationId xmlns:a16="http://schemas.microsoft.com/office/drawing/2014/main" id="{64014219-B94B-036F-5D2D-0028A8BEFD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93545" y="7620000"/>
            <a:ext cx="2504615" cy="1669743"/>
          </a:xfrm>
          <a:prstGeom prst="rect">
            <a:avLst/>
          </a:prstGeom>
        </p:spPr>
      </p:pic>
      <p:pic>
        <p:nvPicPr>
          <p:cNvPr id="22" name="Picture 21">
            <a:extLst>
              <a:ext uri="{FF2B5EF4-FFF2-40B4-BE49-F238E27FC236}">
                <a16:creationId xmlns:a16="http://schemas.microsoft.com/office/drawing/2014/main" id="{5D8B5706-91CD-9275-B0FA-43DAE32FB0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031034" y="7347589"/>
            <a:ext cx="1765641" cy="1954817"/>
          </a:xfrm>
          <a:prstGeom prst="rect">
            <a:avLst/>
          </a:prstGeom>
        </p:spPr>
      </p:pic>
      <p:pic>
        <p:nvPicPr>
          <p:cNvPr id="24" name="Picture 23">
            <a:extLst>
              <a:ext uri="{FF2B5EF4-FFF2-40B4-BE49-F238E27FC236}">
                <a16:creationId xmlns:a16="http://schemas.microsoft.com/office/drawing/2014/main" id="{8DB5CE17-0E7A-AE39-D43A-1B7BC7B20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793545" y="9790410"/>
            <a:ext cx="3931548" cy="1395550"/>
          </a:xfrm>
          <a:prstGeom prst="rect">
            <a:avLst/>
          </a:prstGeom>
        </p:spPr>
      </p:pic>
      <p:pic>
        <p:nvPicPr>
          <p:cNvPr id="26" name="Picture 25">
            <a:extLst>
              <a:ext uri="{FF2B5EF4-FFF2-40B4-BE49-F238E27FC236}">
                <a16:creationId xmlns:a16="http://schemas.microsoft.com/office/drawing/2014/main" id="{7D9EFEB2-5B32-335A-AF65-6F04F838E44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725093" y="9133993"/>
            <a:ext cx="2875128" cy="2875128"/>
          </a:xfrm>
          <a:prstGeom prst="rect">
            <a:avLst/>
          </a:prstGeom>
        </p:spPr>
      </p:pic>
      <p:pic>
        <p:nvPicPr>
          <p:cNvPr id="28" name="Picture 27">
            <a:extLst>
              <a:ext uri="{FF2B5EF4-FFF2-40B4-BE49-F238E27FC236}">
                <a16:creationId xmlns:a16="http://schemas.microsoft.com/office/drawing/2014/main" id="{DE8D85A9-1834-9D70-F753-C645C3457CA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extLst>
      <p:ext uri="{BB962C8B-B14F-4D97-AF65-F5344CB8AC3E}">
        <p14:creationId xmlns:p14="http://schemas.microsoft.com/office/powerpoint/2010/main" val="3038477720"/>
      </p:ext>
    </p:extLst>
  </p:cSld>
  <p:clrMapOvr>
    <a:masterClrMapping/>
  </p:clrMapOvr>
  <p:transition spd="slow" advTm="15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accel="50000" decel="50000" fill="hold" grpId="0" nodeType="afterEffect">
                                  <p:stCondLst>
                                    <p:cond delay="0"/>
                                  </p:stCondLst>
                                  <p:iterate>
                                    <p:tmAbs val="0"/>
                                  </p:iterate>
                                  <p:childTnLst>
                                    <p:set>
                                      <p:cBhvr>
                                        <p:cTn id="6" fill="hold"/>
                                        <p:tgtEl>
                                          <p:spTgt spid="2220"/>
                                        </p:tgtEl>
                                        <p:attrNameLst>
                                          <p:attrName>style.visibility</p:attrName>
                                        </p:attrNameLst>
                                      </p:cBhvr>
                                      <p:to>
                                        <p:strVal val="visible"/>
                                      </p:to>
                                    </p:set>
                                    <p:animEffect transition="in" filter="fade">
                                      <p:cBhvr>
                                        <p:cTn id="7" dur="1000"/>
                                        <p:tgtEl>
                                          <p:spTgt spid="2220"/>
                                        </p:tgtEl>
                                      </p:cBhvr>
                                    </p:animEffect>
                                  </p:childTnLst>
                                </p:cTn>
                              </p:par>
                              <p:par>
                                <p:cTn id="8" presetID="2" presetClass="entr" presetSubtype="2" accel="50000" decel="50000" fill="hold" grpId="0" nodeType="withEffect">
                                  <p:stCondLst>
                                    <p:cond delay="500"/>
                                  </p:stCondLst>
                                  <p:iterate>
                                    <p:tmAbs val="0"/>
                                  </p:iterate>
                                  <p:childTnLst>
                                    <p:set>
                                      <p:cBhvr>
                                        <p:cTn id="9" fill="hold"/>
                                        <p:tgtEl>
                                          <p:spTgt spid="2223"/>
                                        </p:tgtEl>
                                        <p:attrNameLst>
                                          <p:attrName>style.visibility</p:attrName>
                                        </p:attrNameLst>
                                      </p:cBhvr>
                                      <p:to>
                                        <p:strVal val="visible"/>
                                      </p:to>
                                    </p:set>
                                    <p:anim calcmode="lin" valueType="num">
                                      <p:cBhvr>
                                        <p:cTn id="10" dur="1000" fill="hold"/>
                                        <p:tgtEl>
                                          <p:spTgt spid="2223"/>
                                        </p:tgtEl>
                                        <p:attrNameLst>
                                          <p:attrName>ppt_x</p:attrName>
                                        </p:attrNameLst>
                                      </p:cBhvr>
                                      <p:tavLst>
                                        <p:tav tm="0">
                                          <p:val>
                                            <p:strVal val="1+#ppt_w/2"/>
                                          </p:val>
                                        </p:tav>
                                        <p:tav tm="100000">
                                          <p:val>
                                            <p:strVal val="#ppt_x"/>
                                          </p:val>
                                        </p:tav>
                                      </p:tavLst>
                                    </p:anim>
                                    <p:anim calcmode="lin" valueType="num">
                                      <p:cBhvr>
                                        <p:cTn id="11" dur="1000" fill="hold"/>
                                        <p:tgtEl>
                                          <p:spTgt spid="2223"/>
                                        </p:tgtEl>
                                        <p:attrNameLst>
                                          <p:attrName>ppt_y</p:attrName>
                                        </p:attrNameLst>
                                      </p:cBhvr>
                                      <p:tavLst>
                                        <p:tav tm="0">
                                          <p:val>
                                            <p:strVal val="#ppt_y"/>
                                          </p:val>
                                        </p:tav>
                                        <p:tav tm="100000">
                                          <p:val>
                                            <p:strVal val="#ppt_y"/>
                                          </p:val>
                                        </p:tav>
                                      </p:tavLst>
                                    </p:anim>
                                  </p:childTnLst>
                                </p:cTn>
                              </p:par>
                              <p:par>
                                <p:cTn id="12" presetID="2" presetClass="entr" presetSubtype="1" accel="50000" decel="50000" fill="hold" grpId="0" nodeType="withEffect">
                                  <p:stCondLst>
                                    <p:cond delay="1000"/>
                                  </p:stCondLst>
                                  <p:iterate>
                                    <p:tmAbs val="0"/>
                                  </p:iterate>
                                  <p:childTnLst>
                                    <p:set>
                                      <p:cBhvr>
                                        <p:cTn id="13" fill="hold"/>
                                        <p:tgtEl>
                                          <p:spTgt spid="2227"/>
                                        </p:tgtEl>
                                        <p:attrNameLst>
                                          <p:attrName>style.visibility</p:attrName>
                                        </p:attrNameLst>
                                      </p:cBhvr>
                                      <p:to>
                                        <p:strVal val="visible"/>
                                      </p:to>
                                    </p:set>
                                    <p:anim calcmode="lin" valueType="num">
                                      <p:cBhvr>
                                        <p:cTn id="14" dur="1000" fill="hold"/>
                                        <p:tgtEl>
                                          <p:spTgt spid="2227"/>
                                        </p:tgtEl>
                                        <p:attrNameLst>
                                          <p:attrName>ppt_x</p:attrName>
                                        </p:attrNameLst>
                                      </p:cBhvr>
                                      <p:tavLst>
                                        <p:tav tm="0">
                                          <p:val>
                                            <p:strVal val="#ppt_x"/>
                                          </p:val>
                                        </p:tav>
                                        <p:tav tm="100000">
                                          <p:val>
                                            <p:strVal val="#ppt_x"/>
                                          </p:val>
                                        </p:tav>
                                      </p:tavLst>
                                    </p:anim>
                                    <p:anim calcmode="lin" valueType="num">
                                      <p:cBhvr>
                                        <p:cTn id="15" dur="1000" fill="hold"/>
                                        <p:tgtEl>
                                          <p:spTgt spid="2227"/>
                                        </p:tgtEl>
                                        <p:attrNameLst>
                                          <p:attrName>ppt_y</p:attrName>
                                        </p:attrNameLst>
                                      </p:cBhvr>
                                      <p:tavLst>
                                        <p:tav tm="0">
                                          <p:val>
                                            <p:strVal val="0-#ppt_h/2"/>
                                          </p:val>
                                        </p:tav>
                                        <p:tav tm="100000">
                                          <p:val>
                                            <p:strVal val="#ppt_y"/>
                                          </p:val>
                                        </p:tav>
                                      </p:tavLst>
                                    </p:anim>
                                  </p:childTnLst>
                                </p:cTn>
                              </p:par>
                              <p:par>
                                <p:cTn id="16" presetID="2" presetClass="entr" presetSubtype="1" accel="50000" decel="50000" fill="hold" grpId="0" nodeType="withEffect">
                                  <p:stCondLst>
                                    <p:cond delay="500"/>
                                  </p:stCondLst>
                                  <p:iterate>
                                    <p:tmAbs val="0"/>
                                  </p:iterate>
                                  <p:childTnLst>
                                    <p:set>
                                      <p:cBhvr>
                                        <p:cTn id="17" fill="hold"/>
                                        <p:tgtEl>
                                          <p:spTgt spid="4"/>
                                        </p:tgtEl>
                                        <p:attrNameLst>
                                          <p:attrName>style.visibility</p:attrName>
                                        </p:attrNameLst>
                                      </p:cBhvr>
                                      <p:to>
                                        <p:strVal val="visible"/>
                                      </p:to>
                                    </p:se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0" grpId="0" animBg="1" advAuto="0"/>
      <p:bldP spid="2223" grpId="0" animBg="1" advAuto="0"/>
      <p:bldP spid="2227" grpId="0" animBg="1" advAuto="0"/>
      <p:bldP spid="4"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75" name="matthew-dix-31391.jpg"/>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4384000" cy="13716000"/>
          </a:xfrm>
          <a:prstGeom prst="rect">
            <a:avLst/>
          </a:prstGeom>
          <a:ln w="12700">
            <a:miter lim="400000"/>
          </a:ln>
        </p:spPr>
      </p:pic>
      <p:sp>
        <p:nvSpPr>
          <p:cNvPr id="4676" name="Shape"/>
          <p:cNvSpPr/>
          <p:nvPr/>
        </p:nvSpPr>
        <p:spPr>
          <a:xfrm flipH="1">
            <a:off x="8128000" y="4733140"/>
            <a:ext cx="16256000" cy="4572001"/>
          </a:xfrm>
          <a:custGeom>
            <a:avLst/>
            <a:gdLst/>
            <a:ahLst/>
            <a:cxnLst>
              <a:cxn ang="0">
                <a:pos x="wd2" y="hd2"/>
              </a:cxn>
              <a:cxn ang="5400000">
                <a:pos x="wd2" y="hd2"/>
              </a:cxn>
              <a:cxn ang="10800000">
                <a:pos x="wd2" y="hd2"/>
              </a:cxn>
              <a:cxn ang="16200000">
                <a:pos x="wd2" y="hd2"/>
              </a:cxn>
            </a:cxnLst>
            <a:rect l="0" t="0" r="r" b="b"/>
            <a:pathLst>
              <a:path w="21600" h="21599" extrusionOk="0">
                <a:moveTo>
                  <a:pt x="0" y="0"/>
                </a:moveTo>
                <a:lnTo>
                  <a:pt x="0" y="21598"/>
                </a:lnTo>
                <a:lnTo>
                  <a:pt x="16957" y="21598"/>
                </a:lnTo>
                <a:cubicBezTo>
                  <a:pt x="18279" y="21598"/>
                  <a:pt x="19072" y="21599"/>
                  <a:pt x="19601" y="20948"/>
                </a:cubicBezTo>
                <a:cubicBezTo>
                  <a:pt x="20445" y="19856"/>
                  <a:pt x="21110" y="17492"/>
                  <a:pt x="21417" y="14493"/>
                </a:cubicBezTo>
                <a:cubicBezTo>
                  <a:pt x="21538" y="13309"/>
                  <a:pt x="21600" y="12059"/>
                  <a:pt x="21600" y="10799"/>
                </a:cubicBezTo>
                <a:cubicBezTo>
                  <a:pt x="21600" y="9539"/>
                  <a:pt x="21538" y="8289"/>
                  <a:pt x="21417" y="7105"/>
                </a:cubicBezTo>
                <a:cubicBezTo>
                  <a:pt x="21110" y="4106"/>
                  <a:pt x="20445" y="1742"/>
                  <a:pt x="19601" y="650"/>
                </a:cubicBezTo>
                <a:cubicBezTo>
                  <a:pt x="19072" y="-1"/>
                  <a:pt x="18279" y="0"/>
                  <a:pt x="16957" y="0"/>
                </a:cubicBezTo>
                <a:lnTo>
                  <a:pt x="0" y="0"/>
                </a:lnTo>
                <a:close/>
              </a:path>
            </a:pathLst>
          </a:custGeom>
          <a:solidFill>
            <a:srgbClr val="0ED3EE">
              <a:alpha val="90000"/>
            </a:srgbClr>
          </a:solidFill>
          <a:ln w="12700">
            <a:miter lim="400000"/>
          </a:ln>
        </p:spPr>
        <p:txBody>
          <a:bodyPr lIns="50800" tIns="50800" rIns="50800" bIns="508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solidFill>
                <a:schemeClr val="tx1"/>
              </a:solidFill>
            </a:endParaRPr>
          </a:p>
        </p:txBody>
      </p:sp>
      <p:sp>
        <p:nvSpPr>
          <p:cNvPr id="4677" name="Lorem ipsum dolor sit elit, consect loreretur adipiscing nisi aute. ipsum sit elit, Lorem ipsum dolor sit elit, Lorem ipsum dolor sit elit, consect Lorem ipsum dolor sit elit, consect loreretur adipiscing nisi aute. ipsum sit elit, Lorem ipsum dolor sit "/>
          <p:cNvSpPr txBox="1"/>
          <p:nvPr/>
        </p:nvSpPr>
        <p:spPr>
          <a:xfrm>
            <a:off x="17769375" y="5169044"/>
            <a:ext cx="6198211" cy="33779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a:solidFill>
                  <a:srgbClr val="FFFFFF"/>
                </a:solidFill>
              </a:defRPr>
            </a:lvl1pPr>
          </a:lstStyle>
          <a:p>
            <a:pPr algn="just"/>
            <a:r>
              <a:rPr lang="en-US" dirty="0">
                <a:solidFill>
                  <a:schemeClr val="tx1"/>
                </a:solidFill>
              </a:rPr>
              <a:t>At </a:t>
            </a:r>
            <a:r>
              <a:rPr lang="en-US" dirty="0" err="1">
                <a:solidFill>
                  <a:schemeClr val="tx1"/>
                </a:solidFill>
              </a:rPr>
              <a:t>Humanxt</a:t>
            </a:r>
            <a:r>
              <a:rPr lang="en-US" dirty="0">
                <a:solidFill>
                  <a:schemeClr val="tx1"/>
                </a:solidFill>
              </a:rPr>
              <a:t>, our future outlook is to redefine the world of work by blending AI-driven insights with human-centered strategies. We are committed to building scalable, inclusive, and future-ready HR solutions that not only help businesses adapt to change but also empower individuals to thrive, innovate, and grow in an ever-evolving global landscape.</a:t>
            </a:r>
            <a:endParaRPr dirty="0">
              <a:solidFill>
                <a:schemeClr val="tx1"/>
              </a:solidFill>
            </a:endParaRPr>
          </a:p>
        </p:txBody>
      </p:sp>
      <p:sp>
        <p:nvSpPr>
          <p:cNvPr id="4678" name="Jonathan Doe"/>
          <p:cNvSpPr txBox="1"/>
          <p:nvPr/>
        </p:nvSpPr>
        <p:spPr>
          <a:xfrm>
            <a:off x="10775394" y="5721350"/>
            <a:ext cx="6350001" cy="2595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lvl1pPr>
              <a:lnSpc>
                <a:spcPct val="90000"/>
              </a:lnSpc>
              <a:defRPr sz="9000" spc="0">
                <a:solidFill>
                  <a:srgbClr val="FFFFFF"/>
                </a:solidFill>
                <a:latin typeface="+mn-lt"/>
                <a:ea typeface="+mn-ea"/>
                <a:cs typeface="+mn-cs"/>
                <a:sym typeface="Montserrat Bold"/>
              </a:defRPr>
            </a:lvl1pPr>
          </a:lstStyle>
          <a:p>
            <a:r>
              <a:rPr lang="en-US" dirty="0"/>
              <a:t>Future</a:t>
            </a:r>
          </a:p>
          <a:p>
            <a:r>
              <a:rPr lang="en-US" dirty="0"/>
              <a:t>Outlook</a:t>
            </a:r>
            <a:endParaRPr dirty="0"/>
          </a:p>
        </p:txBody>
      </p:sp>
      <p:sp>
        <p:nvSpPr>
          <p:cNvPr id="4680" name="Shape"/>
          <p:cNvSpPr/>
          <p:nvPr/>
        </p:nvSpPr>
        <p:spPr>
          <a:xfrm>
            <a:off x="8955306" y="6222999"/>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pic>
        <p:nvPicPr>
          <p:cNvPr id="2" name="Picture 1">
            <a:extLst>
              <a:ext uri="{FF2B5EF4-FFF2-40B4-BE49-F238E27FC236}">
                <a16:creationId xmlns:a16="http://schemas.microsoft.com/office/drawing/2014/main" id="{FB3BC346-2F07-5023-3C76-0A75D02996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cSld>
  <p:clrMapOvr>
    <a:masterClrMapping/>
  </p:clrMapOvr>
  <p:transition spd="slow" advTm="10000">
    <p:push/>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accel="50000" decel="50000" fill="hold" grpId="1" nodeType="withEffect">
                                  <p:stCondLst>
                                    <p:cond delay="0"/>
                                  </p:stCondLst>
                                  <p:iterate>
                                    <p:tmAbs val="0"/>
                                  </p:iterate>
                                  <p:childTnLst>
                                    <p:set>
                                      <p:cBhvr>
                                        <p:cTn id="6" fill="hold"/>
                                        <p:tgtEl>
                                          <p:spTgt spid="4675"/>
                                        </p:tgtEl>
                                        <p:attrNameLst>
                                          <p:attrName>style.visibility</p:attrName>
                                        </p:attrNameLst>
                                      </p:cBhvr>
                                      <p:to>
                                        <p:strVal val="visible"/>
                                      </p:to>
                                    </p:set>
                                    <p:animEffect transition="in" filter="fade">
                                      <p:cBhvr>
                                        <p:cTn id="7" dur="1000"/>
                                        <p:tgtEl>
                                          <p:spTgt spid="4675"/>
                                        </p:tgtEl>
                                      </p:cBhvr>
                                    </p:animEffect>
                                  </p:childTnLst>
                                </p:cTn>
                              </p:par>
                              <p:par>
                                <p:cTn id="8" presetID="2" presetClass="entr" presetSubtype="2" accel="50000" decel="50000" fill="hold" grpId="2" nodeType="withEffect">
                                  <p:stCondLst>
                                    <p:cond delay="500"/>
                                  </p:stCondLst>
                                  <p:iterate>
                                    <p:tmAbs val="0"/>
                                  </p:iterate>
                                  <p:childTnLst>
                                    <p:set>
                                      <p:cBhvr>
                                        <p:cTn id="9" fill="hold"/>
                                        <p:tgtEl>
                                          <p:spTgt spid="4676"/>
                                        </p:tgtEl>
                                        <p:attrNameLst>
                                          <p:attrName>style.visibility</p:attrName>
                                        </p:attrNameLst>
                                      </p:cBhvr>
                                      <p:to>
                                        <p:strVal val="visible"/>
                                      </p:to>
                                    </p:set>
                                    <p:anim calcmode="lin" valueType="num">
                                      <p:cBhvr>
                                        <p:cTn id="10" dur="1000" fill="hold"/>
                                        <p:tgtEl>
                                          <p:spTgt spid="4676"/>
                                        </p:tgtEl>
                                        <p:attrNameLst>
                                          <p:attrName>ppt_x</p:attrName>
                                        </p:attrNameLst>
                                      </p:cBhvr>
                                      <p:tavLst>
                                        <p:tav tm="0">
                                          <p:val>
                                            <p:strVal val="1+#ppt_w/2"/>
                                          </p:val>
                                        </p:tav>
                                        <p:tav tm="100000">
                                          <p:val>
                                            <p:strVal val="#ppt_x"/>
                                          </p:val>
                                        </p:tav>
                                      </p:tavLst>
                                    </p:anim>
                                    <p:anim calcmode="lin" valueType="num">
                                      <p:cBhvr>
                                        <p:cTn id="11" dur="1000" fill="hold"/>
                                        <p:tgtEl>
                                          <p:spTgt spid="4676"/>
                                        </p:tgtEl>
                                        <p:attrNameLst>
                                          <p:attrName>ppt_y</p:attrName>
                                        </p:attrNameLst>
                                      </p:cBhvr>
                                      <p:tavLst>
                                        <p:tav tm="0">
                                          <p:val>
                                            <p:strVal val="#ppt_y"/>
                                          </p:val>
                                        </p:tav>
                                        <p:tav tm="100000">
                                          <p:val>
                                            <p:strVal val="#ppt_y"/>
                                          </p:val>
                                        </p:tav>
                                      </p:tavLst>
                                    </p:anim>
                                  </p:childTnLst>
                                </p:cTn>
                              </p:par>
                              <p:par>
                                <p:cTn id="12" presetID="2" presetClass="entr" presetSubtype="8" accel="50000" decel="50000" fill="hold" grpId="3" nodeType="withEffect">
                                  <p:stCondLst>
                                    <p:cond delay="1000"/>
                                  </p:stCondLst>
                                  <p:iterate>
                                    <p:tmAbs val="0"/>
                                  </p:iterate>
                                  <p:childTnLst>
                                    <p:set>
                                      <p:cBhvr>
                                        <p:cTn id="13" fill="hold"/>
                                        <p:tgtEl>
                                          <p:spTgt spid="4680"/>
                                        </p:tgtEl>
                                        <p:attrNameLst>
                                          <p:attrName>style.visibility</p:attrName>
                                        </p:attrNameLst>
                                      </p:cBhvr>
                                      <p:to>
                                        <p:strVal val="visible"/>
                                      </p:to>
                                    </p:set>
                                    <p:anim calcmode="lin" valueType="num">
                                      <p:cBhvr>
                                        <p:cTn id="14" dur="1000" fill="hold"/>
                                        <p:tgtEl>
                                          <p:spTgt spid="4680"/>
                                        </p:tgtEl>
                                        <p:attrNameLst>
                                          <p:attrName>ppt_x</p:attrName>
                                        </p:attrNameLst>
                                      </p:cBhvr>
                                      <p:tavLst>
                                        <p:tav tm="0">
                                          <p:val>
                                            <p:strVal val="0-#ppt_w/2"/>
                                          </p:val>
                                        </p:tav>
                                        <p:tav tm="100000">
                                          <p:val>
                                            <p:strVal val="#ppt_x"/>
                                          </p:val>
                                        </p:tav>
                                      </p:tavLst>
                                    </p:anim>
                                    <p:anim calcmode="lin" valueType="num">
                                      <p:cBhvr>
                                        <p:cTn id="15" dur="1000" fill="hold"/>
                                        <p:tgtEl>
                                          <p:spTgt spid="46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5" grpId="1" animBg="1" advAuto="0"/>
      <p:bldP spid="4676" grpId="2" animBg="1" advAuto="0"/>
      <p:bldP spid="4680" grpId="3"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D333-8B13-4FFA-D6C8-8C1DE0FE194B}"/>
            </a:ext>
          </a:extLst>
        </p:cNvPr>
        <p:cNvGrpSpPr/>
        <p:nvPr/>
      </p:nvGrpSpPr>
      <p:grpSpPr>
        <a:xfrm>
          <a:off x="0" y="0"/>
          <a:ext cx="0" cy="0"/>
          <a:chOff x="0" y="0"/>
          <a:chExt cx="0" cy="0"/>
        </a:xfrm>
      </p:grpSpPr>
      <p:pic>
        <p:nvPicPr>
          <p:cNvPr id="2220" name="JPEG image 10.jpeg">
            <a:extLst>
              <a:ext uri="{FF2B5EF4-FFF2-40B4-BE49-F238E27FC236}">
                <a16:creationId xmlns:a16="http://schemas.microsoft.com/office/drawing/2014/main" id="{00BB192C-25E6-E225-F891-F2230A5617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88813"/>
            <a:ext cx="21820045" cy="13804814"/>
          </a:xfrm>
          <a:prstGeom prst="rect">
            <a:avLst/>
          </a:prstGeom>
          <a:ln w="12700">
            <a:miter lim="400000"/>
          </a:ln>
        </p:spPr>
      </p:pic>
      <p:grpSp>
        <p:nvGrpSpPr>
          <p:cNvPr id="2227" name="Group">
            <a:extLst>
              <a:ext uri="{FF2B5EF4-FFF2-40B4-BE49-F238E27FC236}">
                <a16:creationId xmlns:a16="http://schemas.microsoft.com/office/drawing/2014/main" id="{D5F7AD5C-6105-98F8-DF82-1B11F2DBB222}"/>
              </a:ext>
            </a:extLst>
          </p:cNvPr>
          <p:cNvGrpSpPr/>
          <p:nvPr/>
        </p:nvGrpSpPr>
        <p:grpSpPr>
          <a:xfrm>
            <a:off x="15743528" y="2025522"/>
            <a:ext cx="7510008" cy="4433063"/>
            <a:chOff x="0" y="0"/>
            <a:chExt cx="7510007" cy="4433062"/>
          </a:xfrm>
        </p:grpSpPr>
        <p:sp>
          <p:nvSpPr>
            <p:cNvPr id="2224" name="The power of hands and a pencil">
              <a:extLst>
                <a:ext uri="{FF2B5EF4-FFF2-40B4-BE49-F238E27FC236}">
                  <a16:creationId xmlns:a16="http://schemas.microsoft.com/office/drawing/2014/main" id="{DBBF2BBB-65F6-5353-733D-1028DCDBE780}"/>
                </a:ext>
              </a:extLst>
            </p:cNvPr>
            <p:cNvSpPr txBox="1"/>
            <p:nvPr/>
          </p:nvSpPr>
          <p:spPr>
            <a:xfrm>
              <a:off x="129508" y="729485"/>
              <a:ext cx="7380499" cy="370357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90000"/>
                </a:lnSpc>
                <a:defRPr sz="6500" spc="0">
                  <a:latin typeface="+mn-lt"/>
                  <a:ea typeface="+mn-ea"/>
                  <a:cs typeface="+mn-cs"/>
                  <a:sym typeface="Montserrat Bold"/>
                </a:defRPr>
              </a:lvl1pPr>
            </a:lstStyle>
            <a:p>
              <a:pPr>
                <a:lnSpc>
                  <a:spcPct val="90000"/>
                </a:lnSpc>
                <a:defRPr sz="9000" spc="0">
                  <a:latin typeface="+mn-lt"/>
                  <a:ea typeface="+mn-ea"/>
                  <a:cs typeface="+mn-cs"/>
                  <a:sym typeface="Montserrat Bold"/>
                </a:defRPr>
              </a:pPr>
              <a:r>
                <a:rPr lang="en-US" sz="8000" dirty="0">
                  <a:solidFill>
                    <a:srgbClr val="D5D5D5"/>
                  </a:solidFill>
                </a:rPr>
                <a:t>Let’s</a:t>
              </a:r>
              <a:endParaRPr lang="en-US" sz="8000" dirty="0"/>
            </a:p>
            <a:p>
              <a:pPr>
                <a:lnSpc>
                  <a:spcPct val="90000"/>
                </a:lnSpc>
                <a:defRPr sz="9000" spc="0">
                  <a:latin typeface="+mn-lt"/>
                  <a:ea typeface="+mn-ea"/>
                  <a:cs typeface="+mn-cs"/>
                  <a:sym typeface="Montserrat Bold"/>
                </a:defRPr>
              </a:pPr>
              <a:r>
                <a:rPr lang="en-US" sz="8000" dirty="0"/>
                <a:t>Connect</a:t>
              </a:r>
              <a:endParaRPr lang="en-US" dirty="0"/>
            </a:p>
            <a:p>
              <a:pPr>
                <a:lnSpc>
                  <a:spcPct val="90000"/>
                </a:lnSpc>
                <a:defRPr sz="9000" spc="0">
                  <a:solidFill>
                    <a:srgbClr val="D5D5D5"/>
                  </a:solidFill>
                  <a:latin typeface="+mn-lt"/>
                  <a:ea typeface="+mn-ea"/>
                  <a:cs typeface="+mn-cs"/>
                  <a:sym typeface="Montserrat Bold"/>
                </a:defRPr>
              </a:pPr>
              <a:endParaRPr lang="en-US" dirty="0"/>
            </a:p>
          </p:txBody>
        </p:sp>
        <p:sp>
          <p:nvSpPr>
            <p:cNvPr id="2225" name="Awesome template">
              <a:extLst>
                <a:ext uri="{FF2B5EF4-FFF2-40B4-BE49-F238E27FC236}">
                  <a16:creationId xmlns:a16="http://schemas.microsoft.com/office/drawing/2014/main" id="{EB5D7454-7FE3-F0DB-E7C9-919924B1A7AB}"/>
                </a:ext>
              </a:extLst>
            </p:cNvPr>
            <p:cNvSpPr txBox="1"/>
            <p:nvPr/>
          </p:nvSpPr>
          <p:spPr>
            <a:xfrm>
              <a:off x="0" y="0"/>
              <a:ext cx="6350000" cy="5280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a:lnSpc>
                  <a:spcPct val="120000"/>
                </a:lnSpc>
                <a:defRPr sz="2500" cap="all" spc="125">
                  <a:latin typeface="+mn-lt"/>
                  <a:ea typeface="+mn-ea"/>
                  <a:cs typeface="+mn-cs"/>
                  <a:sym typeface="Montserrat Bold"/>
                </a:defRPr>
              </a:lvl1pPr>
            </a:lstStyle>
            <a:p>
              <a:endParaRPr dirty="0"/>
            </a:p>
          </p:txBody>
        </p:sp>
      </p:grpSp>
      <p:sp>
        <p:nvSpPr>
          <p:cNvPr id="4" name="Shape">
            <a:extLst>
              <a:ext uri="{FF2B5EF4-FFF2-40B4-BE49-F238E27FC236}">
                <a16:creationId xmlns:a16="http://schemas.microsoft.com/office/drawing/2014/main" id="{C922D1E7-F5E1-7A17-007D-04425F6933C0}"/>
              </a:ext>
            </a:extLst>
          </p:cNvPr>
          <p:cNvSpPr/>
          <p:nvPr/>
        </p:nvSpPr>
        <p:spPr>
          <a:xfrm rot="5400000">
            <a:off x="15919982" y="1289795"/>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grpSp>
        <p:nvGrpSpPr>
          <p:cNvPr id="19" name="Group 18">
            <a:extLst>
              <a:ext uri="{FF2B5EF4-FFF2-40B4-BE49-F238E27FC236}">
                <a16:creationId xmlns:a16="http://schemas.microsoft.com/office/drawing/2014/main" id="{A7EC481B-6E81-2AC7-DC35-D9C1207A2116}"/>
              </a:ext>
            </a:extLst>
          </p:cNvPr>
          <p:cNvGrpSpPr/>
          <p:nvPr/>
        </p:nvGrpSpPr>
        <p:grpSpPr>
          <a:xfrm>
            <a:off x="5820938" y="-88814"/>
            <a:ext cx="18563062" cy="13804814"/>
            <a:chOff x="5820938" y="-88814"/>
            <a:chExt cx="18563062" cy="13804814"/>
          </a:xfrm>
        </p:grpSpPr>
        <p:grpSp>
          <p:nvGrpSpPr>
            <p:cNvPr id="2223" name="Group">
              <a:extLst>
                <a:ext uri="{FF2B5EF4-FFF2-40B4-BE49-F238E27FC236}">
                  <a16:creationId xmlns:a16="http://schemas.microsoft.com/office/drawing/2014/main" id="{F594C796-D8A1-EC8B-504E-1D6FB015F7C7}"/>
                </a:ext>
              </a:extLst>
            </p:cNvPr>
            <p:cNvGrpSpPr/>
            <p:nvPr/>
          </p:nvGrpSpPr>
          <p:grpSpPr>
            <a:xfrm>
              <a:off x="5820938" y="-88814"/>
              <a:ext cx="18563062" cy="13804814"/>
              <a:chOff x="0" y="0"/>
              <a:chExt cx="16256000" cy="13804813"/>
            </a:xfrm>
          </p:grpSpPr>
          <p:sp>
            <p:nvSpPr>
              <p:cNvPr id="2221" name="Rectangle">
                <a:extLst>
                  <a:ext uri="{FF2B5EF4-FFF2-40B4-BE49-F238E27FC236}">
                    <a16:creationId xmlns:a16="http://schemas.microsoft.com/office/drawing/2014/main" id="{72ADA538-37F4-E901-6CD8-810B348C85BB}"/>
                  </a:ext>
                </a:extLst>
              </p:cNvPr>
              <p:cNvSpPr/>
              <p:nvPr/>
            </p:nvSpPr>
            <p:spPr>
              <a:xfrm>
                <a:off x="0" y="0"/>
                <a:ext cx="8197614" cy="13804813"/>
              </a:xfrm>
              <a:prstGeom prst="rect">
                <a:avLst/>
              </a:prstGeom>
              <a:gradFill flip="none" rotWithShape="1">
                <a:gsLst>
                  <a:gs pos="0">
                    <a:srgbClr val="FFFFFF">
                      <a:alpha val="0"/>
                    </a:srgbClr>
                  </a:gs>
                  <a:gs pos="100000">
                    <a:srgbClr val="FFFFFF"/>
                  </a:gs>
                </a:gsLst>
                <a:lin ang="0" scaled="0"/>
              </a:gradFill>
              <a:ln w="12700" cap="flat">
                <a:noFill/>
                <a:miter lim="400000"/>
              </a:ln>
              <a:effectLst/>
            </p:spPr>
            <p:txBody>
              <a:bodyPr wrap="square" lIns="0" tIns="0" rIns="0" bIns="0" numCol="1" anchor="ctr">
                <a:noAutofit/>
              </a:bodyPr>
              <a:lstStyle/>
              <a:p>
                <a:pPr algn="ctr">
                  <a:lnSpc>
                    <a:spcPct val="100000"/>
                  </a:lnSpc>
                  <a:defRPr sz="3200" spc="0">
                    <a:solidFill>
                      <a:srgbClr val="FFFFFF">
                        <a:alpha val="0"/>
                      </a:srgbClr>
                    </a:solidFill>
                    <a:latin typeface="Helvetica Neue Medium"/>
                    <a:ea typeface="Helvetica Neue Medium"/>
                    <a:cs typeface="Helvetica Neue Medium"/>
                    <a:sym typeface="Helvetica Neue Medium"/>
                  </a:defRPr>
                </a:pPr>
                <a:endParaRPr dirty="0"/>
              </a:p>
            </p:txBody>
          </p:sp>
          <p:sp>
            <p:nvSpPr>
              <p:cNvPr id="2222" name="Rectangle">
                <a:extLst>
                  <a:ext uri="{FF2B5EF4-FFF2-40B4-BE49-F238E27FC236}">
                    <a16:creationId xmlns:a16="http://schemas.microsoft.com/office/drawing/2014/main" id="{BBA69DE2-A9B0-5C99-1047-FAC18FDD6BD5}"/>
                  </a:ext>
                </a:extLst>
              </p:cNvPr>
              <p:cNvSpPr/>
              <p:nvPr/>
            </p:nvSpPr>
            <p:spPr>
              <a:xfrm>
                <a:off x="8128000" y="0"/>
                <a:ext cx="8128000" cy="13804813"/>
              </a:xfrm>
              <a:prstGeom prst="rect">
                <a:avLst/>
              </a:prstGeom>
              <a:solidFill>
                <a:srgbClr val="FFFFFF"/>
              </a:solidFill>
              <a:ln w="12700" cap="flat">
                <a:noFill/>
                <a:miter lim="400000"/>
              </a:ln>
              <a:effectLst/>
            </p:spPr>
            <p:txBody>
              <a:bodyPr wrap="square" lIns="38100" tIns="38100" rIns="38100" bIns="38100" numCol="1" anchor="ctr">
                <a:noAutofit/>
              </a:bodyP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a:p>
            </p:txBody>
          </p:sp>
        </p:grpSp>
        <p:pic>
          <p:nvPicPr>
            <p:cNvPr id="3" name="Picture 2">
              <a:extLst>
                <a:ext uri="{FF2B5EF4-FFF2-40B4-BE49-F238E27FC236}">
                  <a16:creationId xmlns:a16="http://schemas.microsoft.com/office/drawing/2014/main" id="{8DBD858A-3B2A-E45C-AC73-E4E40ECB989F}"/>
                </a:ext>
              </a:extLst>
            </p:cNvPr>
            <p:cNvPicPr>
              <a:picLocks noChangeAspect="1"/>
            </p:cNvPicPr>
            <p:nvPr/>
          </p:nvPicPr>
          <p:blipFill>
            <a:blip r:embed="rId3"/>
            <a:srcRect l="72633" t="11451" b="50662"/>
            <a:stretch>
              <a:fillRect/>
            </a:stretch>
          </p:blipFill>
          <p:spPr>
            <a:xfrm>
              <a:off x="15873035" y="5168266"/>
              <a:ext cx="5566239" cy="2580640"/>
            </a:xfrm>
            <a:prstGeom prst="rect">
              <a:avLst/>
            </a:prstGeom>
          </p:spPr>
        </p:pic>
        <p:pic>
          <p:nvPicPr>
            <p:cNvPr id="6" name="Picture 5">
              <a:extLst>
                <a:ext uri="{FF2B5EF4-FFF2-40B4-BE49-F238E27FC236}">
                  <a16:creationId xmlns:a16="http://schemas.microsoft.com/office/drawing/2014/main" id="{6DBC3C94-2A70-E504-A82B-119DC44E621B}"/>
                </a:ext>
              </a:extLst>
            </p:cNvPr>
            <p:cNvPicPr>
              <a:picLocks noChangeAspect="1"/>
            </p:cNvPicPr>
            <p:nvPr/>
          </p:nvPicPr>
          <p:blipFill>
            <a:blip r:embed="rId3"/>
            <a:srcRect l="5558" t="10472" r="74776" b="55864"/>
            <a:stretch>
              <a:fillRect/>
            </a:stretch>
          </p:blipFill>
          <p:spPr>
            <a:xfrm>
              <a:off x="15743528" y="7650479"/>
              <a:ext cx="3999706" cy="2292985"/>
            </a:xfrm>
            <a:prstGeom prst="rect">
              <a:avLst/>
            </a:prstGeom>
          </p:spPr>
        </p:pic>
        <p:pic>
          <p:nvPicPr>
            <p:cNvPr id="9" name="Picture 8">
              <a:extLst>
                <a:ext uri="{FF2B5EF4-FFF2-40B4-BE49-F238E27FC236}">
                  <a16:creationId xmlns:a16="http://schemas.microsoft.com/office/drawing/2014/main" id="{2FB2ED13-C346-C345-28F3-587283BBEE05}"/>
                </a:ext>
              </a:extLst>
            </p:cNvPr>
            <p:cNvPicPr>
              <a:picLocks noChangeAspect="1"/>
            </p:cNvPicPr>
            <p:nvPr/>
          </p:nvPicPr>
          <p:blipFill>
            <a:blip r:embed="rId3"/>
            <a:srcRect l="38096" t="10921" r="43653" b="52971"/>
            <a:stretch>
              <a:fillRect/>
            </a:stretch>
          </p:blipFill>
          <p:spPr>
            <a:xfrm>
              <a:off x="15671195" y="9966256"/>
              <a:ext cx="3712009" cy="2459421"/>
            </a:xfrm>
            <a:prstGeom prst="rect">
              <a:avLst/>
            </a:prstGeom>
          </p:spPr>
        </p:pic>
        <p:pic>
          <p:nvPicPr>
            <p:cNvPr id="11" name="Picture 10">
              <a:extLst>
                <a:ext uri="{FF2B5EF4-FFF2-40B4-BE49-F238E27FC236}">
                  <a16:creationId xmlns:a16="http://schemas.microsoft.com/office/drawing/2014/main" id="{D25981E0-25F6-4AA4-7398-4FC431BC794F}"/>
                </a:ext>
              </a:extLst>
            </p:cNvPr>
            <p:cNvPicPr>
              <a:picLocks noChangeAspect="1"/>
            </p:cNvPicPr>
            <p:nvPr/>
          </p:nvPicPr>
          <p:blipFill>
            <a:blip r:embed="rId3"/>
            <a:srcRect l="38860" t="55864" r="45500" b="11516"/>
            <a:stretch>
              <a:fillRect/>
            </a:stretch>
          </p:blipFill>
          <p:spPr>
            <a:xfrm>
              <a:off x="19743234" y="9943464"/>
              <a:ext cx="3180920" cy="2221865"/>
            </a:xfrm>
            <a:prstGeom prst="rect">
              <a:avLst/>
            </a:prstGeom>
          </p:spPr>
        </p:pic>
      </p:grpSp>
      <p:grpSp>
        <p:nvGrpSpPr>
          <p:cNvPr id="14" name="Group">
            <a:extLst>
              <a:ext uri="{FF2B5EF4-FFF2-40B4-BE49-F238E27FC236}">
                <a16:creationId xmlns:a16="http://schemas.microsoft.com/office/drawing/2014/main" id="{FB4C736E-1F97-2B20-A70A-0691602C46A2}"/>
              </a:ext>
            </a:extLst>
          </p:cNvPr>
          <p:cNvGrpSpPr/>
          <p:nvPr/>
        </p:nvGrpSpPr>
        <p:grpSpPr>
          <a:xfrm>
            <a:off x="15895928" y="2177922"/>
            <a:ext cx="7510008" cy="3048068"/>
            <a:chOff x="0" y="0"/>
            <a:chExt cx="7510007" cy="3048067"/>
          </a:xfrm>
        </p:grpSpPr>
        <p:sp>
          <p:nvSpPr>
            <p:cNvPr id="15" name="The power of hands and a pencil">
              <a:extLst>
                <a:ext uri="{FF2B5EF4-FFF2-40B4-BE49-F238E27FC236}">
                  <a16:creationId xmlns:a16="http://schemas.microsoft.com/office/drawing/2014/main" id="{2F42521C-DEA1-CB8F-4FD6-819AEBD5EEEE}"/>
                </a:ext>
              </a:extLst>
            </p:cNvPr>
            <p:cNvSpPr txBox="1"/>
            <p:nvPr/>
          </p:nvSpPr>
          <p:spPr>
            <a:xfrm>
              <a:off x="129508" y="729485"/>
              <a:ext cx="7380499" cy="231858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90000"/>
                </a:lnSpc>
                <a:defRPr sz="6500" spc="0">
                  <a:latin typeface="+mn-lt"/>
                  <a:ea typeface="+mn-ea"/>
                  <a:cs typeface="+mn-cs"/>
                  <a:sym typeface="Montserrat Bold"/>
                </a:defRPr>
              </a:lvl1pPr>
            </a:lstStyle>
            <a:p>
              <a:pPr>
                <a:lnSpc>
                  <a:spcPct val="90000"/>
                </a:lnSpc>
                <a:defRPr sz="9000" spc="0">
                  <a:latin typeface="+mn-lt"/>
                  <a:ea typeface="+mn-ea"/>
                  <a:cs typeface="+mn-cs"/>
                  <a:sym typeface="Montserrat Bold"/>
                </a:defRPr>
              </a:pPr>
              <a:r>
                <a:rPr lang="en-US" sz="8000" dirty="0">
                  <a:solidFill>
                    <a:srgbClr val="D5D5D5"/>
                  </a:solidFill>
                </a:rPr>
                <a:t>Contact</a:t>
              </a:r>
              <a:endParaRPr lang="en-US" sz="8000" dirty="0"/>
            </a:p>
            <a:p>
              <a:pPr>
                <a:lnSpc>
                  <a:spcPct val="90000"/>
                </a:lnSpc>
                <a:defRPr sz="9000" spc="0">
                  <a:latin typeface="+mn-lt"/>
                  <a:ea typeface="+mn-ea"/>
                  <a:cs typeface="+mn-cs"/>
                  <a:sym typeface="Montserrat Bold"/>
                </a:defRPr>
              </a:pPr>
              <a:r>
                <a:rPr lang="en-US" sz="8000" dirty="0"/>
                <a:t>Us</a:t>
              </a:r>
              <a:endParaRPr lang="en-US" dirty="0"/>
            </a:p>
          </p:txBody>
        </p:sp>
        <p:sp>
          <p:nvSpPr>
            <p:cNvPr id="16" name="Awesome template">
              <a:extLst>
                <a:ext uri="{FF2B5EF4-FFF2-40B4-BE49-F238E27FC236}">
                  <a16:creationId xmlns:a16="http://schemas.microsoft.com/office/drawing/2014/main" id="{21D6037A-8E16-5C74-BDDB-ACCA7E51E832}"/>
                </a:ext>
              </a:extLst>
            </p:cNvPr>
            <p:cNvSpPr txBox="1"/>
            <p:nvPr/>
          </p:nvSpPr>
          <p:spPr>
            <a:xfrm>
              <a:off x="0" y="0"/>
              <a:ext cx="6350000" cy="5280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nSpc>
                  <a:spcPct val="120000"/>
                </a:lnSpc>
                <a:defRPr sz="2500" cap="all" spc="125">
                  <a:latin typeface="+mn-lt"/>
                  <a:ea typeface="+mn-ea"/>
                  <a:cs typeface="+mn-cs"/>
                  <a:sym typeface="Montserrat Bold"/>
                </a:defRPr>
              </a:lvl1pPr>
            </a:lstStyle>
            <a:p>
              <a:endParaRPr dirty="0"/>
            </a:p>
          </p:txBody>
        </p:sp>
      </p:grpSp>
      <p:sp>
        <p:nvSpPr>
          <p:cNvPr id="17" name="Shape">
            <a:extLst>
              <a:ext uri="{FF2B5EF4-FFF2-40B4-BE49-F238E27FC236}">
                <a16:creationId xmlns:a16="http://schemas.microsoft.com/office/drawing/2014/main" id="{B3B68053-6EA9-E8A0-16EF-9C6561993421}"/>
              </a:ext>
            </a:extLst>
          </p:cNvPr>
          <p:cNvSpPr/>
          <p:nvPr/>
        </p:nvSpPr>
        <p:spPr>
          <a:xfrm rot="5400000">
            <a:off x="16072382" y="1442195"/>
            <a:ext cx="1176108" cy="1270001"/>
          </a:xfrm>
          <a:custGeom>
            <a:avLst/>
            <a:gdLst/>
            <a:ahLst/>
            <a:cxnLst>
              <a:cxn ang="0">
                <a:pos x="wd2" y="hd2"/>
              </a:cxn>
              <a:cxn ang="5400000">
                <a:pos x="wd2" y="hd2"/>
              </a:cxn>
              <a:cxn ang="10800000">
                <a:pos x="wd2" y="hd2"/>
              </a:cxn>
              <a:cxn ang="16200000">
                <a:pos x="wd2" y="hd2"/>
              </a:cxn>
            </a:cxnLst>
            <a:rect l="0" t="0" r="r" b="b"/>
            <a:pathLst>
              <a:path w="21543" h="21546" extrusionOk="0">
                <a:moveTo>
                  <a:pt x="9913" y="0"/>
                </a:moveTo>
                <a:cubicBezTo>
                  <a:pt x="9651" y="-2"/>
                  <a:pt x="9395" y="44"/>
                  <a:pt x="9153" y="148"/>
                </a:cubicBezTo>
                <a:cubicBezTo>
                  <a:pt x="8961" y="231"/>
                  <a:pt x="8789" y="346"/>
                  <a:pt x="8639" y="485"/>
                </a:cubicBezTo>
                <a:cubicBezTo>
                  <a:pt x="8491" y="624"/>
                  <a:pt x="8365" y="794"/>
                  <a:pt x="8276" y="971"/>
                </a:cubicBezTo>
                <a:cubicBezTo>
                  <a:pt x="8050" y="1420"/>
                  <a:pt x="8050" y="1930"/>
                  <a:pt x="8276" y="2378"/>
                </a:cubicBezTo>
                <a:cubicBezTo>
                  <a:pt x="8348" y="2517"/>
                  <a:pt x="8469" y="2666"/>
                  <a:pt x="8640" y="2844"/>
                </a:cubicBezTo>
                <a:cubicBezTo>
                  <a:pt x="8812" y="3023"/>
                  <a:pt x="9035" y="3231"/>
                  <a:pt x="9314" y="3488"/>
                </a:cubicBezTo>
                <a:lnTo>
                  <a:pt x="15360" y="9098"/>
                </a:lnTo>
                <a:lnTo>
                  <a:pt x="2761" y="9098"/>
                </a:lnTo>
                <a:cubicBezTo>
                  <a:pt x="2367" y="9098"/>
                  <a:pt x="2053" y="9098"/>
                  <a:pt x="1797" y="9110"/>
                </a:cubicBezTo>
                <a:cubicBezTo>
                  <a:pt x="1542" y="9122"/>
                  <a:pt x="1345" y="9147"/>
                  <a:pt x="1188" y="9197"/>
                </a:cubicBezTo>
                <a:cubicBezTo>
                  <a:pt x="685" y="9365"/>
                  <a:pt x="289" y="9732"/>
                  <a:pt x="107" y="10198"/>
                </a:cubicBezTo>
                <a:cubicBezTo>
                  <a:pt x="35" y="10383"/>
                  <a:pt x="0" y="10577"/>
                  <a:pt x="0" y="10773"/>
                </a:cubicBezTo>
                <a:cubicBezTo>
                  <a:pt x="0" y="10969"/>
                  <a:pt x="35" y="11164"/>
                  <a:pt x="107" y="11348"/>
                </a:cubicBezTo>
                <a:cubicBezTo>
                  <a:pt x="290" y="11813"/>
                  <a:pt x="686" y="12170"/>
                  <a:pt x="1188" y="12339"/>
                </a:cubicBezTo>
                <a:cubicBezTo>
                  <a:pt x="1345" y="12390"/>
                  <a:pt x="1542" y="12417"/>
                  <a:pt x="1797" y="12432"/>
                </a:cubicBezTo>
                <a:cubicBezTo>
                  <a:pt x="2053" y="12446"/>
                  <a:pt x="2367" y="12448"/>
                  <a:pt x="2761" y="12448"/>
                </a:cubicBezTo>
                <a:lnTo>
                  <a:pt x="15371" y="12448"/>
                </a:lnTo>
                <a:lnTo>
                  <a:pt x="9314" y="18058"/>
                </a:lnTo>
                <a:cubicBezTo>
                  <a:pt x="9035" y="18316"/>
                  <a:pt x="8810" y="18521"/>
                  <a:pt x="8635" y="18697"/>
                </a:cubicBezTo>
                <a:cubicBezTo>
                  <a:pt x="8461" y="18873"/>
                  <a:pt x="8338" y="19019"/>
                  <a:pt x="8265" y="19158"/>
                </a:cubicBezTo>
                <a:cubicBezTo>
                  <a:pt x="8039" y="19607"/>
                  <a:pt x="8049" y="20127"/>
                  <a:pt x="8276" y="20576"/>
                </a:cubicBezTo>
                <a:cubicBezTo>
                  <a:pt x="8365" y="20753"/>
                  <a:pt x="8490" y="20913"/>
                  <a:pt x="8639" y="21051"/>
                </a:cubicBezTo>
                <a:cubicBezTo>
                  <a:pt x="8789" y="21190"/>
                  <a:pt x="8962" y="21305"/>
                  <a:pt x="9153" y="21388"/>
                </a:cubicBezTo>
                <a:cubicBezTo>
                  <a:pt x="9637" y="21598"/>
                  <a:pt x="10199" y="21597"/>
                  <a:pt x="10683" y="21388"/>
                </a:cubicBezTo>
                <a:cubicBezTo>
                  <a:pt x="10833" y="21321"/>
                  <a:pt x="10991" y="21209"/>
                  <a:pt x="11181" y="21050"/>
                </a:cubicBezTo>
                <a:cubicBezTo>
                  <a:pt x="11371" y="20891"/>
                  <a:pt x="11593" y="20685"/>
                  <a:pt x="11871" y="20427"/>
                </a:cubicBezTo>
                <a:lnTo>
                  <a:pt x="20336" y="12587"/>
                </a:lnTo>
                <a:cubicBezTo>
                  <a:pt x="20469" y="12464"/>
                  <a:pt x="20590" y="12353"/>
                  <a:pt x="20699" y="12252"/>
                </a:cubicBezTo>
                <a:cubicBezTo>
                  <a:pt x="20808" y="12150"/>
                  <a:pt x="20905" y="12058"/>
                  <a:pt x="20989" y="11972"/>
                </a:cubicBezTo>
                <a:cubicBezTo>
                  <a:pt x="20998" y="11964"/>
                  <a:pt x="21012" y="11961"/>
                  <a:pt x="21021" y="11953"/>
                </a:cubicBezTo>
                <a:cubicBezTo>
                  <a:pt x="21170" y="11815"/>
                  <a:pt x="21285" y="11654"/>
                  <a:pt x="21374" y="11477"/>
                </a:cubicBezTo>
                <a:cubicBezTo>
                  <a:pt x="21600" y="11028"/>
                  <a:pt x="21600" y="10518"/>
                  <a:pt x="21374" y="10069"/>
                </a:cubicBezTo>
                <a:cubicBezTo>
                  <a:pt x="21285" y="9892"/>
                  <a:pt x="21170" y="9722"/>
                  <a:pt x="21021" y="9584"/>
                </a:cubicBezTo>
                <a:cubicBezTo>
                  <a:pt x="21003" y="9568"/>
                  <a:pt x="20975" y="9570"/>
                  <a:pt x="20957" y="9554"/>
                </a:cubicBezTo>
                <a:cubicBezTo>
                  <a:pt x="20874" y="9471"/>
                  <a:pt x="20783" y="9384"/>
                  <a:pt x="20680" y="9288"/>
                </a:cubicBezTo>
                <a:cubicBezTo>
                  <a:pt x="20578" y="9192"/>
                  <a:pt x="20464" y="9087"/>
                  <a:pt x="20336" y="8969"/>
                </a:cubicBezTo>
                <a:lnTo>
                  <a:pt x="11871" y="1120"/>
                </a:lnTo>
                <a:cubicBezTo>
                  <a:pt x="11593" y="862"/>
                  <a:pt x="11371" y="655"/>
                  <a:pt x="11181" y="496"/>
                </a:cubicBezTo>
                <a:cubicBezTo>
                  <a:pt x="10991" y="337"/>
                  <a:pt x="10833" y="226"/>
                  <a:pt x="10683" y="158"/>
                </a:cubicBezTo>
                <a:cubicBezTo>
                  <a:pt x="10441" y="54"/>
                  <a:pt x="10174" y="1"/>
                  <a:pt x="9913" y="0"/>
                </a:cubicBezTo>
                <a:close/>
              </a:path>
            </a:pathLst>
          </a:custGeom>
          <a:solidFill>
            <a:srgbClr val="85FF3C"/>
          </a:solidFill>
          <a:ln w="12700">
            <a:miter lim="400000"/>
          </a:ln>
        </p:spPr>
        <p:txBody>
          <a:bodyPr lIns="38100" tIns="38100" rIns="38100" bIns="38100" anchor="ctr"/>
          <a:lstStyle/>
          <a:p>
            <a:pPr algn="ctr">
              <a:lnSpc>
                <a:spcPct val="100000"/>
              </a:lnSpc>
              <a:defRPr sz="3200" spc="0">
                <a:solidFill>
                  <a:srgbClr val="FFFFFF"/>
                </a:solidFill>
                <a:latin typeface="Helvetica Neue Medium"/>
                <a:ea typeface="Helvetica Neue Medium"/>
                <a:cs typeface="Helvetica Neue Medium"/>
                <a:sym typeface="Helvetica Neue Medium"/>
              </a:defRPr>
            </a:pPr>
            <a:endParaRPr dirty="0"/>
          </a:p>
        </p:txBody>
      </p:sp>
      <p:pic>
        <p:nvPicPr>
          <p:cNvPr id="21" name="Picture 20">
            <a:extLst>
              <a:ext uri="{FF2B5EF4-FFF2-40B4-BE49-F238E27FC236}">
                <a16:creationId xmlns:a16="http://schemas.microsoft.com/office/drawing/2014/main" id="{4D670BBE-6E2C-EA2F-8337-02B623023A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161017" y="253997"/>
            <a:ext cx="2908023" cy="1635763"/>
          </a:xfrm>
          <a:prstGeom prst="rect">
            <a:avLst/>
          </a:prstGeom>
        </p:spPr>
      </p:pic>
    </p:spTree>
    <p:extLst>
      <p:ext uri="{BB962C8B-B14F-4D97-AF65-F5344CB8AC3E}">
        <p14:creationId xmlns:p14="http://schemas.microsoft.com/office/powerpoint/2010/main" val="2860859726"/>
      </p:ext>
    </p:extLst>
  </p:cSld>
  <p:clrMapOvr>
    <a:masterClrMapping/>
  </p:clrMapOvr>
  <p:transition spd="slow" advTm="15000">
    <p:push dir="u"/>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accel="50000" decel="50000" fill="hold" grpId="0" nodeType="afterEffect">
                                  <p:stCondLst>
                                    <p:cond delay="0"/>
                                  </p:stCondLst>
                                  <p:iterate>
                                    <p:tmAbs val="0"/>
                                  </p:iterate>
                                  <p:childTnLst>
                                    <p:set>
                                      <p:cBhvr>
                                        <p:cTn id="6" fill="hold"/>
                                        <p:tgtEl>
                                          <p:spTgt spid="2220"/>
                                        </p:tgtEl>
                                        <p:attrNameLst>
                                          <p:attrName>style.visibility</p:attrName>
                                        </p:attrNameLst>
                                      </p:cBhvr>
                                      <p:to>
                                        <p:strVal val="visible"/>
                                      </p:to>
                                    </p:set>
                                    <p:animEffect transition="in" filter="fade">
                                      <p:cBhvr>
                                        <p:cTn id="7" dur="1000"/>
                                        <p:tgtEl>
                                          <p:spTgt spid="2220"/>
                                        </p:tgtEl>
                                      </p:cBhvr>
                                    </p:animEffect>
                                  </p:childTnLst>
                                </p:cTn>
                              </p:par>
                              <p:par>
                                <p:cTn id="8" presetID="2" presetClass="entr" presetSubtype="1" accel="50000" decel="50000" fill="hold" grpId="0" nodeType="withEffect">
                                  <p:stCondLst>
                                    <p:cond delay="1000"/>
                                  </p:stCondLst>
                                  <p:iterate>
                                    <p:tmAbs val="0"/>
                                  </p:iterate>
                                  <p:childTnLst>
                                    <p:set>
                                      <p:cBhvr>
                                        <p:cTn id="9" fill="hold"/>
                                        <p:tgtEl>
                                          <p:spTgt spid="2227"/>
                                        </p:tgtEl>
                                        <p:attrNameLst>
                                          <p:attrName>style.visibility</p:attrName>
                                        </p:attrNameLst>
                                      </p:cBhvr>
                                      <p:to>
                                        <p:strVal val="visible"/>
                                      </p:to>
                                    </p:set>
                                    <p:anim calcmode="lin" valueType="num">
                                      <p:cBhvr>
                                        <p:cTn id="10" dur="1000" fill="hold"/>
                                        <p:tgtEl>
                                          <p:spTgt spid="2227"/>
                                        </p:tgtEl>
                                        <p:attrNameLst>
                                          <p:attrName>ppt_x</p:attrName>
                                        </p:attrNameLst>
                                      </p:cBhvr>
                                      <p:tavLst>
                                        <p:tav tm="0">
                                          <p:val>
                                            <p:strVal val="#ppt_x"/>
                                          </p:val>
                                        </p:tav>
                                        <p:tav tm="100000">
                                          <p:val>
                                            <p:strVal val="#ppt_x"/>
                                          </p:val>
                                        </p:tav>
                                      </p:tavLst>
                                    </p:anim>
                                    <p:anim calcmode="lin" valueType="num">
                                      <p:cBhvr>
                                        <p:cTn id="11" dur="1000" fill="hold"/>
                                        <p:tgtEl>
                                          <p:spTgt spid="2227"/>
                                        </p:tgtEl>
                                        <p:attrNameLst>
                                          <p:attrName>ppt_y</p:attrName>
                                        </p:attrNameLst>
                                      </p:cBhvr>
                                      <p:tavLst>
                                        <p:tav tm="0">
                                          <p:val>
                                            <p:strVal val="0-#ppt_h/2"/>
                                          </p:val>
                                        </p:tav>
                                        <p:tav tm="100000">
                                          <p:val>
                                            <p:strVal val="#ppt_y"/>
                                          </p:val>
                                        </p:tav>
                                      </p:tavLst>
                                    </p:anim>
                                  </p:childTnLst>
                                </p:cTn>
                              </p:par>
                              <p:par>
                                <p:cTn id="12" presetID="2" presetClass="entr" presetSubtype="1" accel="50000" decel="50000" fill="hold" grpId="0" nodeType="withEffect">
                                  <p:stCondLst>
                                    <p:cond delay="500"/>
                                  </p:stCondLst>
                                  <p:iterate>
                                    <p:tmAbs val="0"/>
                                  </p:iterate>
                                  <p:childTnLst>
                                    <p:set>
                                      <p:cBhvr>
                                        <p:cTn id="13" fill="hold"/>
                                        <p:tgtEl>
                                          <p:spTgt spid="4"/>
                                        </p:tgtEl>
                                        <p:attrNameLst>
                                          <p:attrName>style.visibility</p:attrName>
                                        </p:attrNameLst>
                                      </p:cBhvr>
                                      <p:to>
                                        <p:strVal val="visible"/>
                                      </p:to>
                                    </p:se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0-#ppt_h/2"/>
                                          </p:val>
                                        </p:tav>
                                        <p:tav tm="100000">
                                          <p:val>
                                            <p:strVal val="#ppt_y"/>
                                          </p:val>
                                        </p:tav>
                                      </p:tavLst>
                                    </p:anim>
                                  </p:childTnLst>
                                </p:cTn>
                              </p:par>
                              <p:par>
                                <p:cTn id="16" presetID="2" presetClass="entr" presetSubtype="1" accel="50000" decel="50000" fill="hold" grpId="0" nodeType="withEffect">
                                  <p:stCondLst>
                                    <p:cond delay="1000"/>
                                  </p:stCondLst>
                                  <p:iterate>
                                    <p:tmAbs val="0"/>
                                  </p:iterate>
                                  <p:childTnLst>
                                    <p:set>
                                      <p:cBhvr>
                                        <p:cTn id="17" fill="hold"/>
                                        <p:tgtEl>
                                          <p:spTgt spid="14"/>
                                        </p:tgtEl>
                                        <p:attrNameLst>
                                          <p:attrName>style.visibility</p:attrName>
                                        </p:attrNameLst>
                                      </p:cBhvr>
                                      <p:to>
                                        <p:strVal val="visible"/>
                                      </p:to>
                                    </p:se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0-#ppt_h/2"/>
                                          </p:val>
                                        </p:tav>
                                        <p:tav tm="100000">
                                          <p:val>
                                            <p:strVal val="#ppt_y"/>
                                          </p:val>
                                        </p:tav>
                                      </p:tavLst>
                                    </p:anim>
                                  </p:childTnLst>
                                </p:cTn>
                              </p:par>
                              <p:par>
                                <p:cTn id="20" presetID="2" presetClass="entr" presetSubtype="1" accel="50000" decel="50000" fill="hold" grpId="0" nodeType="withEffect">
                                  <p:stCondLst>
                                    <p:cond delay="500"/>
                                  </p:stCondLst>
                                  <p:iterate>
                                    <p:tmAbs val="0"/>
                                  </p:iterate>
                                  <p:childTnLst>
                                    <p:set>
                                      <p:cBhvr>
                                        <p:cTn id="21" fill="hold"/>
                                        <p:tgtEl>
                                          <p:spTgt spid="17"/>
                                        </p:tgtEl>
                                        <p:attrNameLst>
                                          <p:attrName>style.visibility</p:attrName>
                                        </p:attrNameLst>
                                      </p:cBhvr>
                                      <p:to>
                                        <p:strVal val="visible"/>
                                      </p:to>
                                    </p:se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0" grpId="0" animBg="1" advAuto="0"/>
      <p:bldP spid="2227" grpId="0" animBg="1" advAuto="0"/>
      <p:bldP spid="4" grpId="0" animBg="1" advAuto="0"/>
      <p:bldP spid="14" grpId="0" animBg="1" advAuto="0"/>
      <p:bldP spid="17" grpId="0" animBg="1" advAuto="0"/>
    </p:bldLst>
  </p:timing>
</p:sld>
</file>

<file path=ppt/theme/theme1.xml><?xml version="1.0" encoding="utf-8"?>
<a:theme xmlns:a="http://schemas.openxmlformats.org/drawingml/2006/main" name="White">
  <a:themeElements>
    <a:clrScheme name="Custom 7">
      <a:dk1>
        <a:srgbClr val="454546"/>
      </a:dk1>
      <a:lt1>
        <a:srgbClr val="FFFFFF"/>
      </a:lt1>
      <a:dk2>
        <a:srgbClr val="5E5E5E"/>
      </a:dk2>
      <a:lt2>
        <a:srgbClr val="D5D5D5"/>
      </a:lt2>
      <a:accent1>
        <a:srgbClr val="459F7B"/>
      </a:accent1>
      <a:accent2>
        <a:srgbClr val="16E7CF"/>
      </a:accent2>
      <a:accent3>
        <a:srgbClr val="1A6062"/>
      </a:accent3>
      <a:accent4>
        <a:srgbClr val="FAE232"/>
      </a:accent4>
      <a:accent5>
        <a:srgbClr val="FF644E"/>
      </a:accent5>
      <a:accent6>
        <a:srgbClr val="EF5FA7"/>
      </a:accent6>
      <a:hlink>
        <a:srgbClr val="0000FF"/>
      </a:hlink>
      <a:folHlink>
        <a:srgbClr val="FF00FF"/>
      </a:folHlink>
    </a:clrScheme>
    <a:fontScheme name="White">
      <a:majorFont>
        <a:latin typeface="Montserrat Bold"/>
        <a:ea typeface="Montserrat Bold"/>
        <a:cs typeface="Montserrat Bold"/>
      </a:majorFont>
      <a:minorFont>
        <a:latin typeface="Montserrat Bold"/>
        <a:ea typeface="Montserrat Bold"/>
        <a:cs typeface="Montserrat Bold"/>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Montserrat Bold"/>
        <a:ea typeface="Montserrat Bold"/>
        <a:cs typeface="Montserrat Bold"/>
      </a:majorFont>
      <a:minorFont>
        <a:latin typeface="Montserrat Bold"/>
        <a:ea typeface="Montserrat Bold"/>
        <a:cs typeface="Montserrat Bold"/>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0"/>
          </a:spcBef>
          <a:spcAft>
            <a:spcPts val="0"/>
          </a:spcAft>
          <a:buClrTx/>
          <a:buSzTx/>
          <a:buFontTx/>
          <a:buNone/>
          <a:tabLst/>
          <a:defRPr kumimoji="0" sz="1800" b="0" i="0" u="none" strike="noStrike" cap="none" spc="53" normalizeH="0" baseline="0">
            <a:ln>
              <a:noFill/>
            </a:ln>
            <a:solidFill>
              <a:srgbClr val="454546"/>
            </a:solidFill>
            <a:effectLst/>
            <a:uFillTx/>
            <a:latin typeface="Raleway"/>
            <a:ea typeface="Raleway"/>
            <a:cs typeface="Raleway"/>
            <a:sym typeface="Ralewa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3408</TotalTime>
  <Words>1226</Words>
  <Application>Microsoft Office PowerPoint</Application>
  <PresentationFormat>Custom</PresentationFormat>
  <Paragraphs>76</Paragraphs>
  <Slides>12</Slides>
  <Notes>1</Notes>
  <HiddenSlides>0</HiddenSlides>
  <MMClips>2</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Arial</vt:lpstr>
      <vt:lpstr>Calibri</vt:lpstr>
      <vt:lpstr>Calibri Light</vt:lpstr>
      <vt:lpstr>Helvetica Neue</vt:lpstr>
      <vt:lpstr>Montserrat Bold</vt:lpstr>
      <vt:lpstr>Montserrat SemiBold</vt:lpstr>
      <vt:lpstr>Open Sans</vt:lpstr>
      <vt:lpstr>Poppins</vt:lpstr>
      <vt:lpstr>Raleway</vt:lpstr>
      <vt:lpstr>White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Kohin</dc:creator>
  <cp:lastModifiedBy>Kohin Bellara</cp:lastModifiedBy>
  <cp:revision>62</cp:revision>
  <dcterms:modified xsi:type="dcterms:W3CDTF">2025-09-20T13:13:33Z</dcterms:modified>
</cp:coreProperties>
</file>